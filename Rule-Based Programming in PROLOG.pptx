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(Speaker 1). Greet the class and introduce the group. Our topic from Unit II is Rule-Based Programming in PROLOG. In the next few minutes we will show three things: how IF-THEN rules are written as Prolog clauses, how a program can ask the user for facts it does not know, and how to build a small expert system that explains its reasoning. We finish with a live demo, real-world case studies, and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six parts quickly. We start with why rules matter, then the core concepts (rules as clauses, backward chaining, asking the user), then we build the expert system step by step, run it live, look at real case studies, and end with limitations and key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reasons this topic matters. One: human experts naturally explain their knowledge as IF-THEN rules of thumb, so rules are a natural way to capture expertise. Two: in a rule-based system, the knowledge (rules) is kept separate from the reasoning procedure (inference engine), so you can add or change rules without rewriting the program. Three: because every conclusion comes from a chain of rules, the system can explain itself, which builds trust. Four: Prolog is a natural fit, because a Prolog clause IS an IF-THEN rule and Prolog's execution IS backward chaining. That is why our whole expert system shell fits in about 60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Background in six milestones. DENDRAL in 1965 at Stanford was the first expert system. In 1972 Alain Colmerauer and Philippe Roussel created Prolog in Marseille, building on Robert Kowalski's idea that Horn clauses can be read as procedures. MYCIN in the mid 1970s used about 450 rules to diagnose blood infections, and introduced HOW and WHY explanations. R1, later called XCON, configured computer orders at DEC and, according to Russell and Norvig, was saving about 40 million dollars a year by 1986. Japan's Fifth Generation project put logic programming at its centre. And in 2011 IBM Watson, which used Prolog for part of its question analysis, won Jeopardy. The lesson: rules and Prolog grew up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standard architecture of a rule-based expert system, as described by Durkin. The knowledge base holds the IF-THEN rules supplied by a domain expert. Working memory holds the facts known so far in this consultation. The inference engine decides which rules to use, here by backward chaining. The user interface asks the user for missing facts and shows the result, and the explanation facility answers WHY and HOW. In orange and blue we show the Prolog predicate that plays each role in our system; we will build every one of these boxes in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IF-THEN rule, also called a production rule, is the basic unit of knowledge. The IF part is the antecedent or premise; it can have several conditions joined by AND. The THEN part is the consequent: a conclusion or an action. When all the conditions match known facts, the rule fires, and its conclusion becomes a new fact that other rules can use; this is called chaining. On the right are the common kinds of rules listed by Durkin and Negnevitsky: relations, recommendations, directives, strategies and heuristics. Our animal system uses relation rules like IF it has feathers THEN it is a bird.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refresher on Prolog, using Bratko's family example. A Prolog program has three kinds of statements. Facts are simply true, like tom is a parent of bob. Rules have a head and a body joined by the neck symbol colon-dash, which we read as IF; commas in the body read as AND. Queries ask Prolog to prove a goal: here it finds that tom's grandchild is ann by chaining through the two parent facts. The chips at the bottom are the reading guide we will use for the rest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idea of the topic. An IF-THEN rule with conditions p1 to pn and conclusion q is, in logic, the implication q if p1 and ... and pn. Rewritten as a disjunction it has exactly one positive literal, q, which makes it a Horn clause, and a Horn clause is exactly what a Prolog clause is. So the translation is mechanical: the conclusion becomes the head, the conditions become the body, AND becomes a comma, OR becomes two separate clauses, and NOT becomes backslash-plus, which is negation as failure. Rules with variables work the same way, which is how one rule can cover many 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three animal rules translated directly into Prolog, each with its English rule as a comment. The facts at the bottom describe the animal we saw. When we ask animal(X), Prolog chains through the rules: to prove cheetah it needs carnivore, which needs mammal, which needs has(hair), which is a fact. So it answers X = cheetah. It correctly says false for tiger. This works, but it has two gaps: we had to type every fact in advance, and the answer comes with no explanation. The rest of the talk fixes exactly these two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Prolog actually use these rules? It uses backward chaining, formally called SLD resolution. It starts from the goal, here animal(cheetah), finds a clause whose head matches, and replaces the goal with that clause's conditions. So animal(cheetah) becomes three sub-goals: carnivore, tawny colour and dark spots. Carnivore in turn becomes mammal and eats meat, and mammal becomes has hair. When every leaf matches a fact, the proof is complete. If some goal cannot be matched, Prolog backtracks to the last choice point and tries the next clause. The tree on the right is the proof tree; remember its shape, because our HOW explanation will print exactly this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ways to use a rule base. Backward chaining starts from a hypothesis and works back to the facts it needs. Forward chaining starts from known facts and fires every rule whose conditions hold, adding new facts until nothing changes. Backward chaining is best for diagnosis and identification, because it only asks the questions that the current hypothesis needs; MYCIN worked this way. Forward chaining suits configuration and monitoring; DEC's XCON was a forward-chaining OPS5 system. Prolog gives us backward chaining for free; forward chaining can be written in Prolog with a loop that asserts new facts. For animal identification, backward chaining is the natural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real consultation the system knows almost nothing at the start, so it must ask. The trick is to mark the leaf conditions, the ones no rule can conclude, as askable. Then, whenever backward chaining reaches an askable goal, the flowchart on the right runs. First: is it askable? If not, prove it with rules. Second: have we already asked? If yes, reuse the stored answer, so no question is ever repeated. Third: ask the user; if the user types why, we show the rules that need this fact and ask again. Fourth: store the answer in working memory and succeed only if it was yes. This is exactly what Bratko's and Durkin's backward-chaining shells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build section (Speaker 3). An expert system needs four pieces: a knowledge base of rules, an inference engine, a way to ask the user, and a way to explain. In Prolog, the engine's hard work, unification and backtracking, comes built in, so each piece is only a few lines. We now build them one by one: the rule format, the knowledge base, the engine, asking, and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design decision. If we write rules as native clauses, Prolog runs them, but our program cannot see which rule fired, so it cannot explain. The solution, used in Bratko's expert-system shell, is to store each rule as data: a named fact of the form Id :: if Conditions then Conclusion. We declare ::, if, then and and as operators with op/3, so the rule is valid Prolog but still reads like English. The priorities matter: and binds tightest, then then, then if, then ::. The comment at the bottom shows the actual term Prolog stores, which the engine can take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knowledge base drawn as an inference network. It is the classic animal identification rule base from Winston's ZOOKEEPER, which Bratko also uses. Rules r1 to r4 classify the animal as a mammal or a bird. Rules r5 to r8 refine mammals into carnivores or ungulates, meaning hoofed animals. Rules r9 to r15 name seven animals. Notice that the intermediate conclusions, like mammal and carnivore, are shared by several rules: this is what makes it a chain of reasoning rather than a flat lookup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first half of the actual knowledge base file. The first line loads the engine, which also declares the operators. top_goal tells the engine what to prove: some animal X. Then come rules r1 to r8 in our readable format. Three things to notice. OR is expressed as two separate rules: r1 and r2 both conclude mammal. AND is inside one rule: r6 needs four conditions. And the conclusions mammal, bird, carnivore and ungulate are intermediate: they are not answers themselves, but the animal rules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seven rules that name an animal, each building on an intermediate conclusion like carnivore or bird. On the right are the askable declarations. These tell the engine which facts are leaves: no rule concludes them, so the only way to learn them is to ask the user. Note the not(flies) condition in r13 and r14. It uses negation as failure: it is true when flies cannot be proved, which in practice means the user answered no. That is the whole knowledge base: 15 rules and 8 askable declarations, with no procedural code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entire inference engine, four clauses of prove/3. It is a small meta-interpreter: a Prolog program that runs rules stored as data. Clause 1 handles AND by proving both parts. Clause 2 handles NOT using negation as failure. Clause 3: if the goal is an askable leaf fact, ask the user. Clause 4: otherwise find a rule whose THEN part matches the goal and recursively prove its IF part, pushing the rule's id onto the trace. The Proof argument builds the proof tree as it goes, which HOW will print later; the Trace remembers which rules are waiting, which WHY will print. The cut at the end commits to the first proof, so a conclusion like mammal is not re-derived another way, which avoids repeated questions. On the right, go/0 runs one consultation and prints the conclusion and the HOW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system asks for missing facts, the second required item of our topic. known/2 is declared dynamic because we add to it at run time; it is our working memory. The first clause of ask checks memory: if we already asked, reuse the answer and never ask again. Otherwise we print the question and read the answer. If the answer is why, we print the rule chain and ask the same question again. Otherwise we store the answer with assertz and succeed only if it was yes. A no answer simply fails, and Prolog's backtracking then tries the next rule. Remind the audience that read/1 needs a full stop after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explanation facility, the third required item. WHY is asked in the middle of a consultation: the user wants to know why a question is being asked. We answer by printing the rules in the trace, innermost first: this fact is needed by rule r1, which is needed by r5, which is needed by r9. HOW is asked at the end: how did you reach this conclusion? We answer by walking the proof tree built by prove/3 and printing it with indentation, saying for each step whether it came from a rule or from the user. Durkin notes that explanation builds user trust and helps the knowledge engineer debug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(Speaker 4). Start SWI-Prolog with swipl zoo_kb.pl and type go. The first hypothesis the engine tries is cheetah, rule r9, which needs carnivore, which needs mammal, which needs has(hair). So the first question is: does it have hair? Here we type why. The system answers with the chain of rules waiting for this fact: r1 needs it to prove mammal, r5 needs mammal to prove carnivore, and r9 needs carnivore to prove cheetah. Then it asks again. We answer yes to the four questions and it concludes cheetah. Notice it asked only four questions, because rules for other animals were never needed. If the live demo fails, this slide is the recorded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conclusion, the system prints its HOW explanation automatically. Read it like a tree: cheetah was concluded by rule r9. r9 needed carnivore, which came from r5. r5 needed mammal, which came from r1, and r1 needed has hair, which the user told us. The other leaves, eats meat, tawny colour and dark spots, also came from the user. This is exactly the proof tree from slide 10, now produced by our own program. Anyone, including a domain expert, can check each step against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run, this time for a penguin, to show backtracking. The engine again starts with cheetah and asks about hair: no. It backtracks to the second mammal rule and asks about milk: no. Now mammal is impossible, so cheetah, tiger, giraffe and zebra all fail silently, because the answers are remembered. Next it tries ostrich: it asks about feathers, yes, so bird; flies, no; long neck, no, so ostrich fails. Then penguin: feathers and flies are already known, so it only asks swims and black and white. The conclusion is penguin, with the HOW tree below. Note the line not flies, you said no: that is negation as failure being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run: the simple medical diagnosis variant from our topic list. We did not touch the engine. We only wrote a new knowledge base with four rules: m1 concludes a respiratory infection from fever and cough, m2 concludes flu from that plus body ache and chills, m3 a common cold, m4 a suspected dengue case. Running go asks about fever, cough, body ache and chills, and concludes flu, with the HOW tree showing that m2 used the intermediate conclusion from m1. This demonstrates the key design principle of expert systems: the knowledge is separate from the inference, so the same shell serves any domain. Please stress that this is a teaching toy, not medical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one (Speaker 5): MYCIN, the most famous rule-based expert system and the direct ancestor of what we just built. It was developed at Stanford in the 1970s to identify the bacteria causing serious blood infections and to recommend antibiotics. It used about 450 IF-THEN rules with backward chaining, asked the doctor for missing facts, and could answer WHY and HOW, exactly the features of our shell. It added certainty factors, like the 0.6 in this rule, to cope with uncertainty. In a blinded evaluation published in JAMA in 1979, its recommendations were rated at least as good as those of Stanford's infectious-disease experts. Yet it was never used in routine care, because of liability, ethical questions and the slow typed interaction. Lesson: being right and explainable is not enough; a system must fit its users' workflow and responsibilities.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two is a pure Prolog one. In 1986, Marek Sergot, Robert Kowalski and colleagues at Imperial College translated the British Nationality Act 1981 into a Prolog program. Each section of the law became a rule, like this simplified version of section 1(1): a person born in the UK after the Act started is a citizen if a parent is a citizen or settled in the UK. To answer a query, the program chains backwards through the law and asks the user for missing facts, just like our shell. The surprising result was that formalising the Act revealed ambiguities in it, for example the rule about abandoned new-born infants, which depends on default reasoning: unless the contrary is shown. The lesson: executable rules are testable, and they expose vagueness in the original knowledge.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three shows Prolog rules inside large modern systems. IBM's Watson, which won Jeopardy in 2011, used Prolog for part of its question analysis: rules written in Prolog matched patterns over the parsed question to find, for example, what the question is about and what type of answer it wants. Lally and Fodor describe this in their 2011 article. The lesson is that rules and statistics are complementary. Second, NASA's Clarissa, used on the International Space Station from 2005, was a voice-controlled procedure browser; its language rules were written in Prolog using the Regulus toolkit. The lesson: declarative rules are compact and easy to inspect, which matters when software must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criticisms (Speaker 6). First, knowledge acquisition, often called the bottleneck: experts struggle to express what they know as clean rules. Second, brittleness: outside its rules the system simply fails; our shell answers sorry for a lion. Third, uncertainty: real evidence is rarely certain, so systems like MYCIN had to add certainty factors. Fourth, maintenance: as rule bases grow, rules interact in unexpected ways; DEC's XCON grew to thousands of rules and became expensive to maintain. Fifth, the dialogue is rigid: questions come in rule order. Sixth, explanations are shallow: as Clancey pointed out for MYCIN, replaying the rules does not explain why the rules are valid.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challenges are specific to Prolog. Its depth-first strategy can loop forever. The top example calls ancestor again before doing any work, so it recurses endlessly. With the default 1 GB stack it simply appears to hang for minutes; with a small limit (swipl --stack-limit=16m) SWI-Prolog stops in about two seconds with a stack-limit error and even reports a probable infinite recursion. We show the first lines of that real output. Swapping the order, base case first and the recursive call last, fixes it using the family facts from slide 7. This shows that clause and goal order matter, so Prolog is not purely declarative. Negation as failure assumes a closed world: anything not provable is taken as false. The cut can change a program's meaning if misused. And read/1 input needs a full stop, which confuses new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in six points. One: an IF-THEN rule is a Horn clause, so it maps directly to a Prolog clause. Two: Prolog executes rules by backward chaining, depth-first with backtracking. Three: a practical system asks for leaf facts only when needed and remembers the answers. Four: storing rules as data lets the engine explain both why it asks and how it concluded. Five: separating the knowledge base from the engine meant the same program handled animals and fever or flu. Six: MYCIN, the British Nationality Act, Watson and Clarissa show both the strengths and the limits of the approach. Thank the audience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main sources were the two prescribed books for this topic, Bratko for Prolog and the expert-system shell, and Durkin for expert-system design, supported by Russell and Norvig, Negnevitsky, Winston's original animal rules, and the MYCIN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behind the history and case studies: Kowalski's logic-programming paper, the MYCIN evaluation in JAMA, McDermott's R1 paper, Clancey's critique of MYCIN's explanations, the British Nationality Act paper, and the Clarissa and Watson articles. All demos were run in SWI-Prolog.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A"/>
        </a:solidFill>
      </p:bgPr>
    </p:bg>
    <p:spTree>
      <p:nvGrpSpPr>
        <p:cNvPr id="1" name=""/>
        <p:cNvGrpSpPr/>
        <p:nvPr/>
      </p:nvGrpSpPr>
      <p:grpSpPr>
        <a:xfrm>
          <a:off x="0" y="0"/>
          <a:ext cx="0" cy="0"/>
          <a:chOff x="0" y="0"/>
          <a:chExt cx="0" cy="0"/>
        </a:xfrm>
      </p:grpSpPr>
      <p:sp>
        <p:nvSpPr>
          <p:cNvPr id="2" name="Text 0"/>
          <p:cNvSpPr txBox="1"/>
          <p:nvPr/>
        </p:nvSpPr>
        <p:spPr>
          <a:xfrm>
            <a:off x="8445490" y="1270010"/>
            <a:ext cx="2920959" cy="2794041"/>
          </a:xfrm>
          <a:prstGeom prst="rect">
            <a:avLst/>
          </a:prstGeom>
          <a:noFill/>
          <a:ln/>
        </p:spPr>
        <p:txBody>
          <a:bodyPr wrap="square" lIns="0" tIns="0" rIns="0" bIns="0" rtlCol="0" anchor="ctr"/>
          <a:lstStyle/>
          <a:p>
            <a:pPr algn="r" indent="0" marL="0">
              <a:buNone/>
            </a:pPr>
            <a:r>
              <a:rPr lang="en-US" sz="18000" b="1" dirty="0">
                <a:solidFill>
                  <a:srgbClr val="463E41"/>
                </a:solidFill>
                <a:latin typeface="Consolas" pitchFamily="34" charset="0"/>
                <a:ea typeface="Consolas" pitchFamily="34" charset="-122"/>
                <a:cs typeface="Consolas" pitchFamily="34" charset="-120"/>
              </a:rPr>
              <a:t>:-</a:t>
            </a:r>
            <a:endParaRPr lang="en-US" sz="18000" dirty="0"/>
          </a:p>
        </p:txBody>
      </p:sp>
      <p:sp>
        <p:nvSpPr>
          <p:cNvPr id="3" name="Text 1"/>
          <p:cNvSpPr txBox="1"/>
          <p:nvPr/>
        </p:nvSpPr>
        <p:spPr>
          <a:xfrm>
            <a:off x="812810" y="812810"/>
            <a:ext cx="9525030" cy="279441"/>
          </a:xfrm>
          <a:prstGeom prst="rect">
            <a:avLst/>
          </a:prstGeom>
          <a:noFill/>
          <a:ln/>
        </p:spPr>
        <p:txBody>
          <a:bodyPr wrap="square" lIns="0" tIns="0" rIns="0" bIns="0" rtlCol="0" anchor="t"/>
          <a:lstStyle/>
          <a:p>
            <a:pPr indent="0" marL="0">
              <a:buNone/>
            </a:pPr>
            <a:r>
              <a:rPr lang="en-US" sz="1400" b="1" spc="300" kern="0" dirty="0">
                <a:solidFill>
                  <a:srgbClr val="F2A65A"/>
                </a:solidFill>
                <a:latin typeface="Calibri" pitchFamily="34" charset="0"/>
                <a:ea typeface="Calibri" pitchFamily="34" charset="-122"/>
                <a:cs typeface="Calibri" pitchFamily="34" charset="-120"/>
              </a:rPr>
              <a:t>KNOWLEDGE BASED SYSTEMS · UNIT II · GROUP PRESENTATION</a:t>
            </a:r>
            <a:endParaRPr lang="en-US" sz="1400" dirty="0"/>
          </a:p>
        </p:txBody>
      </p:sp>
      <p:sp>
        <p:nvSpPr>
          <p:cNvPr id="4" name="Text 2"/>
          <p:cNvSpPr txBox="1"/>
          <p:nvPr/>
        </p:nvSpPr>
        <p:spPr>
          <a:xfrm>
            <a:off x="812810" y="1244590"/>
            <a:ext cx="7619970" cy="1651041"/>
          </a:xfrm>
          <a:prstGeom prst="rect">
            <a:avLst/>
          </a:prstGeom>
          <a:noFill/>
          <a:ln/>
        </p:spPr>
        <p:txBody>
          <a:bodyPr wrap="square" lIns="0" tIns="0" rIns="0" bIns="0" rtlCol="0" anchor="t"/>
          <a:lstStyle/>
          <a:p>
            <a:pPr indent="0" marL="0">
              <a:lnSpc>
                <a:spcPct val="95000"/>
              </a:lnSpc>
              <a:buNone/>
            </a:pPr>
            <a:r>
              <a:rPr lang="en-US" sz="5200" b="1" dirty="0">
                <a:solidFill>
                  <a:srgbClr val="F3EFE4"/>
                </a:solidFill>
                <a:latin typeface="Cambria" pitchFamily="34" charset="0"/>
                <a:ea typeface="Cambria" pitchFamily="34" charset="-122"/>
                <a:cs typeface="Cambria" pitchFamily="34" charset="-120"/>
              </a:rPr>
              <a:t>Rule-Based Programming in PROLOG</a:t>
            </a:r>
            <a:endParaRPr lang="en-US" sz="5200" dirty="0"/>
          </a:p>
        </p:txBody>
      </p:sp>
      <p:sp>
        <p:nvSpPr>
          <p:cNvPr id="5" name="Text 3"/>
          <p:cNvSpPr txBox="1"/>
          <p:nvPr/>
        </p:nvSpPr>
        <p:spPr>
          <a:xfrm>
            <a:off x="812810" y="3047970"/>
            <a:ext cx="7302490" cy="698510"/>
          </a:xfrm>
          <a:prstGeom prst="rect">
            <a:avLst/>
          </a:prstGeom>
          <a:noFill/>
          <a:ln/>
        </p:spPr>
        <p:txBody>
          <a:bodyPr wrap="square" lIns="0" tIns="0" rIns="0" bIns="0" rtlCol="0" anchor="t"/>
          <a:lstStyle/>
          <a:p>
            <a:pPr indent="0" marL="0">
              <a:lnSpc>
                <a:spcPct val="115000"/>
              </a:lnSpc>
              <a:buNone/>
            </a:pPr>
            <a:r>
              <a:rPr lang="en-US" sz="1600" dirty="0">
                <a:solidFill>
                  <a:srgbClr val="C9D1E0"/>
                </a:solidFill>
                <a:latin typeface="Calibri" pitchFamily="34" charset="0"/>
                <a:ea typeface="Calibri" pitchFamily="34" charset="-122"/>
                <a:cs typeface="Calibri" pitchFamily="34" charset="-120"/>
              </a:rPr>
              <a:t>IF-THEN rules as Prolog clauses · asking the user for missing facts · a small expert system that explains its answers, with a working demo</a:t>
            </a:r>
            <a:endParaRPr lang="en-US" sz="1600" dirty="0"/>
          </a:p>
        </p:txBody>
      </p:sp>
      <p:sp>
        <p:nvSpPr>
          <p:cNvPr id="6" name="Shape 4"/>
          <p:cNvSpPr/>
          <p:nvPr/>
        </p:nvSpPr>
        <p:spPr>
          <a:xfrm>
            <a:off x="812810" y="4826020"/>
            <a:ext cx="1460480" cy="1015990"/>
          </a:xfrm>
          <a:prstGeom prst="roundRect">
            <a:avLst>
              <a:gd name="adj" fmla="val 10800"/>
            </a:avLst>
          </a:prstGeom>
          <a:solidFill>
            <a:srgbClr val="16213A"/>
          </a:solidFill>
          <a:ln w="25400">
            <a:solidFill>
              <a:srgbClr val="F2A65A"/>
            </a:solidFill>
            <a:prstDash val="solid"/>
          </a:ln>
        </p:spPr>
      </p:sp>
      <p:sp>
        <p:nvSpPr>
          <p:cNvPr id="7" name="Text 5"/>
          <p:cNvSpPr txBox="1"/>
          <p:nvPr/>
        </p:nvSpPr>
        <p:spPr>
          <a:xfrm>
            <a:off x="812810" y="4978359"/>
            <a:ext cx="1460480" cy="228600"/>
          </a:xfrm>
          <a:prstGeom prst="rect">
            <a:avLst/>
          </a:prstGeom>
          <a:noFill/>
          <a:ln/>
        </p:spPr>
        <p:txBody>
          <a:bodyPr wrap="square" lIns="0" tIns="0" rIns="0" bIns="0" rtlCol="0" anchor="t"/>
          <a:lstStyle/>
          <a:p>
            <a:pPr algn="ctr" indent="0" marL="0">
              <a:buNone/>
            </a:pPr>
            <a:r>
              <a:rPr lang="en-US" sz="1200" spc="200" kern="0" dirty="0">
                <a:solidFill>
                  <a:srgbClr val="C9D1E0"/>
                </a:solidFill>
                <a:latin typeface="Calibri" pitchFamily="34" charset="0"/>
                <a:ea typeface="Calibri" pitchFamily="34" charset="-122"/>
                <a:cs typeface="Calibri" pitchFamily="34" charset="-120"/>
              </a:rPr>
              <a:t>GROUP</a:t>
            </a:r>
            <a:endParaRPr lang="en-US" sz="1200" dirty="0"/>
          </a:p>
        </p:txBody>
      </p:sp>
      <p:sp>
        <p:nvSpPr>
          <p:cNvPr id="8" name="Text 6"/>
          <p:cNvSpPr txBox="1"/>
          <p:nvPr/>
        </p:nvSpPr>
        <p:spPr>
          <a:xfrm>
            <a:off x="812810" y="5245090"/>
            <a:ext cx="1460480" cy="444490"/>
          </a:xfrm>
          <a:prstGeom prst="rect">
            <a:avLst/>
          </a:prstGeom>
          <a:noFill/>
          <a:ln/>
        </p:spPr>
        <p:txBody>
          <a:bodyPr wrap="square" lIns="0" tIns="0" rIns="0" bIns="0" rtlCol="0" anchor="ctr"/>
          <a:lstStyle/>
          <a:p>
            <a:pPr algn="ctr" indent="0" marL="0">
              <a:buNone/>
            </a:pPr>
            <a:r>
              <a:rPr lang="en-US" sz="2800" b="1" dirty="0">
                <a:solidFill>
                  <a:srgbClr val="F3EFE4"/>
                </a:solidFill>
                <a:latin typeface="Cambria" pitchFamily="34" charset="0"/>
                <a:ea typeface="Cambria" pitchFamily="34" charset="-122"/>
                <a:cs typeface="Cambria" pitchFamily="34" charset="-120"/>
              </a:rPr>
              <a:t>[No.]</a:t>
            </a:r>
            <a:endParaRPr lang="en-US" sz="2800" dirty="0"/>
          </a:p>
        </p:txBody>
      </p:sp>
      <p:sp>
        <p:nvSpPr>
          <p:cNvPr id="9" name="Text 7"/>
          <p:cNvSpPr txBox="1"/>
          <p:nvPr/>
        </p:nvSpPr>
        <p:spPr>
          <a:xfrm>
            <a:off x="2641610" y="4953030"/>
            <a:ext cx="3429000" cy="304770"/>
          </a:xfrm>
          <a:prstGeom prst="rect">
            <a:avLst/>
          </a:prstGeom>
          <a:noFill/>
          <a:ln/>
        </p:spPr>
        <p:txBody>
          <a:bodyPr wrap="square" lIns="0" tIns="0" rIns="0" bIns="0" rtlCol="0" anchor="ctr"/>
          <a:lstStyle/>
          <a:p>
            <a:pPr indent="0" marL="0">
              <a:buNone/>
            </a:pPr>
            <a:r>
              <a:rPr lang="en-US" sz="1400" dirty="0">
                <a:solidFill>
                  <a:srgbClr val="F3EFE4"/>
                </a:solidFill>
                <a:latin typeface="Calibri" pitchFamily="34" charset="0"/>
                <a:ea typeface="Calibri" pitchFamily="34" charset="-122"/>
                <a:cs typeface="Calibri" pitchFamily="34" charset="-120"/>
              </a:rPr>
              <a:t>[Member name 1] · </a:t>
            </a:r>
            <a:pPr indent="0" marL="0">
              <a:buNone/>
            </a:pPr>
            <a:r>
              <a:rPr lang="en-US" sz="1400" dirty="0">
                <a:solidFill>
                  <a:srgbClr val="C9D1E0"/>
                </a:solidFill>
                <a:latin typeface="Calibri" pitchFamily="34" charset="0"/>
                <a:ea typeface="Calibri" pitchFamily="34" charset="-122"/>
                <a:cs typeface="Calibri" pitchFamily="34" charset="-120"/>
              </a:rPr>
              <a:t>[Roll no.]</a:t>
            </a:r>
            <a:endParaRPr lang="en-US" sz="1400" dirty="0"/>
          </a:p>
        </p:txBody>
      </p:sp>
      <p:sp>
        <p:nvSpPr>
          <p:cNvPr id="10" name="Text 8"/>
          <p:cNvSpPr txBox="1"/>
          <p:nvPr/>
        </p:nvSpPr>
        <p:spPr>
          <a:xfrm>
            <a:off x="6197620" y="4953030"/>
            <a:ext cx="3429000" cy="304770"/>
          </a:xfrm>
          <a:prstGeom prst="rect">
            <a:avLst/>
          </a:prstGeom>
          <a:noFill/>
          <a:ln/>
        </p:spPr>
        <p:txBody>
          <a:bodyPr wrap="square" lIns="0" tIns="0" rIns="0" bIns="0" rtlCol="0" anchor="ctr"/>
          <a:lstStyle/>
          <a:p>
            <a:pPr indent="0" marL="0">
              <a:buNone/>
            </a:pPr>
            <a:r>
              <a:rPr lang="en-US" sz="1400" dirty="0">
                <a:solidFill>
                  <a:srgbClr val="F3EFE4"/>
                </a:solidFill>
                <a:latin typeface="Calibri" pitchFamily="34" charset="0"/>
                <a:ea typeface="Calibri" pitchFamily="34" charset="-122"/>
                <a:cs typeface="Calibri" pitchFamily="34" charset="-120"/>
              </a:rPr>
              <a:t>[Member name 2] · </a:t>
            </a:r>
            <a:pPr indent="0" marL="0">
              <a:buNone/>
            </a:pPr>
            <a:r>
              <a:rPr lang="en-US" sz="1400" dirty="0">
                <a:solidFill>
                  <a:srgbClr val="C9D1E0"/>
                </a:solidFill>
                <a:latin typeface="Calibri" pitchFamily="34" charset="0"/>
                <a:ea typeface="Calibri" pitchFamily="34" charset="-122"/>
                <a:cs typeface="Calibri" pitchFamily="34" charset="-120"/>
              </a:rPr>
              <a:t>[Roll no.]</a:t>
            </a:r>
            <a:endParaRPr lang="en-US" sz="1400" dirty="0"/>
          </a:p>
        </p:txBody>
      </p:sp>
      <p:sp>
        <p:nvSpPr>
          <p:cNvPr id="11" name="Text 9"/>
          <p:cNvSpPr txBox="1"/>
          <p:nvPr/>
        </p:nvSpPr>
        <p:spPr>
          <a:xfrm>
            <a:off x="2641610" y="5410230"/>
            <a:ext cx="3429000" cy="304770"/>
          </a:xfrm>
          <a:prstGeom prst="rect">
            <a:avLst/>
          </a:prstGeom>
          <a:noFill/>
          <a:ln/>
        </p:spPr>
        <p:txBody>
          <a:bodyPr wrap="square" lIns="0" tIns="0" rIns="0" bIns="0" rtlCol="0" anchor="ctr"/>
          <a:lstStyle/>
          <a:p>
            <a:pPr indent="0" marL="0">
              <a:buNone/>
            </a:pPr>
            <a:r>
              <a:rPr lang="en-US" sz="1400" dirty="0">
                <a:solidFill>
                  <a:srgbClr val="F3EFE4"/>
                </a:solidFill>
                <a:latin typeface="Calibri" pitchFamily="34" charset="0"/>
                <a:ea typeface="Calibri" pitchFamily="34" charset="-122"/>
                <a:cs typeface="Calibri" pitchFamily="34" charset="-120"/>
              </a:rPr>
              <a:t>[Member name 3] · </a:t>
            </a:r>
            <a:pPr indent="0" marL="0">
              <a:buNone/>
            </a:pPr>
            <a:r>
              <a:rPr lang="en-US" sz="1400" dirty="0">
                <a:solidFill>
                  <a:srgbClr val="C9D1E0"/>
                </a:solidFill>
                <a:latin typeface="Calibri" pitchFamily="34" charset="0"/>
                <a:ea typeface="Calibri" pitchFamily="34" charset="-122"/>
                <a:cs typeface="Calibri" pitchFamily="34" charset="-120"/>
              </a:rPr>
              <a:t>[Roll no.]</a:t>
            </a:r>
            <a:endParaRPr lang="en-US" sz="1400" dirty="0"/>
          </a:p>
        </p:txBody>
      </p:sp>
      <p:sp>
        <p:nvSpPr>
          <p:cNvPr id="12" name="Text 10"/>
          <p:cNvSpPr txBox="1"/>
          <p:nvPr/>
        </p:nvSpPr>
        <p:spPr>
          <a:xfrm>
            <a:off x="6197620" y="5410230"/>
            <a:ext cx="3429000" cy="304770"/>
          </a:xfrm>
          <a:prstGeom prst="rect">
            <a:avLst/>
          </a:prstGeom>
          <a:noFill/>
          <a:ln/>
        </p:spPr>
        <p:txBody>
          <a:bodyPr wrap="square" lIns="0" tIns="0" rIns="0" bIns="0" rtlCol="0" anchor="ctr"/>
          <a:lstStyle/>
          <a:p>
            <a:pPr indent="0" marL="0">
              <a:buNone/>
            </a:pPr>
            <a:r>
              <a:rPr lang="en-US" sz="1400" dirty="0">
                <a:solidFill>
                  <a:srgbClr val="F3EFE4"/>
                </a:solidFill>
                <a:latin typeface="Calibri" pitchFamily="34" charset="0"/>
                <a:ea typeface="Calibri" pitchFamily="34" charset="-122"/>
                <a:cs typeface="Calibri" pitchFamily="34" charset="-120"/>
              </a:rPr>
              <a:t>[Member name 4] · </a:t>
            </a:r>
            <a:pPr indent="0" marL="0">
              <a:buNone/>
            </a:pPr>
            <a:r>
              <a:rPr lang="en-US" sz="1400" dirty="0">
                <a:solidFill>
                  <a:srgbClr val="C9D1E0"/>
                </a:solidFill>
                <a:latin typeface="Calibri" pitchFamily="34" charset="0"/>
                <a:ea typeface="Calibri" pitchFamily="34" charset="-122"/>
                <a:cs typeface="Calibri" pitchFamily="34" charset="-120"/>
              </a:rPr>
              <a:t>[Roll no.]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Outline</a:t>
            </a:r>
            <a:endParaRPr lang="en-US" sz="3000" dirty="0"/>
          </a:p>
        </p:txBody>
      </p:sp>
      <p:sp>
        <p:nvSpPr>
          <p:cNvPr id="4" name="Text 2"/>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02</a:t>
            </a:r>
            <a:endParaRPr lang="en-US" sz="1200" dirty="0"/>
          </a:p>
        </p:txBody>
      </p:sp>
      <p:sp>
        <p:nvSpPr>
          <p:cNvPr id="6" name="Shape 3"/>
          <p:cNvSpPr/>
          <p:nvPr/>
        </p:nvSpPr>
        <p:spPr>
          <a:xfrm>
            <a:off x="812810" y="1727210"/>
            <a:ext cx="3384560" cy="1892259"/>
          </a:xfrm>
          <a:prstGeom prst="roundRect">
            <a:avLst>
              <a:gd name="adj" fmla="val 4832"/>
            </a:avLst>
          </a:prstGeom>
          <a:solidFill>
            <a:srgbClr val="FFFFFF"/>
          </a:solidFill>
          <a:ln w="12700">
            <a:solidFill>
              <a:srgbClr val="E3E1DA"/>
            </a:solidFill>
            <a:prstDash val="solid"/>
          </a:ln>
        </p:spPr>
      </p:sp>
      <p:sp>
        <p:nvSpPr>
          <p:cNvPr id="7" name="Text 4"/>
          <p:cNvSpPr txBox="1"/>
          <p:nvPr/>
        </p:nvSpPr>
        <p:spPr>
          <a:xfrm>
            <a:off x="1041410" y="1930390"/>
            <a:ext cx="1270010" cy="381030"/>
          </a:xfrm>
          <a:prstGeom prst="rect">
            <a:avLst/>
          </a:prstGeom>
          <a:noFill/>
          <a:ln/>
        </p:spPr>
        <p:txBody>
          <a:bodyPr wrap="square" lIns="0" tIns="0" rIns="0" bIns="0" rtlCol="0" anchor="ctr"/>
          <a:lstStyle/>
          <a:p>
            <a:pPr indent="0" marL="0">
              <a:buNone/>
            </a:pPr>
            <a:r>
              <a:rPr lang="en-US" sz="2200" b="1" dirty="0">
                <a:solidFill>
                  <a:srgbClr val="A8441A"/>
                </a:solidFill>
                <a:latin typeface="Consolas" pitchFamily="34" charset="0"/>
                <a:ea typeface="Consolas" pitchFamily="34" charset="-122"/>
                <a:cs typeface="Consolas" pitchFamily="34" charset="-120"/>
              </a:rPr>
              <a:t>01</a:t>
            </a:r>
            <a:endParaRPr lang="en-US" sz="2200" dirty="0"/>
          </a:p>
        </p:txBody>
      </p:sp>
      <p:sp>
        <p:nvSpPr>
          <p:cNvPr id="8" name="Text 5"/>
          <p:cNvSpPr txBox="1"/>
          <p:nvPr/>
        </p:nvSpPr>
        <p:spPr>
          <a:xfrm>
            <a:off x="1041410" y="2400300"/>
            <a:ext cx="2927360" cy="317480"/>
          </a:xfrm>
          <a:prstGeom prst="rect">
            <a:avLst/>
          </a:prstGeom>
          <a:noFill/>
          <a:ln/>
        </p:spPr>
        <p:txBody>
          <a:bodyPr wrap="square" lIns="0" tIns="0" rIns="0" bIns="0" rtlCol="0" anchor="t"/>
          <a:lstStyle/>
          <a:p>
            <a:pPr indent="0" marL="0">
              <a:buNone/>
            </a:pPr>
            <a:r>
              <a:rPr lang="en-US" sz="1700" b="1" dirty="0">
                <a:solidFill>
                  <a:srgbClr val="1B2233"/>
                </a:solidFill>
                <a:latin typeface="Calibri" pitchFamily="34" charset="0"/>
                <a:ea typeface="Calibri" pitchFamily="34" charset="-122"/>
                <a:cs typeface="Calibri" pitchFamily="34" charset="-120"/>
              </a:rPr>
              <a:t>Motivation &amp; background</a:t>
            </a:r>
            <a:endParaRPr lang="en-US" sz="1700" dirty="0"/>
          </a:p>
        </p:txBody>
      </p:sp>
      <p:sp>
        <p:nvSpPr>
          <p:cNvPr id="9" name="Text 6"/>
          <p:cNvSpPr txBox="1"/>
          <p:nvPr/>
        </p:nvSpPr>
        <p:spPr>
          <a:xfrm>
            <a:off x="1041410" y="2781330"/>
            <a:ext cx="2927360" cy="634959"/>
          </a:xfrm>
          <a:prstGeom prst="rect">
            <a:avLst/>
          </a:prstGeom>
          <a:noFill/>
          <a:ln/>
        </p:spPr>
        <p:txBody>
          <a:bodyPr wrap="square" lIns="0" tIns="0" rIns="0" bIns="0" rtlCol="0" anchor="t"/>
          <a:lstStyle/>
          <a:p>
            <a:pPr indent="0" marL="0">
              <a:lnSpc>
                <a:spcPct val="110000"/>
              </a:lnSpc>
              <a:buNone/>
            </a:pPr>
            <a:r>
              <a:rPr lang="en-US" sz="1300" dirty="0">
                <a:solidFill>
                  <a:srgbClr val="4A5264"/>
                </a:solidFill>
                <a:latin typeface="Calibri" pitchFamily="34" charset="0"/>
                <a:ea typeface="Calibri" pitchFamily="34" charset="-122"/>
                <a:cs typeface="Calibri" pitchFamily="34" charset="-120"/>
              </a:rPr>
              <a:t>Why IF-THEN rules matter, and where Prolog came from</a:t>
            </a:r>
            <a:endParaRPr lang="en-US" sz="1300" dirty="0"/>
          </a:p>
        </p:txBody>
      </p:sp>
      <p:sp>
        <p:nvSpPr>
          <p:cNvPr id="10" name="Shape 7"/>
          <p:cNvSpPr/>
          <p:nvPr/>
        </p:nvSpPr>
        <p:spPr>
          <a:xfrm>
            <a:off x="4400550" y="1727210"/>
            <a:ext cx="3384560" cy="1892259"/>
          </a:xfrm>
          <a:prstGeom prst="roundRect">
            <a:avLst>
              <a:gd name="adj" fmla="val 4832"/>
            </a:avLst>
          </a:prstGeom>
          <a:solidFill>
            <a:srgbClr val="FFFFFF"/>
          </a:solidFill>
          <a:ln w="12700">
            <a:solidFill>
              <a:srgbClr val="E3E1DA"/>
            </a:solidFill>
            <a:prstDash val="solid"/>
          </a:ln>
        </p:spPr>
      </p:sp>
      <p:sp>
        <p:nvSpPr>
          <p:cNvPr id="11" name="Text 8"/>
          <p:cNvSpPr txBox="1"/>
          <p:nvPr/>
        </p:nvSpPr>
        <p:spPr>
          <a:xfrm>
            <a:off x="4629150" y="1930390"/>
            <a:ext cx="1270010" cy="381030"/>
          </a:xfrm>
          <a:prstGeom prst="rect">
            <a:avLst/>
          </a:prstGeom>
          <a:noFill/>
          <a:ln/>
        </p:spPr>
        <p:txBody>
          <a:bodyPr wrap="square" lIns="0" tIns="0" rIns="0" bIns="0" rtlCol="0" anchor="ctr"/>
          <a:lstStyle/>
          <a:p>
            <a:pPr indent="0" marL="0">
              <a:buNone/>
            </a:pPr>
            <a:r>
              <a:rPr lang="en-US" sz="2200" b="1" dirty="0">
                <a:solidFill>
                  <a:srgbClr val="A8441A"/>
                </a:solidFill>
                <a:latin typeface="Consolas" pitchFamily="34" charset="0"/>
                <a:ea typeface="Consolas" pitchFamily="34" charset="-122"/>
                <a:cs typeface="Consolas" pitchFamily="34" charset="-120"/>
              </a:rPr>
              <a:t>02</a:t>
            </a:r>
            <a:endParaRPr lang="en-US" sz="2200" dirty="0"/>
          </a:p>
        </p:txBody>
      </p:sp>
      <p:sp>
        <p:nvSpPr>
          <p:cNvPr id="12" name="Text 9"/>
          <p:cNvSpPr txBox="1"/>
          <p:nvPr/>
        </p:nvSpPr>
        <p:spPr>
          <a:xfrm>
            <a:off x="4629150" y="2400300"/>
            <a:ext cx="2927360" cy="317480"/>
          </a:xfrm>
          <a:prstGeom prst="rect">
            <a:avLst/>
          </a:prstGeom>
          <a:noFill/>
          <a:ln/>
        </p:spPr>
        <p:txBody>
          <a:bodyPr wrap="square" lIns="0" tIns="0" rIns="0" bIns="0" rtlCol="0" anchor="t"/>
          <a:lstStyle/>
          <a:p>
            <a:pPr indent="0" marL="0">
              <a:buNone/>
            </a:pPr>
            <a:r>
              <a:rPr lang="en-US" sz="1700" b="1" dirty="0">
                <a:solidFill>
                  <a:srgbClr val="1B2233"/>
                </a:solidFill>
                <a:latin typeface="Calibri" pitchFamily="34" charset="0"/>
                <a:ea typeface="Calibri" pitchFamily="34" charset="-122"/>
                <a:cs typeface="Calibri" pitchFamily="34" charset="-120"/>
              </a:rPr>
              <a:t>Core concepts</a:t>
            </a:r>
            <a:endParaRPr lang="en-US" sz="1700" dirty="0"/>
          </a:p>
        </p:txBody>
      </p:sp>
      <p:sp>
        <p:nvSpPr>
          <p:cNvPr id="13" name="Text 10"/>
          <p:cNvSpPr txBox="1"/>
          <p:nvPr/>
        </p:nvSpPr>
        <p:spPr>
          <a:xfrm>
            <a:off x="4629150" y="2781330"/>
            <a:ext cx="2927360" cy="634959"/>
          </a:xfrm>
          <a:prstGeom prst="rect">
            <a:avLst/>
          </a:prstGeom>
          <a:noFill/>
          <a:ln/>
        </p:spPr>
        <p:txBody>
          <a:bodyPr wrap="square" lIns="0" tIns="0" rIns="0" bIns="0" rtlCol="0" anchor="t"/>
          <a:lstStyle/>
          <a:p>
            <a:pPr indent="0" marL="0">
              <a:lnSpc>
                <a:spcPct val="110000"/>
              </a:lnSpc>
              <a:buNone/>
            </a:pPr>
            <a:r>
              <a:rPr lang="en-US" sz="1300" dirty="0">
                <a:solidFill>
                  <a:srgbClr val="4A5264"/>
                </a:solidFill>
                <a:latin typeface="Calibri" pitchFamily="34" charset="0"/>
                <a:ea typeface="Calibri" pitchFamily="34" charset="-122"/>
                <a:cs typeface="Calibri" pitchFamily="34" charset="-120"/>
              </a:rPr>
              <a:t>Rules as clauses, backward chaining, asking the user for facts</a:t>
            </a:r>
            <a:endParaRPr lang="en-US" sz="1300" dirty="0"/>
          </a:p>
        </p:txBody>
      </p:sp>
      <p:sp>
        <p:nvSpPr>
          <p:cNvPr id="14" name="Shape 11"/>
          <p:cNvSpPr/>
          <p:nvPr/>
        </p:nvSpPr>
        <p:spPr>
          <a:xfrm>
            <a:off x="7988290" y="1727210"/>
            <a:ext cx="3384560" cy="1892259"/>
          </a:xfrm>
          <a:prstGeom prst="roundRect">
            <a:avLst>
              <a:gd name="adj" fmla="val 4832"/>
            </a:avLst>
          </a:prstGeom>
          <a:solidFill>
            <a:srgbClr val="FFFFFF"/>
          </a:solidFill>
          <a:ln w="12700">
            <a:solidFill>
              <a:srgbClr val="E3E1DA"/>
            </a:solidFill>
            <a:prstDash val="solid"/>
          </a:ln>
        </p:spPr>
      </p:sp>
      <p:sp>
        <p:nvSpPr>
          <p:cNvPr id="15" name="Text 12"/>
          <p:cNvSpPr txBox="1"/>
          <p:nvPr/>
        </p:nvSpPr>
        <p:spPr>
          <a:xfrm>
            <a:off x="8216890" y="1930390"/>
            <a:ext cx="1270010" cy="381030"/>
          </a:xfrm>
          <a:prstGeom prst="rect">
            <a:avLst/>
          </a:prstGeom>
          <a:noFill/>
          <a:ln/>
        </p:spPr>
        <p:txBody>
          <a:bodyPr wrap="square" lIns="0" tIns="0" rIns="0" bIns="0" rtlCol="0" anchor="ctr"/>
          <a:lstStyle/>
          <a:p>
            <a:pPr indent="0" marL="0">
              <a:buNone/>
            </a:pPr>
            <a:r>
              <a:rPr lang="en-US" sz="2200" b="1" dirty="0">
                <a:solidFill>
                  <a:srgbClr val="A8441A"/>
                </a:solidFill>
                <a:latin typeface="Consolas" pitchFamily="34" charset="0"/>
                <a:ea typeface="Consolas" pitchFamily="34" charset="-122"/>
                <a:cs typeface="Consolas" pitchFamily="34" charset="-120"/>
              </a:rPr>
              <a:t>03</a:t>
            </a:r>
            <a:endParaRPr lang="en-US" sz="2200" dirty="0"/>
          </a:p>
        </p:txBody>
      </p:sp>
      <p:sp>
        <p:nvSpPr>
          <p:cNvPr id="16" name="Text 13"/>
          <p:cNvSpPr txBox="1"/>
          <p:nvPr/>
        </p:nvSpPr>
        <p:spPr>
          <a:xfrm>
            <a:off x="8216890" y="2400300"/>
            <a:ext cx="2927360" cy="317480"/>
          </a:xfrm>
          <a:prstGeom prst="rect">
            <a:avLst/>
          </a:prstGeom>
          <a:noFill/>
          <a:ln/>
        </p:spPr>
        <p:txBody>
          <a:bodyPr wrap="square" lIns="0" tIns="0" rIns="0" bIns="0" rtlCol="0" anchor="t"/>
          <a:lstStyle/>
          <a:p>
            <a:pPr indent="0" marL="0">
              <a:buNone/>
            </a:pPr>
            <a:r>
              <a:rPr lang="en-US" sz="1700" b="1" dirty="0">
                <a:solidFill>
                  <a:srgbClr val="1B2233"/>
                </a:solidFill>
                <a:latin typeface="Calibri" pitchFamily="34" charset="0"/>
                <a:ea typeface="Calibri" pitchFamily="34" charset="-122"/>
                <a:cs typeface="Calibri" pitchFamily="34" charset="-120"/>
              </a:rPr>
              <a:t>Building the system</a:t>
            </a:r>
            <a:endParaRPr lang="en-US" sz="1700" dirty="0"/>
          </a:p>
        </p:txBody>
      </p:sp>
      <p:sp>
        <p:nvSpPr>
          <p:cNvPr id="17" name="Text 14"/>
          <p:cNvSpPr txBox="1"/>
          <p:nvPr/>
        </p:nvSpPr>
        <p:spPr>
          <a:xfrm>
            <a:off x="8216890" y="2781330"/>
            <a:ext cx="2927360" cy="634959"/>
          </a:xfrm>
          <a:prstGeom prst="rect">
            <a:avLst/>
          </a:prstGeom>
          <a:noFill/>
          <a:ln/>
        </p:spPr>
        <p:txBody>
          <a:bodyPr wrap="square" lIns="0" tIns="0" rIns="0" bIns="0" rtlCol="0" anchor="t"/>
          <a:lstStyle/>
          <a:p>
            <a:pPr indent="0" marL="0">
              <a:lnSpc>
                <a:spcPct val="110000"/>
              </a:lnSpc>
              <a:buNone/>
            </a:pPr>
            <a:r>
              <a:rPr lang="en-US" sz="1300" dirty="0">
                <a:solidFill>
                  <a:srgbClr val="4A5264"/>
                </a:solidFill>
                <a:latin typeface="Calibri" pitchFamily="34" charset="0"/>
                <a:ea typeface="Calibri" pitchFamily="34" charset="-122"/>
                <a:cs typeface="Calibri" pitchFamily="34" charset="-120"/>
              </a:rPr>
              <a:t>Knowledge base, inference engine, WHY and HOW explanations</a:t>
            </a:r>
            <a:endParaRPr lang="en-US" sz="1300" dirty="0"/>
          </a:p>
        </p:txBody>
      </p:sp>
      <p:sp>
        <p:nvSpPr>
          <p:cNvPr id="18" name="Shape 15"/>
          <p:cNvSpPr/>
          <p:nvPr/>
        </p:nvSpPr>
        <p:spPr>
          <a:xfrm>
            <a:off x="812810" y="3822741"/>
            <a:ext cx="3384560" cy="1892259"/>
          </a:xfrm>
          <a:prstGeom prst="roundRect">
            <a:avLst>
              <a:gd name="adj" fmla="val 4832"/>
            </a:avLst>
          </a:prstGeom>
          <a:solidFill>
            <a:srgbClr val="FFFFFF"/>
          </a:solidFill>
          <a:ln w="12700">
            <a:solidFill>
              <a:srgbClr val="E3E1DA"/>
            </a:solidFill>
            <a:prstDash val="solid"/>
          </a:ln>
        </p:spPr>
      </p:sp>
      <p:sp>
        <p:nvSpPr>
          <p:cNvPr id="19" name="Text 16"/>
          <p:cNvSpPr txBox="1"/>
          <p:nvPr/>
        </p:nvSpPr>
        <p:spPr>
          <a:xfrm>
            <a:off x="1041410" y="4025920"/>
            <a:ext cx="1270010" cy="381030"/>
          </a:xfrm>
          <a:prstGeom prst="rect">
            <a:avLst/>
          </a:prstGeom>
          <a:noFill/>
          <a:ln/>
        </p:spPr>
        <p:txBody>
          <a:bodyPr wrap="square" lIns="0" tIns="0" rIns="0" bIns="0" rtlCol="0" anchor="ctr"/>
          <a:lstStyle/>
          <a:p>
            <a:pPr indent="0" marL="0">
              <a:buNone/>
            </a:pPr>
            <a:r>
              <a:rPr lang="en-US" sz="2200" b="1" dirty="0">
                <a:solidFill>
                  <a:srgbClr val="A8441A"/>
                </a:solidFill>
                <a:latin typeface="Consolas" pitchFamily="34" charset="0"/>
                <a:ea typeface="Consolas" pitchFamily="34" charset="-122"/>
                <a:cs typeface="Consolas" pitchFamily="34" charset="-120"/>
              </a:rPr>
              <a:t>04</a:t>
            </a:r>
            <a:endParaRPr lang="en-US" sz="2200" dirty="0"/>
          </a:p>
        </p:txBody>
      </p:sp>
      <p:sp>
        <p:nvSpPr>
          <p:cNvPr id="20" name="Text 17"/>
          <p:cNvSpPr txBox="1"/>
          <p:nvPr/>
        </p:nvSpPr>
        <p:spPr>
          <a:xfrm>
            <a:off x="1041410" y="4495830"/>
            <a:ext cx="2927360" cy="317480"/>
          </a:xfrm>
          <a:prstGeom prst="rect">
            <a:avLst/>
          </a:prstGeom>
          <a:noFill/>
          <a:ln/>
        </p:spPr>
        <p:txBody>
          <a:bodyPr wrap="square" lIns="0" tIns="0" rIns="0" bIns="0" rtlCol="0" anchor="t"/>
          <a:lstStyle/>
          <a:p>
            <a:pPr indent="0" marL="0">
              <a:buNone/>
            </a:pPr>
            <a:r>
              <a:rPr lang="en-US" sz="1700" b="1" dirty="0">
                <a:solidFill>
                  <a:srgbClr val="1B2233"/>
                </a:solidFill>
                <a:latin typeface="Calibri" pitchFamily="34" charset="0"/>
                <a:ea typeface="Calibri" pitchFamily="34" charset="-122"/>
                <a:cs typeface="Calibri" pitchFamily="34" charset="-120"/>
              </a:rPr>
              <a:t>Working demo</a:t>
            </a:r>
            <a:endParaRPr lang="en-US" sz="1700" dirty="0"/>
          </a:p>
        </p:txBody>
      </p:sp>
      <p:sp>
        <p:nvSpPr>
          <p:cNvPr id="21" name="Text 18"/>
          <p:cNvSpPr txBox="1"/>
          <p:nvPr/>
        </p:nvSpPr>
        <p:spPr>
          <a:xfrm>
            <a:off x="1041410" y="4876770"/>
            <a:ext cx="2927360" cy="634959"/>
          </a:xfrm>
          <a:prstGeom prst="rect">
            <a:avLst/>
          </a:prstGeom>
          <a:noFill/>
          <a:ln/>
        </p:spPr>
        <p:txBody>
          <a:bodyPr wrap="square" lIns="0" tIns="0" rIns="0" bIns="0" rtlCol="0" anchor="t"/>
          <a:lstStyle/>
          <a:p>
            <a:pPr indent="0" marL="0">
              <a:lnSpc>
                <a:spcPct val="110000"/>
              </a:lnSpc>
              <a:buNone/>
            </a:pPr>
            <a:r>
              <a:rPr lang="en-US" sz="1300" dirty="0">
                <a:solidFill>
                  <a:srgbClr val="4A5264"/>
                </a:solidFill>
                <a:latin typeface="Calibri" pitchFamily="34" charset="0"/>
                <a:ea typeface="Calibri" pitchFamily="34" charset="-122"/>
                <a:cs typeface="Calibri" pitchFamily="34" charset="-120"/>
              </a:rPr>
              <a:t>Animal identification and fever / flu, with real output</a:t>
            </a:r>
            <a:endParaRPr lang="en-US" sz="1300" dirty="0"/>
          </a:p>
        </p:txBody>
      </p:sp>
      <p:sp>
        <p:nvSpPr>
          <p:cNvPr id="22" name="Shape 19"/>
          <p:cNvSpPr/>
          <p:nvPr/>
        </p:nvSpPr>
        <p:spPr>
          <a:xfrm>
            <a:off x="4400550" y="3822741"/>
            <a:ext cx="3384560" cy="1892259"/>
          </a:xfrm>
          <a:prstGeom prst="roundRect">
            <a:avLst>
              <a:gd name="adj" fmla="val 4832"/>
            </a:avLst>
          </a:prstGeom>
          <a:solidFill>
            <a:srgbClr val="FFFFFF"/>
          </a:solidFill>
          <a:ln w="12700">
            <a:solidFill>
              <a:srgbClr val="E3E1DA"/>
            </a:solidFill>
            <a:prstDash val="solid"/>
          </a:ln>
        </p:spPr>
      </p:sp>
      <p:sp>
        <p:nvSpPr>
          <p:cNvPr id="23" name="Text 20"/>
          <p:cNvSpPr txBox="1"/>
          <p:nvPr/>
        </p:nvSpPr>
        <p:spPr>
          <a:xfrm>
            <a:off x="4629150" y="4025920"/>
            <a:ext cx="1270010" cy="381030"/>
          </a:xfrm>
          <a:prstGeom prst="rect">
            <a:avLst/>
          </a:prstGeom>
          <a:noFill/>
          <a:ln/>
        </p:spPr>
        <p:txBody>
          <a:bodyPr wrap="square" lIns="0" tIns="0" rIns="0" bIns="0" rtlCol="0" anchor="ctr"/>
          <a:lstStyle/>
          <a:p>
            <a:pPr indent="0" marL="0">
              <a:buNone/>
            </a:pPr>
            <a:r>
              <a:rPr lang="en-US" sz="2200" b="1" dirty="0">
                <a:solidFill>
                  <a:srgbClr val="A8441A"/>
                </a:solidFill>
                <a:latin typeface="Consolas" pitchFamily="34" charset="0"/>
                <a:ea typeface="Consolas" pitchFamily="34" charset="-122"/>
                <a:cs typeface="Consolas" pitchFamily="34" charset="-120"/>
              </a:rPr>
              <a:t>05</a:t>
            </a:r>
            <a:endParaRPr lang="en-US" sz="2200" dirty="0"/>
          </a:p>
        </p:txBody>
      </p:sp>
      <p:sp>
        <p:nvSpPr>
          <p:cNvPr id="24" name="Text 21"/>
          <p:cNvSpPr txBox="1"/>
          <p:nvPr/>
        </p:nvSpPr>
        <p:spPr>
          <a:xfrm>
            <a:off x="4629150" y="4495830"/>
            <a:ext cx="2927360" cy="317480"/>
          </a:xfrm>
          <a:prstGeom prst="rect">
            <a:avLst/>
          </a:prstGeom>
          <a:noFill/>
          <a:ln/>
        </p:spPr>
        <p:txBody>
          <a:bodyPr wrap="square" lIns="0" tIns="0" rIns="0" bIns="0" rtlCol="0" anchor="t"/>
          <a:lstStyle/>
          <a:p>
            <a:pPr indent="0" marL="0">
              <a:buNone/>
            </a:pPr>
            <a:r>
              <a:rPr lang="en-US" sz="1700" b="1" dirty="0">
                <a:solidFill>
                  <a:srgbClr val="1B2233"/>
                </a:solidFill>
                <a:latin typeface="Calibri" pitchFamily="34" charset="0"/>
                <a:ea typeface="Calibri" pitchFamily="34" charset="-122"/>
                <a:cs typeface="Calibri" pitchFamily="34" charset="-120"/>
              </a:rPr>
              <a:t>Case studies</a:t>
            </a:r>
            <a:endParaRPr lang="en-US" sz="1700" dirty="0"/>
          </a:p>
        </p:txBody>
      </p:sp>
      <p:sp>
        <p:nvSpPr>
          <p:cNvPr id="25" name="Text 22"/>
          <p:cNvSpPr txBox="1"/>
          <p:nvPr/>
        </p:nvSpPr>
        <p:spPr>
          <a:xfrm>
            <a:off x="4629150" y="4876770"/>
            <a:ext cx="2927360" cy="634959"/>
          </a:xfrm>
          <a:prstGeom prst="rect">
            <a:avLst/>
          </a:prstGeom>
          <a:noFill/>
          <a:ln/>
        </p:spPr>
        <p:txBody>
          <a:bodyPr wrap="square" lIns="0" tIns="0" rIns="0" bIns="0" rtlCol="0" anchor="t"/>
          <a:lstStyle/>
          <a:p>
            <a:pPr indent="0" marL="0">
              <a:lnSpc>
                <a:spcPct val="110000"/>
              </a:lnSpc>
              <a:buNone/>
            </a:pPr>
            <a:r>
              <a:rPr lang="en-US" sz="1300" dirty="0">
                <a:solidFill>
                  <a:srgbClr val="4A5264"/>
                </a:solidFill>
                <a:latin typeface="Calibri" pitchFamily="34" charset="0"/>
                <a:ea typeface="Calibri" pitchFamily="34" charset="-122"/>
                <a:cs typeface="Calibri" pitchFamily="34" charset="-120"/>
              </a:rPr>
              <a:t>MYCIN, the British Nationality Act, Prolog in IBM Watson and at NASA</a:t>
            </a:r>
            <a:endParaRPr lang="en-US" sz="1300" dirty="0"/>
          </a:p>
        </p:txBody>
      </p:sp>
      <p:sp>
        <p:nvSpPr>
          <p:cNvPr id="26" name="Shape 23"/>
          <p:cNvSpPr/>
          <p:nvPr/>
        </p:nvSpPr>
        <p:spPr>
          <a:xfrm>
            <a:off x="7988290" y="3822741"/>
            <a:ext cx="3384560" cy="1892259"/>
          </a:xfrm>
          <a:prstGeom prst="roundRect">
            <a:avLst>
              <a:gd name="adj" fmla="val 4832"/>
            </a:avLst>
          </a:prstGeom>
          <a:solidFill>
            <a:srgbClr val="FFFFFF"/>
          </a:solidFill>
          <a:ln w="12700">
            <a:solidFill>
              <a:srgbClr val="E3E1DA"/>
            </a:solidFill>
            <a:prstDash val="solid"/>
          </a:ln>
        </p:spPr>
      </p:sp>
      <p:sp>
        <p:nvSpPr>
          <p:cNvPr id="27" name="Text 24"/>
          <p:cNvSpPr txBox="1"/>
          <p:nvPr/>
        </p:nvSpPr>
        <p:spPr>
          <a:xfrm>
            <a:off x="8216890" y="4025920"/>
            <a:ext cx="1270010" cy="381030"/>
          </a:xfrm>
          <a:prstGeom prst="rect">
            <a:avLst/>
          </a:prstGeom>
          <a:noFill/>
          <a:ln/>
        </p:spPr>
        <p:txBody>
          <a:bodyPr wrap="square" lIns="0" tIns="0" rIns="0" bIns="0" rtlCol="0" anchor="ctr"/>
          <a:lstStyle/>
          <a:p>
            <a:pPr indent="0" marL="0">
              <a:buNone/>
            </a:pPr>
            <a:r>
              <a:rPr lang="en-US" sz="2200" b="1" dirty="0">
                <a:solidFill>
                  <a:srgbClr val="A8441A"/>
                </a:solidFill>
                <a:latin typeface="Consolas" pitchFamily="34" charset="0"/>
                <a:ea typeface="Consolas" pitchFamily="34" charset="-122"/>
                <a:cs typeface="Consolas" pitchFamily="34" charset="-120"/>
              </a:rPr>
              <a:t>06</a:t>
            </a:r>
            <a:endParaRPr lang="en-US" sz="2200" dirty="0"/>
          </a:p>
        </p:txBody>
      </p:sp>
      <p:sp>
        <p:nvSpPr>
          <p:cNvPr id="28" name="Text 25"/>
          <p:cNvSpPr txBox="1"/>
          <p:nvPr/>
        </p:nvSpPr>
        <p:spPr>
          <a:xfrm>
            <a:off x="8216890" y="4495830"/>
            <a:ext cx="2927360" cy="317480"/>
          </a:xfrm>
          <a:prstGeom prst="rect">
            <a:avLst/>
          </a:prstGeom>
          <a:noFill/>
          <a:ln/>
        </p:spPr>
        <p:txBody>
          <a:bodyPr wrap="square" lIns="0" tIns="0" rIns="0" bIns="0" rtlCol="0" anchor="t"/>
          <a:lstStyle/>
          <a:p>
            <a:pPr indent="0" marL="0">
              <a:buNone/>
            </a:pPr>
            <a:r>
              <a:rPr lang="en-US" sz="1700" b="1" dirty="0">
                <a:solidFill>
                  <a:srgbClr val="1B2233"/>
                </a:solidFill>
                <a:latin typeface="Calibri" pitchFamily="34" charset="0"/>
                <a:ea typeface="Calibri" pitchFamily="34" charset="-122"/>
                <a:cs typeface="Calibri" pitchFamily="34" charset="-120"/>
              </a:rPr>
              <a:t>Limits &amp; takeaways</a:t>
            </a:r>
            <a:endParaRPr lang="en-US" sz="1700" dirty="0"/>
          </a:p>
        </p:txBody>
      </p:sp>
      <p:sp>
        <p:nvSpPr>
          <p:cNvPr id="29" name="Text 26"/>
          <p:cNvSpPr txBox="1"/>
          <p:nvPr/>
        </p:nvSpPr>
        <p:spPr>
          <a:xfrm>
            <a:off x="8216890" y="4876770"/>
            <a:ext cx="2927360" cy="634959"/>
          </a:xfrm>
          <a:prstGeom prst="rect">
            <a:avLst/>
          </a:prstGeom>
          <a:noFill/>
          <a:ln/>
        </p:spPr>
        <p:txBody>
          <a:bodyPr wrap="square" lIns="0" tIns="0" rIns="0" bIns="0" rtlCol="0" anchor="t"/>
          <a:lstStyle/>
          <a:p>
            <a:pPr indent="0" marL="0">
              <a:lnSpc>
                <a:spcPct val="110000"/>
              </a:lnSpc>
              <a:buNone/>
            </a:pPr>
            <a:r>
              <a:rPr lang="en-US" sz="1300" dirty="0">
                <a:solidFill>
                  <a:srgbClr val="4A5264"/>
                </a:solidFill>
                <a:latin typeface="Calibri" pitchFamily="34" charset="0"/>
                <a:ea typeface="Calibri" pitchFamily="34" charset="-122"/>
                <a:cs typeface="Calibri" pitchFamily="34" charset="-120"/>
              </a:rPr>
              <a:t>What rule-based systems cannot do, and what to remember</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01 · MOTIVATION</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Why rule-based programming?</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Sources: Durkin (1994); Bratko (2012), Ch. 15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03</a:t>
            </a:r>
            <a:endParaRPr lang="en-US" sz="1200" dirty="0"/>
          </a:p>
        </p:txBody>
      </p:sp>
      <p:sp>
        <p:nvSpPr>
          <p:cNvPr id="7" name="Shape 4"/>
          <p:cNvSpPr/>
          <p:nvPr/>
        </p:nvSpPr>
        <p:spPr>
          <a:xfrm>
            <a:off x="812810" y="1727210"/>
            <a:ext cx="5181630" cy="1841510"/>
          </a:xfrm>
          <a:prstGeom prst="roundRect">
            <a:avLst>
              <a:gd name="adj" fmla="val 4965"/>
            </a:avLst>
          </a:prstGeom>
          <a:solidFill>
            <a:srgbClr val="FFFFFF"/>
          </a:solidFill>
          <a:ln w="12700">
            <a:solidFill>
              <a:srgbClr val="E3E1DA"/>
            </a:solidFill>
            <a:prstDash val="solid"/>
          </a:ln>
        </p:spPr>
      </p:sp>
      <p:sp>
        <p:nvSpPr>
          <p:cNvPr id="8" name="Shape 5"/>
          <p:cNvSpPr/>
          <p:nvPr/>
        </p:nvSpPr>
        <p:spPr>
          <a:xfrm>
            <a:off x="1041410" y="1955810"/>
            <a:ext cx="381030" cy="381030"/>
          </a:xfrm>
          <a:prstGeom prst="ellipse">
            <a:avLst/>
          </a:prstGeom>
          <a:solidFill>
            <a:srgbClr val="A8441A"/>
          </a:solidFill>
          <a:ln/>
        </p:spPr>
      </p:sp>
      <p:sp>
        <p:nvSpPr>
          <p:cNvPr id="9" name="Text 6"/>
          <p:cNvSpPr txBox="1"/>
          <p:nvPr/>
        </p:nvSpPr>
        <p:spPr>
          <a:xfrm>
            <a:off x="1041410" y="1955810"/>
            <a:ext cx="381030" cy="38103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0" name="Text 7"/>
          <p:cNvSpPr txBox="1"/>
          <p:nvPr/>
        </p:nvSpPr>
        <p:spPr>
          <a:xfrm>
            <a:off x="1574780" y="1955810"/>
            <a:ext cx="4229100" cy="381030"/>
          </a:xfrm>
          <a:prstGeom prst="rect">
            <a:avLst/>
          </a:prstGeom>
          <a:noFill/>
          <a:ln/>
        </p:spPr>
        <p:txBody>
          <a:bodyPr wrap="square" lIns="0" tIns="0" rIns="0" bIns="0" rtlCol="0" anchor="ctr"/>
          <a:lstStyle/>
          <a:p>
            <a:pPr indent="0" marL="0">
              <a:buNone/>
            </a:pPr>
            <a:r>
              <a:rPr lang="en-US" sz="1700" b="1" dirty="0">
                <a:solidFill>
                  <a:srgbClr val="1B2233"/>
                </a:solidFill>
                <a:latin typeface="Calibri" pitchFamily="34" charset="0"/>
                <a:ea typeface="Calibri" pitchFamily="34" charset="-122"/>
                <a:cs typeface="Calibri" pitchFamily="34" charset="-120"/>
              </a:rPr>
              <a:t>Experts think in rules</a:t>
            </a:r>
            <a:endParaRPr lang="en-US" sz="1700" dirty="0"/>
          </a:p>
        </p:txBody>
      </p:sp>
      <p:sp>
        <p:nvSpPr>
          <p:cNvPr id="11" name="Text 8"/>
          <p:cNvSpPr txBox="1"/>
          <p:nvPr/>
        </p:nvSpPr>
        <p:spPr>
          <a:xfrm>
            <a:off x="1041410" y="2540020"/>
            <a:ext cx="4724430" cy="825520"/>
          </a:xfrm>
          <a:prstGeom prst="rect">
            <a:avLst/>
          </a:prstGeom>
          <a:noFill/>
          <a:ln/>
        </p:spPr>
        <p:txBody>
          <a:bodyPr wrap="square" lIns="0" tIns="0" rIns="0" bIns="0" rtlCol="0" anchor="t"/>
          <a:lstStyle/>
          <a:p>
            <a:pPr indent="0" marL="0">
              <a:lnSpc>
                <a:spcPct val="115000"/>
              </a:lnSpc>
              <a:buNone/>
            </a:pPr>
            <a:r>
              <a:rPr lang="en-US" sz="1400" dirty="0">
                <a:solidFill>
                  <a:srgbClr val="4A5264"/>
                </a:solidFill>
                <a:latin typeface="Calibri" pitchFamily="34" charset="0"/>
                <a:ea typeface="Calibri" pitchFamily="34" charset="-122"/>
                <a:cs typeface="Calibri" pitchFamily="34" charset="-120"/>
              </a:rPr>
              <a:t>Doctors, mechanics and zoologists state know-how as rules of thumb: IF fever AND body ache THEN suspect flu.</a:t>
            </a:r>
            <a:endParaRPr lang="en-US" sz="1400" dirty="0"/>
          </a:p>
        </p:txBody>
      </p:sp>
      <p:sp>
        <p:nvSpPr>
          <p:cNvPr id="12" name="Shape 9"/>
          <p:cNvSpPr/>
          <p:nvPr/>
        </p:nvSpPr>
        <p:spPr>
          <a:xfrm>
            <a:off x="6197620" y="1727210"/>
            <a:ext cx="5181630" cy="1841510"/>
          </a:xfrm>
          <a:prstGeom prst="roundRect">
            <a:avLst>
              <a:gd name="adj" fmla="val 4965"/>
            </a:avLst>
          </a:prstGeom>
          <a:solidFill>
            <a:srgbClr val="FFFFFF"/>
          </a:solidFill>
          <a:ln w="12700">
            <a:solidFill>
              <a:srgbClr val="E3E1DA"/>
            </a:solidFill>
            <a:prstDash val="solid"/>
          </a:ln>
        </p:spPr>
      </p:sp>
      <p:sp>
        <p:nvSpPr>
          <p:cNvPr id="13" name="Shape 10"/>
          <p:cNvSpPr/>
          <p:nvPr/>
        </p:nvSpPr>
        <p:spPr>
          <a:xfrm>
            <a:off x="6426220" y="1955810"/>
            <a:ext cx="381030" cy="381030"/>
          </a:xfrm>
          <a:prstGeom prst="ellipse">
            <a:avLst/>
          </a:prstGeom>
          <a:solidFill>
            <a:srgbClr val="A8441A"/>
          </a:solidFill>
          <a:ln/>
        </p:spPr>
      </p:sp>
      <p:sp>
        <p:nvSpPr>
          <p:cNvPr id="14" name="Text 11"/>
          <p:cNvSpPr txBox="1"/>
          <p:nvPr/>
        </p:nvSpPr>
        <p:spPr>
          <a:xfrm>
            <a:off x="6426220" y="1955810"/>
            <a:ext cx="381030" cy="38103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5" name="Text 12"/>
          <p:cNvSpPr txBox="1"/>
          <p:nvPr/>
        </p:nvSpPr>
        <p:spPr>
          <a:xfrm>
            <a:off x="6959590" y="1955810"/>
            <a:ext cx="4229100" cy="381030"/>
          </a:xfrm>
          <a:prstGeom prst="rect">
            <a:avLst/>
          </a:prstGeom>
          <a:noFill/>
          <a:ln/>
        </p:spPr>
        <p:txBody>
          <a:bodyPr wrap="square" lIns="0" tIns="0" rIns="0" bIns="0" rtlCol="0" anchor="ctr"/>
          <a:lstStyle/>
          <a:p>
            <a:pPr indent="0" marL="0">
              <a:buNone/>
            </a:pPr>
            <a:r>
              <a:rPr lang="en-US" sz="1700" b="1" dirty="0">
                <a:solidFill>
                  <a:srgbClr val="1B2233"/>
                </a:solidFill>
                <a:latin typeface="Calibri" pitchFamily="34" charset="0"/>
                <a:ea typeface="Calibri" pitchFamily="34" charset="-122"/>
                <a:cs typeface="Calibri" pitchFamily="34" charset="-120"/>
              </a:rPr>
              <a:t>Knowledge stays separate from code</a:t>
            </a:r>
            <a:endParaRPr lang="en-US" sz="1700" dirty="0"/>
          </a:p>
        </p:txBody>
      </p:sp>
      <p:sp>
        <p:nvSpPr>
          <p:cNvPr id="16" name="Text 13"/>
          <p:cNvSpPr txBox="1"/>
          <p:nvPr/>
        </p:nvSpPr>
        <p:spPr>
          <a:xfrm>
            <a:off x="6426220" y="2540020"/>
            <a:ext cx="4724430" cy="825520"/>
          </a:xfrm>
          <a:prstGeom prst="rect">
            <a:avLst/>
          </a:prstGeom>
          <a:noFill/>
          <a:ln/>
        </p:spPr>
        <p:txBody>
          <a:bodyPr wrap="square" lIns="0" tIns="0" rIns="0" bIns="0" rtlCol="0" anchor="t"/>
          <a:lstStyle/>
          <a:p>
            <a:pPr indent="0" marL="0">
              <a:lnSpc>
                <a:spcPct val="115000"/>
              </a:lnSpc>
              <a:buNone/>
            </a:pPr>
            <a:r>
              <a:rPr lang="en-US" sz="1400" dirty="0">
                <a:solidFill>
                  <a:srgbClr val="4A5264"/>
                </a:solidFill>
                <a:latin typeface="Calibri" pitchFamily="34" charset="0"/>
                <a:ea typeface="Calibri" pitchFamily="34" charset="-122"/>
                <a:cs typeface="Calibri" pitchFamily="34" charset="-120"/>
              </a:rPr>
              <a:t>Rules live in a knowledge base; a generic inference engine applies them. Edit the rules, not the program.</a:t>
            </a:r>
            <a:endParaRPr lang="en-US" sz="1400" dirty="0"/>
          </a:p>
        </p:txBody>
      </p:sp>
      <p:sp>
        <p:nvSpPr>
          <p:cNvPr id="17" name="Shape 14"/>
          <p:cNvSpPr/>
          <p:nvPr/>
        </p:nvSpPr>
        <p:spPr>
          <a:xfrm>
            <a:off x="812810" y="3771900"/>
            <a:ext cx="5181630" cy="1841510"/>
          </a:xfrm>
          <a:prstGeom prst="roundRect">
            <a:avLst>
              <a:gd name="adj" fmla="val 4965"/>
            </a:avLst>
          </a:prstGeom>
          <a:solidFill>
            <a:srgbClr val="FFFFFF"/>
          </a:solidFill>
          <a:ln w="12700">
            <a:solidFill>
              <a:srgbClr val="E3E1DA"/>
            </a:solidFill>
            <a:prstDash val="solid"/>
          </a:ln>
        </p:spPr>
      </p:sp>
      <p:sp>
        <p:nvSpPr>
          <p:cNvPr id="18" name="Shape 15"/>
          <p:cNvSpPr/>
          <p:nvPr/>
        </p:nvSpPr>
        <p:spPr>
          <a:xfrm>
            <a:off x="1041410" y="4000500"/>
            <a:ext cx="381030" cy="381030"/>
          </a:xfrm>
          <a:prstGeom prst="ellipse">
            <a:avLst/>
          </a:prstGeom>
          <a:solidFill>
            <a:srgbClr val="A8441A"/>
          </a:solidFill>
          <a:ln/>
        </p:spPr>
      </p:sp>
      <p:sp>
        <p:nvSpPr>
          <p:cNvPr id="19" name="Text 16"/>
          <p:cNvSpPr txBox="1"/>
          <p:nvPr/>
        </p:nvSpPr>
        <p:spPr>
          <a:xfrm>
            <a:off x="1041410" y="4000500"/>
            <a:ext cx="381030" cy="38103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0" name="Text 17"/>
          <p:cNvSpPr txBox="1"/>
          <p:nvPr/>
        </p:nvSpPr>
        <p:spPr>
          <a:xfrm>
            <a:off x="1574780" y="4000500"/>
            <a:ext cx="4229100" cy="381030"/>
          </a:xfrm>
          <a:prstGeom prst="rect">
            <a:avLst/>
          </a:prstGeom>
          <a:noFill/>
          <a:ln/>
        </p:spPr>
        <p:txBody>
          <a:bodyPr wrap="square" lIns="0" tIns="0" rIns="0" bIns="0" rtlCol="0" anchor="ctr"/>
          <a:lstStyle/>
          <a:p>
            <a:pPr indent="0" marL="0">
              <a:buNone/>
            </a:pPr>
            <a:r>
              <a:rPr lang="en-US" sz="1700" b="1" dirty="0">
                <a:solidFill>
                  <a:srgbClr val="1B2233"/>
                </a:solidFill>
                <a:latin typeface="Calibri" pitchFamily="34" charset="0"/>
                <a:ea typeface="Calibri" pitchFamily="34" charset="-122"/>
                <a:cs typeface="Calibri" pitchFamily="34" charset="-120"/>
              </a:rPr>
              <a:t>Every answer can be explained</a:t>
            </a:r>
            <a:endParaRPr lang="en-US" sz="1700" dirty="0"/>
          </a:p>
        </p:txBody>
      </p:sp>
      <p:sp>
        <p:nvSpPr>
          <p:cNvPr id="21" name="Text 18"/>
          <p:cNvSpPr txBox="1"/>
          <p:nvPr/>
        </p:nvSpPr>
        <p:spPr>
          <a:xfrm>
            <a:off x="1041410" y="4584710"/>
            <a:ext cx="4724430" cy="825520"/>
          </a:xfrm>
          <a:prstGeom prst="rect">
            <a:avLst/>
          </a:prstGeom>
          <a:noFill/>
          <a:ln/>
        </p:spPr>
        <p:txBody>
          <a:bodyPr wrap="square" lIns="0" tIns="0" rIns="0" bIns="0" rtlCol="0" anchor="t"/>
          <a:lstStyle/>
          <a:p>
            <a:pPr indent="0" marL="0">
              <a:lnSpc>
                <a:spcPct val="115000"/>
              </a:lnSpc>
              <a:buNone/>
            </a:pPr>
            <a:r>
              <a:rPr lang="en-US" sz="1400" dirty="0">
                <a:solidFill>
                  <a:srgbClr val="4A5264"/>
                </a:solidFill>
                <a:latin typeface="Calibri" pitchFamily="34" charset="0"/>
                <a:ea typeface="Calibri" pitchFamily="34" charset="-122"/>
                <a:cs typeface="Calibri" pitchFamily="34" charset="-120"/>
              </a:rPr>
              <a:t>The chain of rules used is a proof, so the system can say HOW it concluded and WHY it asks a question.</a:t>
            </a:r>
            <a:endParaRPr lang="en-US" sz="1400" dirty="0"/>
          </a:p>
        </p:txBody>
      </p:sp>
      <p:sp>
        <p:nvSpPr>
          <p:cNvPr id="22" name="Shape 19"/>
          <p:cNvSpPr/>
          <p:nvPr/>
        </p:nvSpPr>
        <p:spPr>
          <a:xfrm>
            <a:off x="6197620" y="3771900"/>
            <a:ext cx="5181630" cy="1841510"/>
          </a:xfrm>
          <a:prstGeom prst="roundRect">
            <a:avLst>
              <a:gd name="adj" fmla="val 4965"/>
            </a:avLst>
          </a:prstGeom>
          <a:solidFill>
            <a:srgbClr val="FFFFFF"/>
          </a:solidFill>
          <a:ln w="12700">
            <a:solidFill>
              <a:srgbClr val="E3E1DA"/>
            </a:solidFill>
            <a:prstDash val="solid"/>
          </a:ln>
        </p:spPr>
      </p:sp>
      <p:sp>
        <p:nvSpPr>
          <p:cNvPr id="23" name="Shape 20"/>
          <p:cNvSpPr/>
          <p:nvPr/>
        </p:nvSpPr>
        <p:spPr>
          <a:xfrm>
            <a:off x="6426220" y="4000500"/>
            <a:ext cx="381030" cy="381030"/>
          </a:xfrm>
          <a:prstGeom prst="ellipse">
            <a:avLst/>
          </a:prstGeom>
          <a:solidFill>
            <a:srgbClr val="A8441A"/>
          </a:solidFill>
          <a:ln/>
        </p:spPr>
      </p:sp>
      <p:sp>
        <p:nvSpPr>
          <p:cNvPr id="24" name="Text 21"/>
          <p:cNvSpPr txBox="1"/>
          <p:nvPr/>
        </p:nvSpPr>
        <p:spPr>
          <a:xfrm>
            <a:off x="6426220" y="4000500"/>
            <a:ext cx="381030" cy="38103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5" name="Text 22"/>
          <p:cNvSpPr txBox="1"/>
          <p:nvPr/>
        </p:nvSpPr>
        <p:spPr>
          <a:xfrm>
            <a:off x="6959590" y="4000500"/>
            <a:ext cx="4229100" cy="381030"/>
          </a:xfrm>
          <a:prstGeom prst="rect">
            <a:avLst/>
          </a:prstGeom>
          <a:noFill/>
          <a:ln/>
        </p:spPr>
        <p:txBody>
          <a:bodyPr wrap="square" lIns="0" tIns="0" rIns="0" bIns="0" rtlCol="0" anchor="ctr"/>
          <a:lstStyle/>
          <a:p>
            <a:pPr indent="0" marL="0">
              <a:buNone/>
            </a:pPr>
            <a:r>
              <a:rPr lang="en-US" sz="1700" b="1" dirty="0">
                <a:solidFill>
                  <a:srgbClr val="1B2233"/>
                </a:solidFill>
                <a:latin typeface="Calibri" pitchFamily="34" charset="0"/>
                <a:ea typeface="Calibri" pitchFamily="34" charset="-122"/>
                <a:cs typeface="Calibri" pitchFamily="34" charset="-120"/>
              </a:rPr>
              <a:t>Prolog is already a rule engine</a:t>
            </a:r>
            <a:endParaRPr lang="en-US" sz="1700" dirty="0"/>
          </a:p>
        </p:txBody>
      </p:sp>
      <p:sp>
        <p:nvSpPr>
          <p:cNvPr id="26" name="Text 23"/>
          <p:cNvSpPr txBox="1"/>
          <p:nvPr/>
        </p:nvSpPr>
        <p:spPr>
          <a:xfrm>
            <a:off x="6426220" y="4584710"/>
            <a:ext cx="4724430" cy="825520"/>
          </a:xfrm>
          <a:prstGeom prst="rect">
            <a:avLst/>
          </a:prstGeom>
          <a:noFill/>
          <a:ln/>
        </p:spPr>
        <p:txBody>
          <a:bodyPr wrap="square" lIns="0" tIns="0" rIns="0" bIns="0" rtlCol="0" anchor="t"/>
          <a:lstStyle/>
          <a:p>
            <a:pPr indent="0" marL="0">
              <a:lnSpc>
                <a:spcPct val="115000"/>
              </a:lnSpc>
              <a:buNone/>
            </a:pPr>
            <a:r>
              <a:rPr lang="en-US" sz="1400" dirty="0">
                <a:solidFill>
                  <a:srgbClr val="4A5264"/>
                </a:solidFill>
                <a:latin typeface="Calibri" pitchFamily="34" charset="0"/>
                <a:ea typeface="Calibri" pitchFamily="34" charset="-122"/>
                <a:cs typeface="Calibri" pitchFamily="34" charset="-120"/>
              </a:rPr>
              <a:t>A clause is an IF-THEN rule and running it is backward chaining. Our full expert-system shell is about 60 lines.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01 · BACKGROUND</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From expert systems to Prolog: a short history</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Sources: Russell &amp; Norvig (2020), Ch. 1; Kowalski (1979); Lally &amp; Fodor (2011)</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04</a:t>
            </a:r>
            <a:endParaRPr lang="en-US" sz="1200" dirty="0"/>
          </a:p>
        </p:txBody>
      </p:sp>
      <p:sp>
        <p:nvSpPr>
          <p:cNvPr id="7" name="Shape 4"/>
          <p:cNvSpPr/>
          <p:nvPr/>
        </p:nvSpPr>
        <p:spPr>
          <a:xfrm>
            <a:off x="812810" y="1904970"/>
            <a:ext cx="10566441" cy="0"/>
          </a:xfrm>
          <a:prstGeom prst="line">
            <a:avLst/>
          </a:prstGeom>
          <a:noFill/>
          <a:ln w="38100">
            <a:solidFill>
              <a:srgbClr val="1B2233"/>
            </a:solidFill>
            <a:prstDash val="solid"/>
          </a:ln>
        </p:spPr>
      </p:sp>
      <p:sp>
        <p:nvSpPr>
          <p:cNvPr id="8" name="Shape 5"/>
          <p:cNvSpPr/>
          <p:nvPr/>
        </p:nvSpPr>
        <p:spPr>
          <a:xfrm>
            <a:off x="812810" y="1828800"/>
            <a:ext cx="152430" cy="152430"/>
          </a:xfrm>
          <a:prstGeom prst="ellipse">
            <a:avLst/>
          </a:prstGeom>
          <a:solidFill>
            <a:srgbClr val="A8441A"/>
          </a:solidFill>
          <a:ln/>
        </p:spPr>
      </p:sp>
      <p:sp>
        <p:nvSpPr>
          <p:cNvPr id="9" name="Text 6"/>
          <p:cNvSpPr txBox="1"/>
          <p:nvPr/>
        </p:nvSpPr>
        <p:spPr>
          <a:xfrm>
            <a:off x="812810" y="2095530"/>
            <a:ext cx="1651041" cy="381030"/>
          </a:xfrm>
          <a:prstGeom prst="rect">
            <a:avLst/>
          </a:prstGeom>
          <a:noFill/>
          <a:ln/>
        </p:spPr>
        <p:txBody>
          <a:bodyPr wrap="square" lIns="0" tIns="0" rIns="0" bIns="0" rtlCol="0" anchor="ctr"/>
          <a:lstStyle/>
          <a:p>
            <a:pPr indent="0" marL="0">
              <a:buNone/>
            </a:pPr>
            <a:r>
              <a:rPr lang="en-US" sz="2200" b="1" dirty="0">
                <a:solidFill>
                  <a:srgbClr val="A8441A"/>
                </a:solidFill>
                <a:latin typeface="Consolas" pitchFamily="34" charset="0"/>
                <a:ea typeface="Consolas" pitchFamily="34" charset="-122"/>
                <a:cs typeface="Consolas" pitchFamily="34" charset="-120"/>
              </a:rPr>
              <a:t>1965</a:t>
            </a:r>
            <a:endParaRPr lang="en-US" sz="2200" dirty="0"/>
          </a:p>
        </p:txBody>
      </p:sp>
      <p:sp>
        <p:nvSpPr>
          <p:cNvPr id="10" name="Text 7"/>
          <p:cNvSpPr txBox="1"/>
          <p:nvPr/>
        </p:nvSpPr>
        <p:spPr>
          <a:xfrm>
            <a:off x="812810" y="2514600"/>
            <a:ext cx="1651041" cy="279441"/>
          </a:xfrm>
          <a:prstGeom prst="rect">
            <a:avLst/>
          </a:prstGeom>
          <a:noFill/>
          <a:ln/>
        </p:spPr>
        <p:txBody>
          <a:bodyPr wrap="square" lIns="0" tIns="0" rIns="0" bIns="0" rtlCol="0" anchor="t"/>
          <a:lstStyle/>
          <a:p>
            <a:pPr indent="0" marL="0">
              <a:buNone/>
            </a:pPr>
            <a:r>
              <a:rPr lang="en-US" sz="1400" b="1" dirty="0">
                <a:solidFill>
                  <a:srgbClr val="1B2233"/>
                </a:solidFill>
                <a:latin typeface="Calibri" pitchFamily="34" charset="0"/>
                <a:ea typeface="Calibri" pitchFamily="34" charset="-122"/>
                <a:cs typeface="Calibri" pitchFamily="34" charset="-120"/>
              </a:rPr>
              <a:t>DENDRAL</a:t>
            </a:r>
            <a:endParaRPr lang="en-US" sz="1400" dirty="0"/>
          </a:p>
        </p:txBody>
      </p:sp>
      <p:sp>
        <p:nvSpPr>
          <p:cNvPr id="11" name="Text 8"/>
          <p:cNvSpPr txBox="1"/>
          <p:nvPr/>
        </p:nvSpPr>
        <p:spPr>
          <a:xfrm>
            <a:off x="812810" y="2832080"/>
            <a:ext cx="1587490" cy="1397020"/>
          </a:xfrm>
          <a:prstGeom prst="rect">
            <a:avLst/>
          </a:prstGeom>
          <a:noFill/>
          <a:ln/>
        </p:spPr>
        <p:txBody>
          <a:bodyPr wrap="square" lIns="0" tIns="0" rIns="0" bIns="0" rtlCol="0" anchor="t"/>
          <a:lstStyle/>
          <a:p>
            <a:pPr indent="0" marL="0">
              <a:lnSpc>
                <a:spcPct val="115000"/>
              </a:lnSpc>
              <a:buNone/>
            </a:pPr>
            <a:r>
              <a:rPr lang="en-US" sz="1200" dirty="0">
                <a:solidFill>
                  <a:srgbClr val="4A5264"/>
                </a:solidFill>
                <a:latin typeface="Calibri" pitchFamily="34" charset="0"/>
                <a:ea typeface="Calibri" pitchFamily="34" charset="-122"/>
                <a:cs typeface="Calibri" pitchFamily="34" charset="-120"/>
              </a:rPr>
              <a:t>First expert system (Stanford): infers molecular structure from mass-spectra</a:t>
            </a:r>
            <a:endParaRPr lang="en-US" sz="1200" dirty="0"/>
          </a:p>
        </p:txBody>
      </p:sp>
      <p:sp>
        <p:nvSpPr>
          <p:cNvPr id="12" name="Shape 9"/>
          <p:cNvSpPr/>
          <p:nvPr/>
        </p:nvSpPr>
        <p:spPr>
          <a:xfrm>
            <a:off x="2571750" y="1828800"/>
            <a:ext cx="152430" cy="152430"/>
          </a:xfrm>
          <a:prstGeom prst="ellipse">
            <a:avLst/>
          </a:prstGeom>
          <a:solidFill>
            <a:srgbClr val="A8441A"/>
          </a:solidFill>
          <a:ln/>
        </p:spPr>
      </p:sp>
      <p:sp>
        <p:nvSpPr>
          <p:cNvPr id="13" name="Text 10"/>
          <p:cNvSpPr txBox="1"/>
          <p:nvPr/>
        </p:nvSpPr>
        <p:spPr>
          <a:xfrm>
            <a:off x="2571750" y="2095530"/>
            <a:ext cx="1651041" cy="381030"/>
          </a:xfrm>
          <a:prstGeom prst="rect">
            <a:avLst/>
          </a:prstGeom>
          <a:noFill/>
          <a:ln/>
        </p:spPr>
        <p:txBody>
          <a:bodyPr wrap="square" lIns="0" tIns="0" rIns="0" bIns="0" rtlCol="0" anchor="ctr"/>
          <a:lstStyle/>
          <a:p>
            <a:pPr indent="0" marL="0">
              <a:buNone/>
            </a:pPr>
            <a:r>
              <a:rPr lang="en-US" sz="2200" b="1" dirty="0">
                <a:solidFill>
                  <a:srgbClr val="A8441A"/>
                </a:solidFill>
                <a:latin typeface="Consolas" pitchFamily="34" charset="0"/>
                <a:ea typeface="Consolas" pitchFamily="34" charset="-122"/>
                <a:cs typeface="Consolas" pitchFamily="34" charset="-120"/>
              </a:rPr>
              <a:t>1972</a:t>
            </a:r>
            <a:endParaRPr lang="en-US" sz="2200" dirty="0"/>
          </a:p>
        </p:txBody>
      </p:sp>
      <p:sp>
        <p:nvSpPr>
          <p:cNvPr id="14" name="Text 11"/>
          <p:cNvSpPr txBox="1"/>
          <p:nvPr/>
        </p:nvSpPr>
        <p:spPr>
          <a:xfrm>
            <a:off x="2571750" y="2514600"/>
            <a:ext cx="1651041" cy="279441"/>
          </a:xfrm>
          <a:prstGeom prst="rect">
            <a:avLst/>
          </a:prstGeom>
          <a:noFill/>
          <a:ln/>
        </p:spPr>
        <p:txBody>
          <a:bodyPr wrap="square" lIns="0" tIns="0" rIns="0" bIns="0" rtlCol="0" anchor="t"/>
          <a:lstStyle/>
          <a:p>
            <a:pPr indent="0" marL="0">
              <a:buNone/>
            </a:pPr>
            <a:r>
              <a:rPr lang="en-US" sz="1400" b="1" dirty="0">
                <a:solidFill>
                  <a:srgbClr val="1B2233"/>
                </a:solidFill>
                <a:latin typeface="Calibri" pitchFamily="34" charset="0"/>
                <a:ea typeface="Calibri" pitchFamily="34" charset="-122"/>
                <a:cs typeface="Calibri" pitchFamily="34" charset="-120"/>
              </a:rPr>
              <a:t>Prolog</a:t>
            </a:r>
            <a:endParaRPr lang="en-US" sz="1400" dirty="0"/>
          </a:p>
        </p:txBody>
      </p:sp>
      <p:sp>
        <p:nvSpPr>
          <p:cNvPr id="15" name="Text 12"/>
          <p:cNvSpPr txBox="1"/>
          <p:nvPr/>
        </p:nvSpPr>
        <p:spPr>
          <a:xfrm>
            <a:off x="2571750" y="2832080"/>
            <a:ext cx="1587490" cy="1397020"/>
          </a:xfrm>
          <a:prstGeom prst="rect">
            <a:avLst/>
          </a:prstGeom>
          <a:noFill/>
          <a:ln/>
        </p:spPr>
        <p:txBody>
          <a:bodyPr wrap="square" lIns="0" tIns="0" rIns="0" bIns="0" rtlCol="0" anchor="t"/>
          <a:lstStyle/>
          <a:p>
            <a:pPr indent="0" marL="0">
              <a:lnSpc>
                <a:spcPct val="115000"/>
              </a:lnSpc>
              <a:buNone/>
            </a:pPr>
            <a:r>
              <a:rPr lang="en-US" sz="1200" dirty="0">
                <a:solidFill>
                  <a:srgbClr val="4A5264"/>
                </a:solidFill>
                <a:latin typeface="Calibri" pitchFamily="34" charset="0"/>
                <a:ea typeface="Calibri" pitchFamily="34" charset="-122"/>
                <a:cs typeface="Calibri" pitchFamily="34" charset="-120"/>
              </a:rPr>
              <a:t>Colmerauer &amp; Roussel (Marseille), on Kowalski's logic reading of Horn clauses</a:t>
            </a:r>
            <a:endParaRPr lang="en-US" sz="1200" dirty="0"/>
          </a:p>
        </p:txBody>
      </p:sp>
      <p:sp>
        <p:nvSpPr>
          <p:cNvPr id="16" name="Shape 13"/>
          <p:cNvSpPr/>
          <p:nvPr/>
        </p:nvSpPr>
        <p:spPr>
          <a:xfrm>
            <a:off x="4330690" y="1828800"/>
            <a:ext cx="152430" cy="152430"/>
          </a:xfrm>
          <a:prstGeom prst="ellipse">
            <a:avLst/>
          </a:prstGeom>
          <a:solidFill>
            <a:srgbClr val="A8441A"/>
          </a:solidFill>
          <a:ln/>
        </p:spPr>
      </p:sp>
      <p:sp>
        <p:nvSpPr>
          <p:cNvPr id="17" name="Text 14"/>
          <p:cNvSpPr txBox="1"/>
          <p:nvPr/>
        </p:nvSpPr>
        <p:spPr>
          <a:xfrm>
            <a:off x="4330690" y="2095530"/>
            <a:ext cx="1651041" cy="381030"/>
          </a:xfrm>
          <a:prstGeom prst="rect">
            <a:avLst/>
          </a:prstGeom>
          <a:noFill/>
          <a:ln/>
        </p:spPr>
        <p:txBody>
          <a:bodyPr wrap="square" lIns="0" tIns="0" rIns="0" bIns="0" rtlCol="0" anchor="ctr"/>
          <a:lstStyle/>
          <a:p>
            <a:pPr indent="0" marL="0">
              <a:buNone/>
            </a:pPr>
            <a:r>
              <a:rPr lang="en-US" sz="2200" b="1" dirty="0">
                <a:solidFill>
                  <a:srgbClr val="A8441A"/>
                </a:solidFill>
                <a:latin typeface="Consolas" pitchFamily="34" charset="0"/>
                <a:ea typeface="Consolas" pitchFamily="34" charset="-122"/>
                <a:cs typeface="Consolas" pitchFamily="34" charset="-120"/>
              </a:rPr>
              <a:t>1976</a:t>
            </a:r>
            <a:endParaRPr lang="en-US" sz="2200" dirty="0"/>
          </a:p>
        </p:txBody>
      </p:sp>
      <p:sp>
        <p:nvSpPr>
          <p:cNvPr id="18" name="Text 15"/>
          <p:cNvSpPr txBox="1"/>
          <p:nvPr/>
        </p:nvSpPr>
        <p:spPr>
          <a:xfrm>
            <a:off x="4330690" y="2514600"/>
            <a:ext cx="1651041" cy="279441"/>
          </a:xfrm>
          <a:prstGeom prst="rect">
            <a:avLst/>
          </a:prstGeom>
          <a:noFill/>
          <a:ln/>
        </p:spPr>
        <p:txBody>
          <a:bodyPr wrap="square" lIns="0" tIns="0" rIns="0" bIns="0" rtlCol="0" anchor="t"/>
          <a:lstStyle/>
          <a:p>
            <a:pPr indent="0" marL="0">
              <a:buNone/>
            </a:pPr>
            <a:r>
              <a:rPr lang="en-US" sz="1400" b="1" dirty="0">
                <a:solidFill>
                  <a:srgbClr val="1B2233"/>
                </a:solidFill>
                <a:latin typeface="Calibri" pitchFamily="34" charset="0"/>
                <a:ea typeface="Calibri" pitchFamily="34" charset="-122"/>
                <a:cs typeface="Calibri" pitchFamily="34" charset="-120"/>
              </a:rPr>
              <a:t>MYCIN</a:t>
            </a:r>
            <a:endParaRPr lang="en-US" sz="1400" dirty="0"/>
          </a:p>
        </p:txBody>
      </p:sp>
      <p:sp>
        <p:nvSpPr>
          <p:cNvPr id="19" name="Text 16"/>
          <p:cNvSpPr txBox="1"/>
          <p:nvPr/>
        </p:nvSpPr>
        <p:spPr>
          <a:xfrm>
            <a:off x="4330690" y="2832080"/>
            <a:ext cx="1587490" cy="1397020"/>
          </a:xfrm>
          <a:prstGeom prst="rect">
            <a:avLst/>
          </a:prstGeom>
          <a:noFill/>
          <a:ln/>
        </p:spPr>
        <p:txBody>
          <a:bodyPr wrap="square" lIns="0" tIns="0" rIns="0" bIns="0" rtlCol="0" anchor="t"/>
          <a:lstStyle/>
          <a:p>
            <a:pPr indent="0" marL="0">
              <a:lnSpc>
                <a:spcPct val="115000"/>
              </a:lnSpc>
              <a:buNone/>
            </a:pPr>
            <a:r>
              <a:rPr lang="en-US" sz="1200" dirty="0">
                <a:solidFill>
                  <a:srgbClr val="4A5264"/>
                </a:solidFill>
                <a:latin typeface="Calibri" pitchFamily="34" charset="0"/>
                <a:ea typeface="Calibri" pitchFamily="34" charset="-122"/>
                <a:cs typeface="Calibri" pitchFamily="34" charset="-120"/>
              </a:rPr>
              <a:t>About 450 rules diagnose blood infections and explain HOW and WHY</a:t>
            </a:r>
            <a:endParaRPr lang="en-US" sz="1200" dirty="0"/>
          </a:p>
        </p:txBody>
      </p:sp>
      <p:sp>
        <p:nvSpPr>
          <p:cNvPr id="20" name="Shape 17"/>
          <p:cNvSpPr/>
          <p:nvPr/>
        </p:nvSpPr>
        <p:spPr>
          <a:xfrm>
            <a:off x="6089630" y="1828800"/>
            <a:ext cx="152430" cy="152430"/>
          </a:xfrm>
          <a:prstGeom prst="ellipse">
            <a:avLst/>
          </a:prstGeom>
          <a:solidFill>
            <a:srgbClr val="A8441A"/>
          </a:solidFill>
          <a:ln/>
        </p:spPr>
      </p:sp>
      <p:sp>
        <p:nvSpPr>
          <p:cNvPr id="21" name="Text 18"/>
          <p:cNvSpPr txBox="1"/>
          <p:nvPr/>
        </p:nvSpPr>
        <p:spPr>
          <a:xfrm>
            <a:off x="6089630" y="2095530"/>
            <a:ext cx="1651041" cy="381030"/>
          </a:xfrm>
          <a:prstGeom prst="rect">
            <a:avLst/>
          </a:prstGeom>
          <a:noFill/>
          <a:ln/>
        </p:spPr>
        <p:txBody>
          <a:bodyPr wrap="square" lIns="0" tIns="0" rIns="0" bIns="0" rtlCol="0" anchor="ctr"/>
          <a:lstStyle/>
          <a:p>
            <a:pPr indent="0" marL="0">
              <a:buNone/>
            </a:pPr>
            <a:r>
              <a:rPr lang="en-US" sz="2200" b="1" dirty="0">
                <a:solidFill>
                  <a:srgbClr val="A8441A"/>
                </a:solidFill>
                <a:latin typeface="Consolas" pitchFamily="34" charset="0"/>
                <a:ea typeface="Consolas" pitchFamily="34" charset="-122"/>
                <a:cs typeface="Consolas" pitchFamily="34" charset="-120"/>
              </a:rPr>
              <a:t>1980</a:t>
            </a:r>
            <a:endParaRPr lang="en-US" sz="2200" dirty="0"/>
          </a:p>
        </p:txBody>
      </p:sp>
      <p:sp>
        <p:nvSpPr>
          <p:cNvPr id="22" name="Text 19"/>
          <p:cNvSpPr txBox="1"/>
          <p:nvPr/>
        </p:nvSpPr>
        <p:spPr>
          <a:xfrm>
            <a:off x="6089630" y="2514600"/>
            <a:ext cx="1651041" cy="279441"/>
          </a:xfrm>
          <a:prstGeom prst="rect">
            <a:avLst/>
          </a:prstGeom>
          <a:noFill/>
          <a:ln/>
        </p:spPr>
        <p:txBody>
          <a:bodyPr wrap="square" lIns="0" tIns="0" rIns="0" bIns="0" rtlCol="0" anchor="t"/>
          <a:lstStyle/>
          <a:p>
            <a:pPr indent="0" marL="0">
              <a:buNone/>
            </a:pPr>
            <a:r>
              <a:rPr lang="en-US" sz="1400" b="1" dirty="0">
                <a:solidFill>
                  <a:srgbClr val="1B2233"/>
                </a:solidFill>
                <a:latin typeface="Calibri" pitchFamily="34" charset="0"/>
                <a:ea typeface="Calibri" pitchFamily="34" charset="-122"/>
                <a:cs typeface="Calibri" pitchFamily="34" charset="-120"/>
              </a:rPr>
              <a:t>R1 / XCON</a:t>
            </a:r>
            <a:endParaRPr lang="en-US" sz="1400" dirty="0"/>
          </a:p>
        </p:txBody>
      </p:sp>
      <p:sp>
        <p:nvSpPr>
          <p:cNvPr id="23" name="Text 20"/>
          <p:cNvSpPr txBox="1"/>
          <p:nvPr/>
        </p:nvSpPr>
        <p:spPr>
          <a:xfrm>
            <a:off x="6089630" y="2832080"/>
            <a:ext cx="1587490" cy="1397020"/>
          </a:xfrm>
          <a:prstGeom prst="rect">
            <a:avLst/>
          </a:prstGeom>
          <a:noFill/>
          <a:ln/>
        </p:spPr>
        <p:txBody>
          <a:bodyPr wrap="square" lIns="0" tIns="0" rIns="0" bIns="0" rtlCol="0" anchor="t"/>
          <a:lstStyle/>
          <a:p>
            <a:pPr indent="0" marL="0">
              <a:lnSpc>
                <a:spcPct val="115000"/>
              </a:lnSpc>
              <a:buNone/>
            </a:pPr>
            <a:r>
              <a:rPr lang="en-US" sz="1200" dirty="0">
                <a:solidFill>
                  <a:srgbClr val="4A5264"/>
                </a:solidFill>
                <a:latin typeface="Calibri" pitchFamily="34" charset="0"/>
                <a:ea typeface="Calibri" pitchFamily="34" charset="-122"/>
                <a:cs typeface="Calibri" pitchFamily="34" charset="-120"/>
              </a:rPr>
              <a:t>Configures VAX orders at DEC; by 1986 saving an estimated $40M a year</a:t>
            </a:r>
            <a:endParaRPr lang="en-US" sz="1200" dirty="0"/>
          </a:p>
        </p:txBody>
      </p:sp>
      <p:sp>
        <p:nvSpPr>
          <p:cNvPr id="24" name="Shape 21"/>
          <p:cNvSpPr/>
          <p:nvPr/>
        </p:nvSpPr>
        <p:spPr>
          <a:xfrm>
            <a:off x="7848570" y="1828800"/>
            <a:ext cx="152430" cy="152430"/>
          </a:xfrm>
          <a:prstGeom prst="ellipse">
            <a:avLst/>
          </a:prstGeom>
          <a:solidFill>
            <a:srgbClr val="A8441A"/>
          </a:solidFill>
          <a:ln/>
        </p:spPr>
      </p:sp>
      <p:sp>
        <p:nvSpPr>
          <p:cNvPr id="25" name="Text 22"/>
          <p:cNvSpPr txBox="1"/>
          <p:nvPr/>
        </p:nvSpPr>
        <p:spPr>
          <a:xfrm>
            <a:off x="7848570" y="2095530"/>
            <a:ext cx="1651041" cy="381030"/>
          </a:xfrm>
          <a:prstGeom prst="rect">
            <a:avLst/>
          </a:prstGeom>
          <a:noFill/>
          <a:ln/>
        </p:spPr>
        <p:txBody>
          <a:bodyPr wrap="square" lIns="0" tIns="0" rIns="0" bIns="0" rtlCol="0" anchor="ctr"/>
          <a:lstStyle/>
          <a:p>
            <a:pPr indent="0" marL="0">
              <a:buNone/>
            </a:pPr>
            <a:r>
              <a:rPr lang="en-US" sz="2200" b="1" dirty="0">
                <a:solidFill>
                  <a:srgbClr val="A8441A"/>
                </a:solidFill>
                <a:latin typeface="Consolas" pitchFamily="34" charset="0"/>
                <a:ea typeface="Consolas" pitchFamily="34" charset="-122"/>
                <a:cs typeface="Consolas" pitchFamily="34" charset="-120"/>
              </a:rPr>
              <a:t>1982</a:t>
            </a:r>
            <a:endParaRPr lang="en-US" sz="2200" dirty="0"/>
          </a:p>
        </p:txBody>
      </p:sp>
      <p:sp>
        <p:nvSpPr>
          <p:cNvPr id="26" name="Text 23"/>
          <p:cNvSpPr txBox="1"/>
          <p:nvPr/>
        </p:nvSpPr>
        <p:spPr>
          <a:xfrm>
            <a:off x="7848570" y="2514600"/>
            <a:ext cx="1651041" cy="279441"/>
          </a:xfrm>
          <a:prstGeom prst="rect">
            <a:avLst/>
          </a:prstGeom>
          <a:noFill/>
          <a:ln/>
        </p:spPr>
        <p:txBody>
          <a:bodyPr wrap="square" lIns="0" tIns="0" rIns="0" bIns="0" rtlCol="0" anchor="t"/>
          <a:lstStyle/>
          <a:p>
            <a:pPr indent="0" marL="0">
              <a:buNone/>
            </a:pPr>
            <a:r>
              <a:rPr lang="en-US" sz="1400" b="1" dirty="0">
                <a:solidFill>
                  <a:srgbClr val="1B2233"/>
                </a:solidFill>
                <a:latin typeface="Calibri" pitchFamily="34" charset="0"/>
                <a:ea typeface="Calibri" pitchFamily="34" charset="-122"/>
                <a:cs typeface="Calibri" pitchFamily="34" charset="-120"/>
              </a:rPr>
              <a:t>Fifth Generation</a:t>
            </a:r>
            <a:endParaRPr lang="en-US" sz="1400" dirty="0"/>
          </a:p>
        </p:txBody>
      </p:sp>
      <p:sp>
        <p:nvSpPr>
          <p:cNvPr id="27" name="Text 24"/>
          <p:cNvSpPr txBox="1"/>
          <p:nvPr/>
        </p:nvSpPr>
        <p:spPr>
          <a:xfrm>
            <a:off x="7848570" y="2832080"/>
            <a:ext cx="1587490" cy="1397020"/>
          </a:xfrm>
          <a:prstGeom prst="rect">
            <a:avLst/>
          </a:prstGeom>
          <a:noFill/>
          <a:ln/>
        </p:spPr>
        <p:txBody>
          <a:bodyPr wrap="square" lIns="0" tIns="0" rIns="0" bIns="0" rtlCol="0" anchor="t"/>
          <a:lstStyle/>
          <a:p>
            <a:pPr indent="0" marL="0">
              <a:lnSpc>
                <a:spcPct val="115000"/>
              </a:lnSpc>
              <a:buNone/>
            </a:pPr>
            <a:r>
              <a:rPr lang="en-US" sz="1200" dirty="0">
                <a:solidFill>
                  <a:srgbClr val="4A5264"/>
                </a:solidFill>
                <a:latin typeface="Calibri" pitchFamily="34" charset="0"/>
                <a:ea typeface="Calibri" pitchFamily="34" charset="-122"/>
                <a:cs typeface="Calibri" pitchFamily="34" charset="-120"/>
              </a:rPr>
              <a:t>Japan's national project (1982–92) builds on logic programming</a:t>
            </a:r>
            <a:endParaRPr lang="en-US" sz="1200" dirty="0"/>
          </a:p>
        </p:txBody>
      </p:sp>
      <p:sp>
        <p:nvSpPr>
          <p:cNvPr id="28" name="Shape 25"/>
          <p:cNvSpPr/>
          <p:nvPr/>
        </p:nvSpPr>
        <p:spPr>
          <a:xfrm>
            <a:off x="9607509" y="1828800"/>
            <a:ext cx="152430" cy="152430"/>
          </a:xfrm>
          <a:prstGeom prst="ellipse">
            <a:avLst/>
          </a:prstGeom>
          <a:solidFill>
            <a:srgbClr val="A8441A"/>
          </a:solidFill>
          <a:ln/>
        </p:spPr>
      </p:sp>
      <p:sp>
        <p:nvSpPr>
          <p:cNvPr id="29" name="Text 26"/>
          <p:cNvSpPr txBox="1"/>
          <p:nvPr/>
        </p:nvSpPr>
        <p:spPr>
          <a:xfrm>
            <a:off x="9607509" y="2095530"/>
            <a:ext cx="1651041" cy="381030"/>
          </a:xfrm>
          <a:prstGeom prst="rect">
            <a:avLst/>
          </a:prstGeom>
          <a:noFill/>
          <a:ln/>
        </p:spPr>
        <p:txBody>
          <a:bodyPr wrap="square" lIns="0" tIns="0" rIns="0" bIns="0" rtlCol="0" anchor="ctr"/>
          <a:lstStyle/>
          <a:p>
            <a:pPr indent="0" marL="0">
              <a:buNone/>
            </a:pPr>
            <a:r>
              <a:rPr lang="en-US" sz="2200" b="1" dirty="0">
                <a:solidFill>
                  <a:srgbClr val="A8441A"/>
                </a:solidFill>
                <a:latin typeface="Consolas" pitchFamily="34" charset="0"/>
                <a:ea typeface="Consolas" pitchFamily="34" charset="-122"/>
                <a:cs typeface="Consolas" pitchFamily="34" charset="-120"/>
              </a:rPr>
              <a:t>2011</a:t>
            </a:r>
            <a:endParaRPr lang="en-US" sz="2200" dirty="0"/>
          </a:p>
        </p:txBody>
      </p:sp>
      <p:sp>
        <p:nvSpPr>
          <p:cNvPr id="30" name="Text 27"/>
          <p:cNvSpPr txBox="1"/>
          <p:nvPr/>
        </p:nvSpPr>
        <p:spPr>
          <a:xfrm>
            <a:off x="9607509" y="2514600"/>
            <a:ext cx="1651041" cy="279441"/>
          </a:xfrm>
          <a:prstGeom prst="rect">
            <a:avLst/>
          </a:prstGeom>
          <a:noFill/>
          <a:ln/>
        </p:spPr>
        <p:txBody>
          <a:bodyPr wrap="square" lIns="0" tIns="0" rIns="0" bIns="0" rtlCol="0" anchor="t"/>
          <a:lstStyle/>
          <a:p>
            <a:pPr indent="0" marL="0">
              <a:buNone/>
            </a:pPr>
            <a:r>
              <a:rPr lang="en-US" sz="1400" b="1" dirty="0">
                <a:solidFill>
                  <a:srgbClr val="1B2233"/>
                </a:solidFill>
                <a:latin typeface="Calibri" pitchFamily="34" charset="0"/>
                <a:ea typeface="Calibri" pitchFamily="34" charset="-122"/>
                <a:cs typeface="Calibri" pitchFamily="34" charset="-120"/>
              </a:rPr>
              <a:t>IBM Watson</a:t>
            </a:r>
            <a:endParaRPr lang="en-US" sz="1400" dirty="0"/>
          </a:p>
        </p:txBody>
      </p:sp>
      <p:sp>
        <p:nvSpPr>
          <p:cNvPr id="31" name="Text 28"/>
          <p:cNvSpPr txBox="1"/>
          <p:nvPr/>
        </p:nvSpPr>
        <p:spPr>
          <a:xfrm>
            <a:off x="9607509" y="2832080"/>
            <a:ext cx="1587490" cy="1397020"/>
          </a:xfrm>
          <a:prstGeom prst="rect">
            <a:avLst/>
          </a:prstGeom>
          <a:noFill/>
          <a:ln/>
        </p:spPr>
        <p:txBody>
          <a:bodyPr wrap="square" lIns="0" tIns="0" rIns="0" bIns="0" rtlCol="0" anchor="t"/>
          <a:lstStyle/>
          <a:p>
            <a:pPr indent="0" marL="0">
              <a:lnSpc>
                <a:spcPct val="115000"/>
              </a:lnSpc>
              <a:buNone/>
            </a:pPr>
            <a:r>
              <a:rPr lang="en-US" sz="1200" dirty="0">
                <a:solidFill>
                  <a:srgbClr val="4A5264"/>
                </a:solidFill>
                <a:latin typeface="Calibri" pitchFamily="34" charset="0"/>
                <a:ea typeface="Calibri" pitchFamily="34" charset="-122"/>
                <a:cs typeface="Calibri" pitchFamily="34" charset="-120"/>
              </a:rPr>
              <a:t>Wins Jeopardy!; Prolog rules help it analyse the questions</a:t>
            </a:r>
            <a:endParaRPr lang="en-US" sz="1200" dirty="0"/>
          </a:p>
        </p:txBody>
      </p:sp>
      <p:sp>
        <p:nvSpPr>
          <p:cNvPr id="32" name="Shape 29"/>
          <p:cNvSpPr/>
          <p:nvPr/>
        </p:nvSpPr>
        <p:spPr>
          <a:xfrm>
            <a:off x="812810" y="4572000"/>
            <a:ext cx="10566441" cy="698510"/>
          </a:xfrm>
          <a:prstGeom prst="roundRect">
            <a:avLst>
              <a:gd name="adj" fmla="val 10473"/>
            </a:avLst>
          </a:prstGeom>
          <a:solidFill>
            <a:srgbClr val="F6E9E1"/>
          </a:solidFill>
          <a:ln/>
        </p:spPr>
      </p:sp>
      <p:sp>
        <p:nvSpPr>
          <p:cNvPr id="33" name="Text 30"/>
          <p:cNvSpPr txBox="1"/>
          <p:nvPr/>
        </p:nvSpPr>
        <p:spPr>
          <a:xfrm>
            <a:off x="990570" y="4572000"/>
            <a:ext cx="10210830" cy="698510"/>
          </a:xfrm>
          <a:prstGeom prst="rect">
            <a:avLst/>
          </a:prstGeom>
          <a:noFill/>
          <a:ln/>
        </p:spPr>
        <p:txBody>
          <a:bodyPr wrap="square" lIns="0" tIns="0" rIns="0" bIns="0" rtlCol="0" anchor="ctr"/>
          <a:lstStyle/>
          <a:p>
            <a:pPr indent="0" marL="0">
              <a:lnSpc>
                <a:spcPct val="110000"/>
              </a:lnSpc>
              <a:buNone/>
            </a:pPr>
            <a:r>
              <a:rPr lang="en-US" sz="1500" b="1" dirty="0">
                <a:solidFill>
                  <a:srgbClr val="1B2233"/>
                </a:solidFill>
                <a:latin typeface="Calibri" pitchFamily="34" charset="0"/>
                <a:ea typeface="Calibri" pitchFamily="34" charset="-122"/>
                <a:cs typeface="Calibri" pitchFamily="34" charset="-120"/>
              </a:rPr>
              <a:t>Lesson:</a:t>
            </a:r>
            <a:pPr indent="0" marL="0">
              <a:lnSpc>
                <a:spcPct val="110000"/>
              </a:lnSpc>
              <a:buNone/>
            </a:pPr>
            <a:r>
              <a:rPr lang="en-US" sz="1500" dirty="0">
                <a:solidFill>
                  <a:srgbClr val="1B2233"/>
                </a:solidFill>
                <a:latin typeface="Calibri" pitchFamily="34" charset="0"/>
                <a:ea typeface="Calibri" pitchFamily="34" charset="-122"/>
                <a:cs typeface="Calibri" pitchFamily="34" charset="-120"/>
              </a:rPr>
              <a:t> rule-based AI and Prolog grew up together; both treat knowledge as logic that a machine can reason with.</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02 · CORE CONCEPTS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Anatomy of a rule-based expert system</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 architecture adapted from Durkin (1994); Prolog mapping after Bratko (2012), Ch. 15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05</a:t>
            </a:r>
            <a:endParaRPr lang="en-US" sz="1200" dirty="0"/>
          </a:p>
        </p:txBody>
      </p:sp>
      <p:sp>
        <p:nvSpPr>
          <p:cNvPr id="7" name="Shape 4"/>
          <p:cNvSpPr/>
          <p:nvPr/>
        </p:nvSpPr>
        <p:spPr>
          <a:xfrm>
            <a:off x="812810" y="3200400"/>
            <a:ext cx="2184410" cy="1015990"/>
          </a:xfrm>
          <a:prstGeom prst="roundRect">
            <a:avLst>
              <a:gd name="adj" fmla="val 9000"/>
            </a:avLst>
          </a:prstGeom>
          <a:solidFill>
            <a:srgbClr val="FFFFFF"/>
          </a:solidFill>
          <a:ln w="19050">
            <a:solidFill>
              <a:srgbClr val="1B2233"/>
            </a:solidFill>
            <a:prstDash val="solid"/>
          </a:ln>
        </p:spPr>
      </p:sp>
      <p:sp>
        <p:nvSpPr>
          <p:cNvPr id="8" name="Text 5"/>
          <p:cNvSpPr txBox="1"/>
          <p:nvPr/>
        </p:nvSpPr>
        <p:spPr>
          <a:xfrm>
            <a:off x="965241" y="3276570"/>
            <a:ext cx="1879641" cy="863559"/>
          </a:xfrm>
          <a:prstGeom prst="rect">
            <a:avLst/>
          </a:prstGeom>
          <a:noFill/>
          <a:ln/>
        </p:spPr>
        <p:txBody>
          <a:bodyPr wrap="square" lIns="0" tIns="0" rIns="0" bIns="0" rtlCol="0" anchor="ctr"/>
          <a:lstStyle/>
          <a:p>
            <a:pPr indent="0" marL="0">
              <a:lnSpc>
                <a:spcPct val="115000"/>
              </a:lnSpc>
              <a:buNone/>
            </a:pPr>
            <a:r>
              <a:rPr lang="en-US" sz="1400" b="1" dirty="0">
                <a:solidFill>
                  <a:srgbClr val="1B2233"/>
                </a:solidFill>
                <a:latin typeface="Calibri" pitchFamily="34" charset="0"/>
                <a:ea typeface="Calibri" pitchFamily="34" charset="-122"/>
                <a:cs typeface="Calibri" pitchFamily="34" charset="-120"/>
              </a:rPr>
              <a:t>User</a:t>
            </a:r>
            <a:endParaRPr lang="en-US" sz="1300" dirty="0"/>
          </a:p>
          <a:p>
            <a:pPr indent="0" marL="0">
              <a:lnSpc>
                <a:spcPct val="115000"/>
              </a:lnSpc>
              <a:buNone/>
            </a:pPr>
            <a:r>
              <a:rPr lang="en-US" sz="1200" dirty="0">
                <a:solidFill>
                  <a:srgbClr val="4A5264"/>
                </a:solidFill>
                <a:latin typeface="Calibri" pitchFamily="34" charset="0"/>
                <a:ea typeface="Calibri" pitchFamily="34" charset="-122"/>
                <a:cs typeface="Calibri" pitchFamily="34" charset="-120"/>
              </a:rPr>
              <a:t>answers yes / no / why</a:t>
            </a:r>
            <a:endParaRPr lang="en-US" sz="1300" dirty="0"/>
          </a:p>
        </p:txBody>
      </p:sp>
      <p:sp>
        <p:nvSpPr>
          <p:cNvPr id="9" name="Shape 6"/>
          <p:cNvSpPr/>
          <p:nvPr/>
        </p:nvSpPr>
        <p:spPr>
          <a:xfrm>
            <a:off x="3606759" y="2692359"/>
            <a:ext cx="2184410" cy="2031980"/>
          </a:xfrm>
          <a:prstGeom prst="roundRect">
            <a:avLst>
              <a:gd name="adj" fmla="val 4500"/>
            </a:avLst>
          </a:prstGeom>
          <a:solidFill>
            <a:srgbClr val="FFFFFF"/>
          </a:solidFill>
          <a:ln w="19050">
            <a:solidFill>
              <a:srgbClr val="1B2233"/>
            </a:solidFill>
            <a:prstDash val="solid"/>
          </a:ln>
        </p:spPr>
      </p:sp>
      <p:sp>
        <p:nvSpPr>
          <p:cNvPr id="10" name="Text 7"/>
          <p:cNvSpPr txBox="1"/>
          <p:nvPr/>
        </p:nvSpPr>
        <p:spPr>
          <a:xfrm>
            <a:off x="3759190" y="2768620"/>
            <a:ext cx="1879641" cy="1879641"/>
          </a:xfrm>
          <a:prstGeom prst="rect">
            <a:avLst/>
          </a:prstGeom>
          <a:noFill/>
          <a:ln/>
        </p:spPr>
        <p:txBody>
          <a:bodyPr wrap="square" lIns="0" tIns="0" rIns="0" bIns="0" rtlCol="0" anchor="ctr"/>
          <a:lstStyle/>
          <a:p>
            <a:pPr indent="0" marL="0">
              <a:lnSpc>
                <a:spcPct val="115000"/>
              </a:lnSpc>
              <a:buNone/>
            </a:pPr>
            <a:r>
              <a:rPr lang="en-US" sz="1400" b="1" dirty="0">
                <a:solidFill>
                  <a:srgbClr val="1B2233"/>
                </a:solidFill>
                <a:latin typeface="Calibri" pitchFamily="34" charset="0"/>
                <a:ea typeface="Calibri" pitchFamily="34" charset="-122"/>
                <a:cs typeface="Calibri" pitchFamily="34" charset="-120"/>
              </a:rPr>
              <a:t>User interface</a:t>
            </a:r>
            <a:endParaRPr lang="en-US" sz="1300" dirty="0"/>
          </a:p>
          <a:p>
            <a:pPr indent="0" marL="0">
              <a:lnSpc>
                <a:spcPct val="115000"/>
              </a:lnSpc>
              <a:buNone/>
            </a:pPr>
            <a:r>
              <a:rPr lang="en-US" sz="1200" dirty="0">
                <a:solidFill>
                  <a:srgbClr val="4A5264"/>
                </a:solidFill>
                <a:latin typeface="Calibri" pitchFamily="34" charset="0"/>
                <a:ea typeface="Calibri" pitchFamily="34" charset="-122"/>
                <a:cs typeface="Calibri" pitchFamily="34" charset="-120"/>
              </a:rPr>
              <a:t>asks for missing facts, shows results</a:t>
            </a:r>
            <a:endParaRPr lang="en-US" sz="1300" dirty="0"/>
          </a:p>
          <a:p>
            <a:pPr indent="0" marL="0">
              <a:lnSpc>
                <a:spcPct val="115000"/>
              </a:lnSpc>
              <a:buNone/>
            </a:pPr>
            <a:r>
              <a:rPr lang="en-US" sz="1200" dirty="0">
                <a:solidFill>
                  <a:srgbClr val="A8441A"/>
                </a:solidFill>
                <a:latin typeface="Consolas" pitchFamily="34" charset="0"/>
                <a:ea typeface="Consolas" pitchFamily="34" charset="-122"/>
                <a:cs typeface="Consolas" pitchFamily="34" charset="-120"/>
              </a:rPr>
              <a:t>ask/2 · read/1</a:t>
            </a:r>
            <a:endParaRPr lang="en-US" sz="1300" dirty="0"/>
          </a:p>
        </p:txBody>
      </p:sp>
      <p:sp>
        <p:nvSpPr>
          <p:cNvPr id="11" name="Shape 8"/>
          <p:cNvSpPr/>
          <p:nvPr/>
        </p:nvSpPr>
        <p:spPr>
          <a:xfrm>
            <a:off x="6400800" y="2692359"/>
            <a:ext cx="2184410" cy="2031980"/>
          </a:xfrm>
          <a:prstGeom prst="roundRect">
            <a:avLst>
              <a:gd name="adj" fmla="val 4500"/>
            </a:avLst>
          </a:prstGeom>
          <a:solidFill>
            <a:srgbClr val="1E2433"/>
          </a:solidFill>
          <a:ln w="19050">
            <a:solidFill>
              <a:srgbClr val="1E2433"/>
            </a:solidFill>
            <a:prstDash val="solid"/>
          </a:ln>
        </p:spPr>
      </p:sp>
      <p:sp>
        <p:nvSpPr>
          <p:cNvPr id="12" name="Text 9"/>
          <p:cNvSpPr txBox="1"/>
          <p:nvPr/>
        </p:nvSpPr>
        <p:spPr>
          <a:xfrm>
            <a:off x="6553230" y="2768620"/>
            <a:ext cx="1879641" cy="1879641"/>
          </a:xfrm>
          <a:prstGeom prst="rect">
            <a:avLst/>
          </a:prstGeom>
          <a:noFill/>
          <a:ln/>
        </p:spPr>
        <p:txBody>
          <a:bodyPr wrap="square" lIns="0" tIns="0" rIns="0" bIns="0" rtlCol="0" anchor="ctr"/>
          <a:lstStyle/>
          <a:p>
            <a:pPr indent="0" marL="0">
              <a:lnSpc>
                <a:spcPct val="115000"/>
              </a:lnSpc>
              <a:buNone/>
            </a:pPr>
            <a:r>
              <a:rPr lang="en-US" sz="1400" b="1" dirty="0">
                <a:solidFill>
                  <a:srgbClr val="F3EFE4"/>
                </a:solidFill>
                <a:latin typeface="Calibri" pitchFamily="34" charset="0"/>
                <a:ea typeface="Calibri" pitchFamily="34" charset="-122"/>
                <a:cs typeface="Calibri" pitchFamily="34" charset="-120"/>
              </a:rPr>
              <a:t>Inference engine</a:t>
            </a:r>
            <a:endParaRPr lang="en-US" sz="1300" dirty="0"/>
          </a:p>
          <a:p>
            <a:pPr indent="0" marL="0">
              <a:lnSpc>
                <a:spcPct val="115000"/>
              </a:lnSpc>
              <a:buNone/>
            </a:pPr>
            <a:r>
              <a:rPr lang="en-US" sz="1200" dirty="0">
                <a:solidFill>
                  <a:srgbClr val="C9D1E0"/>
                </a:solidFill>
                <a:latin typeface="Calibri" pitchFamily="34" charset="0"/>
                <a:ea typeface="Calibri" pitchFamily="34" charset="-122"/>
                <a:cs typeface="Calibri" pitchFamily="34" charset="-120"/>
              </a:rPr>
              <a:t>backward chaining (goal-driven)</a:t>
            </a:r>
            <a:endParaRPr lang="en-US" sz="1300" dirty="0"/>
          </a:p>
          <a:p>
            <a:pPr indent="0" marL="0">
              <a:lnSpc>
                <a:spcPct val="115000"/>
              </a:lnSpc>
              <a:buNone/>
            </a:pPr>
            <a:r>
              <a:rPr lang="en-US" sz="1200" dirty="0">
                <a:solidFill>
                  <a:srgbClr val="F2A65A"/>
                </a:solidFill>
                <a:latin typeface="Consolas" pitchFamily="34" charset="0"/>
                <a:ea typeface="Consolas" pitchFamily="34" charset="-122"/>
                <a:cs typeface="Consolas" pitchFamily="34" charset="-120"/>
              </a:rPr>
              <a:t>prove/3</a:t>
            </a:r>
            <a:endParaRPr lang="en-US" sz="1300" dirty="0"/>
          </a:p>
        </p:txBody>
      </p:sp>
      <p:sp>
        <p:nvSpPr>
          <p:cNvPr id="13" name="Shape 10"/>
          <p:cNvSpPr/>
          <p:nvPr/>
        </p:nvSpPr>
        <p:spPr>
          <a:xfrm>
            <a:off x="9194841" y="1676370"/>
            <a:ext cx="2184410" cy="761970"/>
          </a:xfrm>
          <a:prstGeom prst="roundRect">
            <a:avLst>
              <a:gd name="adj" fmla="val 12000"/>
            </a:avLst>
          </a:prstGeom>
          <a:solidFill>
            <a:srgbClr val="EFEEE9"/>
          </a:solidFill>
          <a:ln w="19050">
            <a:solidFill>
              <a:srgbClr val="4A5264"/>
            </a:solidFill>
            <a:prstDash val="dash"/>
          </a:ln>
        </p:spPr>
      </p:sp>
      <p:sp>
        <p:nvSpPr>
          <p:cNvPr id="14" name="Text 11"/>
          <p:cNvSpPr txBox="1"/>
          <p:nvPr/>
        </p:nvSpPr>
        <p:spPr>
          <a:xfrm>
            <a:off x="9347180" y="1752630"/>
            <a:ext cx="1879641" cy="609630"/>
          </a:xfrm>
          <a:prstGeom prst="rect">
            <a:avLst/>
          </a:prstGeom>
          <a:noFill/>
          <a:ln/>
        </p:spPr>
        <p:txBody>
          <a:bodyPr wrap="square" lIns="0" tIns="0" rIns="0" bIns="0" rtlCol="0" anchor="ctr"/>
          <a:lstStyle/>
          <a:p>
            <a:pPr indent="0" marL="0">
              <a:lnSpc>
                <a:spcPct val="115000"/>
              </a:lnSpc>
              <a:buNone/>
            </a:pPr>
            <a:r>
              <a:rPr lang="en-US" sz="1400" b="1" dirty="0">
                <a:solidFill>
                  <a:srgbClr val="1B2233"/>
                </a:solidFill>
                <a:latin typeface="Calibri" pitchFamily="34" charset="0"/>
                <a:ea typeface="Calibri" pitchFamily="34" charset="-122"/>
                <a:cs typeface="Calibri" pitchFamily="34" charset="-120"/>
              </a:rPr>
              <a:t>Domain expert</a:t>
            </a:r>
            <a:endParaRPr lang="en-US" sz="1300" dirty="0"/>
          </a:p>
          <a:p>
            <a:pPr indent="0" marL="0">
              <a:lnSpc>
                <a:spcPct val="115000"/>
              </a:lnSpc>
              <a:buNone/>
            </a:pPr>
            <a:r>
              <a:rPr lang="en-US" sz="1200" dirty="0">
                <a:solidFill>
                  <a:srgbClr val="4A5264"/>
                </a:solidFill>
                <a:latin typeface="Calibri" pitchFamily="34" charset="0"/>
                <a:ea typeface="Calibri" pitchFamily="34" charset="-122"/>
                <a:cs typeface="Calibri" pitchFamily="34" charset="-120"/>
              </a:rPr>
              <a:t>supplies the rules</a:t>
            </a:r>
            <a:endParaRPr lang="en-US" sz="1300" dirty="0"/>
          </a:p>
        </p:txBody>
      </p:sp>
      <p:sp>
        <p:nvSpPr>
          <p:cNvPr id="15" name="Shape 12"/>
          <p:cNvSpPr/>
          <p:nvPr/>
        </p:nvSpPr>
        <p:spPr>
          <a:xfrm>
            <a:off x="9194841" y="2692359"/>
            <a:ext cx="2184410" cy="888980"/>
          </a:xfrm>
          <a:prstGeom prst="roundRect">
            <a:avLst>
              <a:gd name="adj" fmla="val 10286"/>
            </a:avLst>
          </a:prstGeom>
          <a:solidFill>
            <a:srgbClr val="FFFFFF"/>
          </a:solidFill>
          <a:ln w="28575">
            <a:solidFill>
              <a:srgbClr val="A8441A"/>
            </a:solidFill>
            <a:prstDash val="solid"/>
          </a:ln>
        </p:spPr>
      </p:sp>
      <p:sp>
        <p:nvSpPr>
          <p:cNvPr id="16" name="Text 13"/>
          <p:cNvSpPr txBox="1"/>
          <p:nvPr/>
        </p:nvSpPr>
        <p:spPr>
          <a:xfrm>
            <a:off x="9347180" y="2768620"/>
            <a:ext cx="1879641" cy="736641"/>
          </a:xfrm>
          <a:prstGeom prst="rect">
            <a:avLst/>
          </a:prstGeom>
          <a:noFill/>
          <a:ln/>
        </p:spPr>
        <p:txBody>
          <a:bodyPr wrap="square" lIns="0" tIns="0" rIns="0" bIns="0" rtlCol="0" anchor="ctr"/>
          <a:lstStyle/>
          <a:p>
            <a:pPr indent="0" marL="0">
              <a:lnSpc>
                <a:spcPct val="115000"/>
              </a:lnSpc>
              <a:buNone/>
            </a:pPr>
            <a:r>
              <a:rPr lang="en-US" sz="1400" b="1" dirty="0">
                <a:solidFill>
                  <a:srgbClr val="1B2233"/>
                </a:solidFill>
                <a:latin typeface="Calibri" pitchFamily="34" charset="0"/>
                <a:ea typeface="Calibri" pitchFamily="34" charset="-122"/>
                <a:cs typeface="Calibri" pitchFamily="34" charset="-120"/>
              </a:rPr>
              <a:t>Knowledge base</a:t>
            </a:r>
            <a:endParaRPr lang="en-US" sz="1300" dirty="0"/>
          </a:p>
          <a:p>
            <a:pPr indent="0" marL="0">
              <a:lnSpc>
                <a:spcPct val="115000"/>
              </a:lnSpc>
              <a:buNone/>
            </a:pPr>
            <a:r>
              <a:rPr lang="en-US" sz="1200" dirty="0">
                <a:solidFill>
                  <a:srgbClr val="A8441A"/>
                </a:solidFill>
                <a:latin typeface="Consolas" pitchFamily="34" charset="0"/>
                <a:ea typeface="Consolas" pitchFamily="34" charset="-122"/>
                <a:cs typeface="Consolas" pitchFamily="34" charset="-120"/>
              </a:rPr>
              <a:t>Id :: if … then …</a:t>
            </a:r>
            <a:endParaRPr lang="en-US" sz="1300" dirty="0"/>
          </a:p>
        </p:txBody>
      </p:sp>
      <p:sp>
        <p:nvSpPr>
          <p:cNvPr id="17" name="Shape 14"/>
          <p:cNvSpPr/>
          <p:nvPr/>
        </p:nvSpPr>
        <p:spPr>
          <a:xfrm>
            <a:off x="9194841" y="3835359"/>
            <a:ext cx="2184410" cy="888980"/>
          </a:xfrm>
          <a:prstGeom prst="roundRect">
            <a:avLst>
              <a:gd name="adj" fmla="val 10286"/>
            </a:avLst>
          </a:prstGeom>
          <a:solidFill>
            <a:srgbClr val="FFFFFF"/>
          </a:solidFill>
          <a:ln w="28575">
            <a:solidFill>
              <a:srgbClr val="2F5DA8"/>
            </a:solidFill>
            <a:prstDash val="solid"/>
          </a:ln>
        </p:spPr>
      </p:sp>
      <p:sp>
        <p:nvSpPr>
          <p:cNvPr id="18" name="Text 15"/>
          <p:cNvSpPr txBox="1"/>
          <p:nvPr/>
        </p:nvSpPr>
        <p:spPr>
          <a:xfrm>
            <a:off x="9347180" y="3911620"/>
            <a:ext cx="1879641" cy="736641"/>
          </a:xfrm>
          <a:prstGeom prst="rect">
            <a:avLst/>
          </a:prstGeom>
          <a:noFill/>
          <a:ln/>
        </p:spPr>
        <p:txBody>
          <a:bodyPr wrap="square" lIns="0" tIns="0" rIns="0" bIns="0" rtlCol="0" anchor="ctr"/>
          <a:lstStyle/>
          <a:p>
            <a:pPr indent="0" marL="0">
              <a:lnSpc>
                <a:spcPct val="115000"/>
              </a:lnSpc>
              <a:buNone/>
            </a:pPr>
            <a:r>
              <a:rPr lang="en-US" sz="1400" b="1" dirty="0">
                <a:solidFill>
                  <a:srgbClr val="1B2233"/>
                </a:solidFill>
                <a:latin typeface="Calibri" pitchFamily="34" charset="0"/>
                <a:ea typeface="Calibri" pitchFamily="34" charset="-122"/>
                <a:cs typeface="Calibri" pitchFamily="34" charset="-120"/>
              </a:rPr>
              <a:t>Working memory</a:t>
            </a:r>
            <a:endParaRPr lang="en-US" sz="1300" dirty="0"/>
          </a:p>
          <a:p>
            <a:pPr indent="0" marL="0">
              <a:lnSpc>
                <a:spcPct val="115000"/>
              </a:lnSpc>
              <a:buNone/>
            </a:pPr>
            <a:r>
              <a:rPr lang="en-US" sz="1200" dirty="0">
                <a:solidFill>
                  <a:srgbClr val="2F5DA8"/>
                </a:solidFill>
                <a:latin typeface="Consolas" pitchFamily="34" charset="0"/>
                <a:ea typeface="Consolas" pitchFamily="34" charset="-122"/>
                <a:cs typeface="Consolas" pitchFamily="34" charset="-120"/>
              </a:rPr>
              <a:t>known/2 facts</a:t>
            </a:r>
            <a:endParaRPr lang="en-US" sz="1300" dirty="0"/>
          </a:p>
        </p:txBody>
      </p:sp>
      <p:sp>
        <p:nvSpPr>
          <p:cNvPr id="19" name="Shape 16"/>
          <p:cNvSpPr/>
          <p:nvPr/>
        </p:nvSpPr>
        <p:spPr>
          <a:xfrm>
            <a:off x="6400800" y="4978359"/>
            <a:ext cx="2184410" cy="761970"/>
          </a:xfrm>
          <a:prstGeom prst="roundRect">
            <a:avLst>
              <a:gd name="adj" fmla="val 12000"/>
            </a:avLst>
          </a:prstGeom>
          <a:solidFill>
            <a:srgbClr val="FFFFFF"/>
          </a:solidFill>
          <a:ln w="19050">
            <a:solidFill>
              <a:srgbClr val="1B2233"/>
            </a:solidFill>
            <a:prstDash val="solid"/>
          </a:ln>
        </p:spPr>
      </p:sp>
      <p:sp>
        <p:nvSpPr>
          <p:cNvPr id="20" name="Text 17"/>
          <p:cNvSpPr txBox="1"/>
          <p:nvPr/>
        </p:nvSpPr>
        <p:spPr>
          <a:xfrm>
            <a:off x="6553230" y="5054620"/>
            <a:ext cx="1879641" cy="609630"/>
          </a:xfrm>
          <a:prstGeom prst="rect">
            <a:avLst/>
          </a:prstGeom>
          <a:noFill/>
          <a:ln/>
        </p:spPr>
        <p:txBody>
          <a:bodyPr wrap="square" lIns="0" tIns="0" rIns="0" bIns="0" rtlCol="0" anchor="ctr"/>
          <a:lstStyle/>
          <a:p>
            <a:pPr indent="0" marL="0">
              <a:lnSpc>
                <a:spcPct val="115000"/>
              </a:lnSpc>
              <a:buNone/>
            </a:pPr>
            <a:r>
              <a:rPr lang="en-US" sz="1400" b="1" dirty="0">
                <a:solidFill>
                  <a:srgbClr val="1B2233"/>
                </a:solidFill>
                <a:latin typeface="Calibri" pitchFamily="34" charset="0"/>
                <a:ea typeface="Calibri" pitchFamily="34" charset="-122"/>
                <a:cs typeface="Calibri" pitchFamily="34" charset="-120"/>
              </a:rPr>
              <a:t>Explanation</a:t>
            </a:r>
            <a:endParaRPr lang="en-US" sz="1300" dirty="0"/>
          </a:p>
          <a:p>
            <a:pPr indent="0" marL="0">
              <a:lnSpc>
                <a:spcPct val="115000"/>
              </a:lnSpc>
              <a:buNone/>
            </a:pPr>
            <a:r>
              <a:rPr lang="en-US" sz="1200" dirty="0">
                <a:solidFill>
                  <a:srgbClr val="A8441A"/>
                </a:solidFill>
                <a:latin typeface="Consolas" pitchFamily="34" charset="0"/>
                <a:ea typeface="Consolas" pitchFamily="34" charset="-122"/>
                <a:cs typeface="Consolas" pitchFamily="34" charset="-120"/>
              </a:rPr>
              <a:t>why/1 · how/2</a:t>
            </a:r>
            <a:endParaRPr lang="en-US" sz="1300" dirty="0"/>
          </a:p>
        </p:txBody>
      </p:sp>
      <p:sp>
        <p:nvSpPr>
          <p:cNvPr id="21" name="Shape 18"/>
          <p:cNvSpPr/>
          <p:nvPr/>
        </p:nvSpPr>
        <p:spPr>
          <a:xfrm>
            <a:off x="2997220" y="3708441"/>
            <a:ext cx="609630" cy="0"/>
          </a:xfrm>
          <a:prstGeom prst="line">
            <a:avLst/>
          </a:prstGeom>
          <a:noFill/>
          <a:ln w="28575">
            <a:solidFill>
              <a:srgbClr val="4A5264"/>
            </a:solidFill>
            <a:prstDash val="solid"/>
            <a:headEnd type="triangle"/>
            <a:tailEnd type="triangle"/>
          </a:ln>
        </p:spPr>
      </p:sp>
      <p:sp>
        <p:nvSpPr>
          <p:cNvPr id="22" name="Shape 19"/>
          <p:cNvSpPr/>
          <p:nvPr/>
        </p:nvSpPr>
        <p:spPr>
          <a:xfrm>
            <a:off x="5791170" y="3708441"/>
            <a:ext cx="609630" cy="0"/>
          </a:xfrm>
          <a:prstGeom prst="line">
            <a:avLst/>
          </a:prstGeom>
          <a:noFill/>
          <a:ln w="28575">
            <a:solidFill>
              <a:srgbClr val="4A5264"/>
            </a:solidFill>
            <a:prstDash val="solid"/>
            <a:headEnd type="triangle"/>
            <a:tailEnd type="triangle"/>
          </a:ln>
        </p:spPr>
      </p:sp>
      <p:sp>
        <p:nvSpPr>
          <p:cNvPr id="23" name="Shape 20"/>
          <p:cNvSpPr/>
          <p:nvPr/>
        </p:nvSpPr>
        <p:spPr>
          <a:xfrm flipH="1">
            <a:off x="8585210" y="3136941"/>
            <a:ext cx="609630" cy="0"/>
          </a:xfrm>
          <a:prstGeom prst="line">
            <a:avLst/>
          </a:prstGeom>
          <a:noFill/>
          <a:ln w="28575">
            <a:solidFill>
              <a:srgbClr val="A8441A"/>
            </a:solidFill>
            <a:prstDash val="solid"/>
            <a:tailEnd type="triangle"/>
          </a:ln>
        </p:spPr>
      </p:sp>
      <p:sp>
        <p:nvSpPr>
          <p:cNvPr id="24" name="Shape 21"/>
          <p:cNvSpPr/>
          <p:nvPr/>
        </p:nvSpPr>
        <p:spPr>
          <a:xfrm>
            <a:off x="8585210" y="4279941"/>
            <a:ext cx="609630" cy="0"/>
          </a:xfrm>
          <a:prstGeom prst="line">
            <a:avLst/>
          </a:prstGeom>
          <a:noFill/>
          <a:ln w="28575">
            <a:solidFill>
              <a:srgbClr val="2F5DA8"/>
            </a:solidFill>
            <a:prstDash val="solid"/>
            <a:headEnd type="triangle"/>
            <a:tailEnd type="triangle"/>
          </a:ln>
        </p:spPr>
      </p:sp>
      <p:sp>
        <p:nvSpPr>
          <p:cNvPr id="25" name="Shape 22"/>
          <p:cNvSpPr/>
          <p:nvPr/>
        </p:nvSpPr>
        <p:spPr>
          <a:xfrm>
            <a:off x="10287000" y="2438430"/>
            <a:ext cx="0" cy="254020"/>
          </a:xfrm>
          <a:prstGeom prst="line">
            <a:avLst/>
          </a:prstGeom>
          <a:noFill/>
          <a:ln w="28575">
            <a:solidFill>
              <a:srgbClr val="4A5264"/>
            </a:solidFill>
            <a:prstDash val="solid"/>
            <a:tailEnd type="triangle"/>
          </a:ln>
        </p:spPr>
      </p:sp>
      <p:sp>
        <p:nvSpPr>
          <p:cNvPr id="26" name="Shape 23"/>
          <p:cNvSpPr/>
          <p:nvPr/>
        </p:nvSpPr>
        <p:spPr>
          <a:xfrm>
            <a:off x="7492959" y="4724430"/>
            <a:ext cx="0" cy="254020"/>
          </a:xfrm>
          <a:prstGeom prst="line">
            <a:avLst/>
          </a:prstGeom>
          <a:noFill/>
          <a:ln w="28575">
            <a:solidFill>
              <a:srgbClr val="4A5264"/>
            </a:solidFill>
            <a:prstDash val="solid"/>
            <a:tailEnd type="triangle"/>
          </a:ln>
        </p:spPr>
      </p:sp>
      <p:sp>
        <p:nvSpPr>
          <p:cNvPr id="27" name="Shape 24"/>
          <p:cNvSpPr/>
          <p:nvPr/>
        </p:nvSpPr>
        <p:spPr>
          <a:xfrm flipH="1">
            <a:off x="4699010" y="5359390"/>
            <a:ext cx="1701790" cy="0"/>
          </a:xfrm>
          <a:prstGeom prst="line">
            <a:avLst/>
          </a:prstGeom>
          <a:noFill/>
          <a:ln w="28575">
            <a:solidFill>
              <a:srgbClr val="4A5264"/>
            </a:solidFill>
            <a:prstDash val="solid"/>
          </a:ln>
        </p:spPr>
      </p:sp>
      <p:sp>
        <p:nvSpPr>
          <p:cNvPr id="28" name="Shape 25"/>
          <p:cNvSpPr/>
          <p:nvPr/>
        </p:nvSpPr>
        <p:spPr>
          <a:xfrm flipV="1">
            <a:off x="4699010" y="4724430"/>
            <a:ext cx="0" cy="634959"/>
          </a:xfrm>
          <a:prstGeom prst="line">
            <a:avLst/>
          </a:prstGeom>
          <a:noFill/>
          <a:ln w="28575">
            <a:solidFill>
              <a:srgbClr val="4A5264"/>
            </a:solidFill>
            <a:prstDash val="solid"/>
            <a:tailEnd type="triangle"/>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02 · CORE CONCEPTS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IF-THEN rules: the unit of knowledge</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Sources: Durkin (1994); rule types and examples adapted from Negnevitsky (2011), Ch. 2</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06</a:t>
            </a:r>
            <a:endParaRPr lang="en-US" sz="1200" dirty="0"/>
          </a:p>
        </p:txBody>
      </p:sp>
      <p:sp>
        <p:nvSpPr>
          <p:cNvPr id="7" name="Text 4"/>
          <p:cNvSpPr txBox="1"/>
          <p:nvPr/>
        </p:nvSpPr>
        <p:spPr>
          <a:xfrm>
            <a:off x="812810" y="1701790"/>
            <a:ext cx="4444990" cy="571500"/>
          </a:xfrm>
          <a:prstGeom prst="rect">
            <a:avLst/>
          </a:prstGeom>
          <a:noFill/>
          <a:ln/>
        </p:spPr>
        <p:txBody>
          <a:bodyPr wrap="square" lIns="0" tIns="0" rIns="0" bIns="0" rtlCol="0" anchor="t"/>
          <a:lstStyle/>
          <a:p>
            <a:pPr indent="0" marL="0">
              <a:lnSpc>
                <a:spcPct val="110000"/>
              </a:lnSpc>
              <a:buNone/>
            </a:pPr>
            <a:r>
              <a:rPr lang="en-US" sz="1500" dirty="0">
                <a:solidFill>
                  <a:srgbClr val="1B2233"/>
                </a:solidFill>
                <a:latin typeface="Calibri" pitchFamily="34" charset="0"/>
                <a:ea typeface="Calibri" pitchFamily="34" charset="-122"/>
                <a:cs typeface="Calibri" pitchFamily="34" charset="-120"/>
              </a:rPr>
              <a:t>A rule links what is </a:t>
            </a:r>
            <a:pPr indent="0" marL="0">
              <a:lnSpc>
                <a:spcPct val="110000"/>
              </a:lnSpc>
              <a:buNone/>
            </a:pPr>
            <a:r>
              <a:rPr lang="en-US" sz="1500" b="1" dirty="0">
                <a:solidFill>
                  <a:srgbClr val="1B2233"/>
                </a:solidFill>
                <a:latin typeface="Calibri" pitchFamily="34" charset="0"/>
                <a:ea typeface="Calibri" pitchFamily="34" charset="-122"/>
                <a:cs typeface="Calibri" pitchFamily="34" charset="-120"/>
              </a:rPr>
              <a:t>known</a:t>
            </a:r>
            <a:pPr indent="0" marL="0">
              <a:lnSpc>
                <a:spcPct val="110000"/>
              </a:lnSpc>
              <a:buNone/>
            </a:pPr>
            <a:r>
              <a:rPr lang="en-US" sz="1500" dirty="0">
                <a:solidFill>
                  <a:srgbClr val="1B2233"/>
                </a:solidFill>
                <a:latin typeface="Calibri" pitchFamily="34" charset="0"/>
                <a:ea typeface="Calibri" pitchFamily="34" charset="-122"/>
                <a:cs typeface="Calibri" pitchFamily="34" charset="-120"/>
              </a:rPr>
              <a:t> (premise) to what can be </a:t>
            </a:r>
            <a:pPr indent="0" marL="0">
              <a:lnSpc>
                <a:spcPct val="110000"/>
              </a:lnSpc>
              <a:buNone/>
            </a:pPr>
            <a:r>
              <a:rPr lang="en-US" sz="1500" b="1" dirty="0">
                <a:solidFill>
                  <a:srgbClr val="1B2233"/>
                </a:solidFill>
                <a:latin typeface="Calibri" pitchFamily="34" charset="0"/>
                <a:ea typeface="Calibri" pitchFamily="34" charset="-122"/>
                <a:cs typeface="Calibri" pitchFamily="34" charset="-120"/>
              </a:rPr>
              <a:t>concluded</a:t>
            </a:r>
            <a:pPr indent="0" marL="0">
              <a:lnSpc>
                <a:spcPct val="110000"/>
              </a:lnSpc>
              <a:buNone/>
            </a:pPr>
            <a:r>
              <a:rPr lang="en-US" sz="1500" dirty="0">
                <a:solidFill>
                  <a:srgbClr val="1B2233"/>
                </a:solidFill>
                <a:latin typeface="Calibri" pitchFamily="34" charset="0"/>
                <a:ea typeface="Calibri" pitchFamily="34" charset="-122"/>
                <a:cs typeface="Calibri" pitchFamily="34" charset="-120"/>
              </a:rPr>
              <a:t> (conclusion).</a:t>
            </a:r>
            <a:endParaRPr lang="en-US" sz="1500" dirty="0"/>
          </a:p>
        </p:txBody>
      </p:sp>
      <p:sp>
        <p:nvSpPr>
          <p:cNvPr id="8" name="Shape 5"/>
          <p:cNvSpPr/>
          <p:nvPr/>
        </p:nvSpPr>
        <p:spPr>
          <a:xfrm>
            <a:off x="812810" y="2362170"/>
            <a:ext cx="4444990" cy="1219170"/>
          </a:xfrm>
          <a:prstGeom prst="roundRect">
            <a:avLst>
              <a:gd name="adj" fmla="val 7500"/>
            </a:avLst>
          </a:prstGeom>
          <a:solidFill>
            <a:srgbClr val="1E2433"/>
          </a:solidFill>
          <a:ln/>
        </p:spPr>
      </p:sp>
      <p:sp>
        <p:nvSpPr>
          <p:cNvPr id="9" name="Text 6"/>
          <p:cNvSpPr txBox="1"/>
          <p:nvPr/>
        </p:nvSpPr>
        <p:spPr>
          <a:xfrm>
            <a:off x="990570" y="2514600"/>
            <a:ext cx="4089380" cy="914400"/>
          </a:xfrm>
          <a:prstGeom prst="rect">
            <a:avLst/>
          </a:prstGeom>
          <a:noFill/>
          <a:ln/>
        </p:spPr>
        <p:txBody>
          <a:bodyPr wrap="square" lIns="0" tIns="0" rIns="0" bIns="0" rtlCol="0" anchor="t"/>
          <a:lstStyle/>
          <a:p>
            <a:pPr indent="0" marL="0">
              <a:lnSpc>
                <a:spcPts val="1800"/>
              </a:lnSpc>
              <a:buNone/>
            </a:pPr>
            <a:r>
              <a:rPr lang="en-US" sz="1200" dirty="0">
                <a:solidFill>
                  <a:srgbClr val="F2A65A"/>
                </a:solidFill>
                <a:latin typeface="Consolas" pitchFamily="34" charset="0"/>
                <a:ea typeface="Consolas" pitchFamily="34" charset="-122"/>
                <a:cs typeface="Consolas" pitchFamily="34" charset="-120"/>
              </a:rPr>
              <a:t>IF</a:t>
            </a:r>
            <a:pPr indent="0" marL="0">
              <a:lnSpc>
                <a:spcPts val="1800"/>
              </a:lnSpc>
              <a:buNone/>
            </a:pPr>
            <a:r>
              <a:rPr lang="en-US" sz="1200" dirty="0">
                <a:solidFill>
                  <a:srgbClr val="E6E1D3"/>
                </a:solidFill>
                <a:latin typeface="Consolas" pitchFamily="34" charset="0"/>
                <a:ea typeface="Consolas" pitchFamily="34" charset="-122"/>
                <a:cs typeface="Consolas" pitchFamily="34" charset="-120"/>
              </a:rPr>
              <a:t>   condition-1</a:t>
            </a:r>
            <a:endParaRPr lang="en-US" sz="1200" dirty="0"/>
          </a:p>
          <a:p>
            <a:pPr indent="0" marL="0">
              <a:lnSpc>
                <a:spcPts val="1800"/>
              </a:lnSpc>
              <a:buNone/>
            </a:pPr>
            <a:r>
              <a:rPr lang="en-US" sz="1200" dirty="0">
                <a:solidFill>
                  <a:srgbClr val="F2A65A"/>
                </a:solidFill>
                <a:latin typeface="Consolas" pitchFamily="34" charset="0"/>
                <a:ea typeface="Consolas" pitchFamily="34" charset="-122"/>
                <a:cs typeface="Consolas" pitchFamily="34" charset="-120"/>
              </a:rPr>
              <a:t>AND</a:t>
            </a:r>
            <a:pPr indent="0" marL="0">
              <a:lnSpc>
                <a:spcPts val="180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800"/>
              </a:lnSpc>
              <a:buNone/>
            </a:pPr>
            <a:r>
              <a:rPr lang="en-US" sz="1200" dirty="0">
                <a:solidFill>
                  <a:srgbClr val="F2A65A"/>
                </a:solidFill>
                <a:latin typeface="Consolas" pitchFamily="34" charset="0"/>
                <a:ea typeface="Consolas" pitchFamily="34" charset="-122"/>
                <a:cs typeface="Consolas" pitchFamily="34" charset="-120"/>
              </a:rPr>
              <a:t>AND</a:t>
            </a:r>
            <a:pPr indent="0" marL="0">
              <a:lnSpc>
                <a:spcPts val="1800"/>
              </a:lnSpc>
              <a:buNone/>
            </a:pPr>
            <a:r>
              <a:rPr lang="en-US" sz="1200" dirty="0">
                <a:solidFill>
                  <a:srgbClr val="E6E1D3"/>
                </a:solidFill>
                <a:latin typeface="Consolas" pitchFamily="34" charset="0"/>
                <a:ea typeface="Consolas" pitchFamily="34" charset="-122"/>
                <a:cs typeface="Consolas" pitchFamily="34" charset="-120"/>
              </a:rPr>
              <a:t>  condition-n</a:t>
            </a:r>
            <a:endParaRPr lang="en-US" sz="1200" dirty="0"/>
          </a:p>
          <a:p>
            <a:pPr indent="0" marL="0">
              <a:lnSpc>
                <a:spcPts val="1800"/>
              </a:lnSpc>
              <a:buNone/>
            </a:pPr>
            <a:r>
              <a:rPr lang="en-US" sz="1200" dirty="0">
                <a:solidFill>
                  <a:srgbClr val="F2A65A"/>
                </a:solidFill>
                <a:latin typeface="Consolas" pitchFamily="34" charset="0"/>
                <a:ea typeface="Consolas" pitchFamily="34" charset="-122"/>
                <a:cs typeface="Consolas" pitchFamily="34" charset="-120"/>
              </a:rPr>
              <a:t>THEN</a:t>
            </a:r>
            <a:pPr indent="0" marL="0">
              <a:lnSpc>
                <a:spcPts val="1800"/>
              </a:lnSpc>
              <a:buNone/>
            </a:pPr>
            <a:r>
              <a:rPr lang="en-US" sz="1200" dirty="0">
                <a:solidFill>
                  <a:srgbClr val="E6E1D3"/>
                </a:solidFill>
                <a:latin typeface="Consolas" pitchFamily="34" charset="0"/>
                <a:ea typeface="Consolas" pitchFamily="34" charset="-122"/>
                <a:cs typeface="Consolas" pitchFamily="34" charset="-120"/>
              </a:rPr>
              <a:t> conclusion (or action)</a:t>
            </a:r>
            <a:endParaRPr lang="en-US" sz="1200" dirty="0"/>
          </a:p>
        </p:txBody>
      </p:sp>
      <p:sp>
        <p:nvSpPr>
          <p:cNvPr id="10" name="Text 7"/>
          <p:cNvSpPr txBox="1"/>
          <p:nvPr/>
        </p:nvSpPr>
        <p:spPr>
          <a:xfrm>
            <a:off x="812810" y="3784610"/>
            <a:ext cx="4444990" cy="2031980"/>
          </a:xfrm>
          <a:prstGeom prst="rect">
            <a:avLst/>
          </a:prstGeom>
          <a:noFill/>
          <a:ln/>
        </p:spPr>
        <p:txBody>
          <a:bodyPr wrap="square" lIns="0" tIns="0" rIns="0" bIns="0" rtlCol="0" anchor="t"/>
          <a:lstStyle/>
          <a:p>
            <a:pPr marL="254000" indent="-254000">
              <a:lnSpc>
                <a:spcPct val="110000"/>
              </a:lnSpc>
              <a:spcAft>
                <a:spcPts val="800"/>
              </a:spcAft>
              <a:buSzPct val="100000"/>
              <a:buChar char="•"/>
            </a:pPr>
            <a:r>
              <a:rPr lang="en-US" sz="1300" dirty="0">
                <a:solidFill>
                  <a:srgbClr val="4A5264"/>
                </a:solidFill>
                <a:latin typeface="Calibri" pitchFamily="34" charset="0"/>
                <a:ea typeface="Calibri" pitchFamily="34" charset="-122"/>
                <a:cs typeface="Calibri" pitchFamily="34" charset="-120"/>
              </a:rPr>
              <a:t>IF part = antecedent (premise)</a:t>
            </a:r>
            <a:endParaRPr lang="en-US" sz="1300" dirty="0"/>
          </a:p>
          <a:p>
            <a:pPr marL="254000" indent="-254000">
              <a:lnSpc>
                <a:spcPct val="110000"/>
              </a:lnSpc>
              <a:spcAft>
                <a:spcPts val="800"/>
              </a:spcAft>
              <a:buSzPct val="100000"/>
              <a:buChar char="•"/>
            </a:pPr>
            <a:r>
              <a:rPr lang="en-US" sz="1300" dirty="0">
                <a:solidFill>
                  <a:srgbClr val="4A5264"/>
                </a:solidFill>
                <a:latin typeface="Calibri" pitchFamily="34" charset="0"/>
                <a:ea typeface="Calibri" pitchFamily="34" charset="-122"/>
                <a:cs typeface="Calibri" pitchFamily="34" charset="-120"/>
              </a:rPr>
              <a:t>THEN part = consequent (conclusion)</a:t>
            </a:r>
            <a:endParaRPr lang="en-US" sz="1300" dirty="0"/>
          </a:p>
          <a:p>
            <a:pPr marL="254000" indent="-254000">
              <a:lnSpc>
                <a:spcPct val="110000"/>
              </a:lnSpc>
              <a:spcAft>
                <a:spcPts val="800"/>
              </a:spcAft>
              <a:buSzPct val="100000"/>
              <a:buChar char="•"/>
            </a:pPr>
            <a:r>
              <a:rPr lang="en-US" sz="1300" dirty="0">
                <a:solidFill>
                  <a:srgbClr val="4A5264"/>
                </a:solidFill>
                <a:latin typeface="Calibri" pitchFamily="34" charset="0"/>
                <a:ea typeface="Calibri" pitchFamily="34" charset="-122"/>
                <a:cs typeface="Calibri" pitchFamily="34" charset="-120"/>
              </a:rPr>
              <a:t>A rule fires when all its conditions match known facts</a:t>
            </a:r>
            <a:endParaRPr lang="en-US" sz="1300" dirty="0"/>
          </a:p>
          <a:p>
            <a:pPr marL="254000" indent="-254000">
              <a:lnSpc>
                <a:spcPct val="110000"/>
              </a:lnSpc>
              <a:spcAft>
                <a:spcPts val="800"/>
              </a:spcAft>
              <a:buSzPct val="100000"/>
              <a:buChar char="•"/>
            </a:pPr>
            <a:r>
              <a:rPr lang="en-US" sz="1300" dirty="0">
                <a:solidFill>
                  <a:srgbClr val="4A5264"/>
                </a:solidFill>
                <a:latin typeface="Calibri" pitchFamily="34" charset="0"/>
                <a:ea typeface="Calibri" pitchFamily="34" charset="-122"/>
                <a:cs typeface="Calibri" pitchFamily="34" charset="-120"/>
              </a:rPr>
              <a:t>Its conclusion becomes a new fact that other rules can use: chaining</a:t>
            </a:r>
            <a:endParaRPr lang="en-US" sz="1300" dirty="0"/>
          </a:p>
        </p:txBody>
      </p:sp>
      <p:sp>
        <p:nvSpPr>
          <p:cNvPr id="11" name="Text 8"/>
          <p:cNvSpPr txBox="1"/>
          <p:nvPr/>
        </p:nvSpPr>
        <p:spPr>
          <a:xfrm>
            <a:off x="5562570" y="1701790"/>
            <a:ext cx="5816590" cy="279441"/>
          </a:xfrm>
          <a:prstGeom prst="rect">
            <a:avLst/>
          </a:prstGeom>
          <a:noFill/>
          <a:ln/>
        </p:spPr>
        <p:txBody>
          <a:bodyPr wrap="square" lIns="0" tIns="0" rIns="0" bIns="0" rtlCol="0" anchor="t"/>
          <a:lstStyle/>
          <a:p>
            <a:pPr indent="0" marL="0">
              <a:buNone/>
            </a:pPr>
            <a:r>
              <a:rPr lang="en-US" sz="1500" b="1" dirty="0">
                <a:solidFill>
                  <a:srgbClr val="1B2233"/>
                </a:solidFill>
                <a:latin typeface="Calibri" pitchFamily="34" charset="0"/>
                <a:ea typeface="Calibri" pitchFamily="34" charset="-122"/>
                <a:cs typeface="Calibri" pitchFamily="34" charset="-120"/>
              </a:rPr>
              <a:t>Kinds of rules, with examples</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62570" y="2057400"/>
          <a:ext cx="5816590" cy="914400"/>
        </p:xfrm>
        <a:graphic>
          <a:graphicData uri="http://schemas.openxmlformats.org/drawingml/2006/table">
            <a:tbl>
              <a:tblPr/>
              <a:tblGrid>
                <a:gridCol w="1625620"/>
                <a:gridCol w="4190970"/>
              </a:tblGrid>
              <a:tr h="0">
                <a:tc>
                  <a:txBody>
                    <a:bodyPr/>
                    <a:lstStyle/>
                    <a:p>
                      <a:pPr indent="0" marL="0">
                        <a:buNone/>
                      </a:pPr>
                      <a:r>
                        <a:rPr lang="en-US" sz="1300" b="1" dirty="0">
                          <a:solidFill>
                            <a:srgbClr val="F3EFE4"/>
                          </a:solidFill>
                          <a:latin typeface="Calibri" pitchFamily="34" charset="0"/>
                          <a:ea typeface="Calibri" pitchFamily="34" charset="-122"/>
                          <a:cs typeface="Calibri" pitchFamily="34" charset="-120"/>
                        </a:rPr>
                        <a:t>Type</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1E2433"/>
                    </a:solidFill>
                  </a:tcPr>
                </a:tc>
                <a:tc>
                  <a:txBody>
                    <a:bodyPr/>
                    <a:lstStyle/>
                    <a:p>
                      <a:pPr indent="0" marL="0">
                        <a:buNone/>
                      </a:pPr>
                      <a:r>
                        <a:rPr lang="en-US" sz="1300" b="1" dirty="0">
                          <a:solidFill>
                            <a:srgbClr val="F3EFE4"/>
                          </a:solidFill>
                          <a:latin typeface="Calibri" pitchFamily="34" charset="0"/>
                          <a:ea typeface="Calibri" pitchFamily="34" charset="-122"/>
                          <a:cs typeface="Calibri" pitchFamily="34" charset="-120"/>
                        </a:rPr>
                        <a:t>Example</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1E2433"/>
                    </a:solidFill>
                  </a:tcPr>
                </a:tc>
              </a:tr>
              <a:tr h="0">
                <a:tc>
                  <a:txBody>
                    <a:bodyPr/>
                    <a:lstStyle/>
                    <a:p>
                      <a:pPr indent="0" marL="0">
                        <a:buNone/>
                      </a:pPr>
                      <a:r>
                        <a:rPr lang="en-US" sz="1300" dirty="0">
                          <a:solidFill>
                            <a:srgbClr val="1B2233"/>
                          </a:solidFill>
                          <a:latin typeface="Calibri" pitchFamily="34" charset="0"/>
                          <a:ea typeface="Calibri" pitchFamily="34" charset="-122"/>
                          <a:cs typeface="Calibri" pitchFamily="34" charset="-120"/>
                        </a:rPr>
                        <a:t>Relation</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indent="0" marL="0">
                        <a:buNone/>
                      </a:pPr>
                      <a:r>
                        <a:rPr lang="en-US" sz="1300" dirty="0">
                          <a:solidFill>
                            <a:srgbClr val="1B2233"/>
                          </a:solidFill>
                          <a:latin typeface="Calibri" pitchFamily="34" charset="0"/>
                          <a:ea typeface="Calibri" pitchFamily="34" charset="-122"/>
                          <a:cs typeface="Calibri" pitchFamily="34" charset="-120"/>
                        </a:rPr>
                        <a:t>IF the fuel tank is empty THEN the car is dead</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B2233"/>
                          </a:solidFill>
                          <a:latin typeface="Calibri" pitchFamily="34" charset="0"/>
                          <a:ea typeface="Calibri" pitchFamily="34" charset="-122"/>
                          <a:cs typeface="Calibri" pitchFamily="34" charset="-120"/>
                        </a:rPr>
                        <a:t>Recommendation</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indent="0" marL="0">
                        <a:buNone/>
                      </a:pPr>
                      <a:r>
                        <a:rPr lang="en-US" sz="1300" dirty="0">
                          <a:solidFill>
                            <a:srgbClr val="1B2233"/>
                          </a:solidFill>
                          <a:latin typeface="Calibri" pitchFamily="34" charset="0"/>
                          <a:ea typeface="Calibri" pitchFamily="34" charset="-122"/>
                          <a:cs typeface="Calibri" pitchFamily="34" charset="-120"/>
                        </a:rPr>
                        <a:t>IF it is autumn AND the sky is cloudy THEN take an umbrella</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r>
              <a:tr h="0">
                <a:tc>
                  <a:txBody>
                    <a:bodyPr/>
                    <a:lstStyle/>
                    <a:p>
                      <a:pPr indent="0" marL="0">
                        <a:buNone/>
                      </a:pPr>
                      <a:r>
                        <a:rPr lang="en-US" sz="1300" dirty="0">
                          <a:solidFill>
                            <a:srgbClr val="1B2233"/>
                          </a:solidFill>
                          <a:latin typeface="Calibri" pitchFamily="34" charset="0"/>
                          <a:ea typeface="Calibri" pitchFamily="34" charset="-122"/>
                          <a:cs typeface="Calibri" pitchFamily="34" charset="-120"/>
                        </a:rPr>
                        <a:t>Directive</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indent="0" marL="0">
                        <a:buNone/>
                      </a:pPr>
                      <a:r>
                        <a:rPr lang="en-US" sz="1300" dirty="0">
                          <a:solidFill>
                            <a:srgbClr val="1B2233"/>
                          </a:solidFill>
                          <a:latin typeface="Calibri" pitchFamily="34" charset="0"/>
                          <a:ea typeface="Calibri" pitchFamily="34" charset="-122"/>
                          <a:cs typeface="Calibri" pitchFamily="34" charset="-120"/>
                        </a:rPr>
                        <a:t>IF the car is dead AND the tank is empty THEN refuel the car</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B2233"/>
                          </a:solidFill>
                          <a:latin typeface="Calibri" pitchFamily="34" charset="0"/>
                          <a:ea typeface="Calibri" pitchFamily="34" charset="-122"/>
                          <a:cs typeface="Calibri" pitchFamily="34" charset="-120"/>
                        </a:rPr>
                        <a:t>Strategy</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indent="0" marL="0">
                        <a:buNone/>
                      </a:pPr>
                      <a:r>
                        <a:rPr lang="en-US" sz="1300" dirty="0">
                          <a:solidFill>
                            <a:srgbClr val="1B2233"/>
                          </a:solidFill>
                          <a:latin typeface="Calibri" pitchFamily="34" charset="0"/>
                          <a:ea typeface="Calibri" pitchFamily="34" charset="-122"/>
                          <a:cs typeface="Calibri" pitchFamily="34" charset="-120"/>
                        </a:rPr>
                        <a:t>IF the car is dead THEN first check the fuel tank</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r>
              <a:tr h="0">
                <a:tc>
                  <a:txBody>
                    <a:bodyPr/>
                    <a:lstStyle/>
                    <a:p>
                      <a:pPr indent="0" marL="0">
                        <a:buNone/>
                      </a:pPr>
                      <a:r>
                        <a:rPr lang="en-US" sz="1300" dirty="0">
                          <a:solidFill>
                            <a:srgbClr val="1B2233"/>
                          </a:solidFill>
                          <a:latin typeface="Calibri" pitchFamily="34" charset="0"/>
                          <a:ea typeface="Calibri" pitchFamily="34" charset="-122"/>
                          <a:cs typeface="Calibri" pitchFamily="34" charset="-120"/>
                        </a:rPr>
                        <a:t>Heuristic</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indent="0" marL="0">
                        <a:buNone/>
                      </a:pPr>
                      <a:r>
                        <a:rPr lang="en-US" sz="1300" dirty="0">
                          <a:solidFill>
                            <a:srgbClr val="1B2233"/>
                          </a:solidFill>
                          <a:latin typeface="Calibri" pitchFamily="34" charset="0"/>
                          <a:ea typeface="Calibri" pitchFamily="34" charset="-122"/>
                          <a:cs typeface="Calibri" pitchFamily="34" charset="-120"/>
                        </a:rPr>
                        <a:t>IF the spill is liquid AND its pH &lt; 6 AND it smells of vinegar THEN it is acetic acid</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02 · CORE CONCEPTS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Prolog in one slide: facts, rules, queries</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 family example after Bratko (2012), Ch. 1</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07</a:t>
            </a:r>
            <a:endParaRPr lang="en-US" sz="1200" dirty="0"/>
          </a:p>
        </p:txBody>
      </p:sp>
      <p:sp>
        <p:nvSpPr>
          <p:cNvPr id="7" name="Shape 4"/>
          <p:cNvSpPr/>
          <p:nvPr/>
        </p:nvSpPr>
        <p:spPr>
          <a:xfrm>
            <a:off x="812810" y="1701790"/>
            <a:ext cx="3384560" cy="2794041"/>
          </a:xfrm>
          <a:prstGeom prst="roundRect">
            <a:avLst>
              <a:gd name="adj" fmla="val 3273"/>
            </a:avLst>
          </a:prstGeom>
          <a:solidFill>
            <a:srgbClr val="FFFFFF"/>
          </a:solidFill>
          <a:ln w="12700">
            <a:solidFill>
              <a:srgbClr val="E3E1DA"/>
            </a:solidFill>
            <a:prstDash val="solid"/>
          </a:ln>
        </p:spPr>
      </p:sp>
      <p:sp>
        <p:nvSpPr>
          <p:cNvPr id="8" name="Text 5"/>
          <p:cNvSpPr txBox="1"/>
          <p:nvPr/>
        </p:nvSpPr>
        <p:spPr>
          <a:xfrm>
            <a:off x="1015990" y="1879641"/>
            <a:ext cx="2978109" cy="279441"/>
          </a:xfrm>
          <a:prstGeom prst="rect">
            <a:avLst/>
          </a:prstGeom>
          <a:noFill/>
          <a:ln/>
        </p:spPr>
        <p:txBody>
          <a:bodyPr wrap="square" lIns="0" tIns="0" rIns="0" bIns="0" rtlCol="0" anchor="t"/>
          <a:lstStyle/>
          <a:p>
            <a:pPr indent="0" marL="0">
              <a:buNone/>
            </a:pPr>
            <a:r>
              <a:rPr lang="en-US" sz="1700" b="1" dirty="0">
                <a:solidFill>
                  <a:srgbClr val="1B2233"/>
                </a:solidFill>
                <a:latin typeface="Calibri" pitchFamily="34" charset="0"/>
                <a:ea typeface="Calibri" pitchFamily="34" charset="-122"/>
                <a:cs typeface="Calibri" pitchFamily="34" charset="-120"/>
              </a:rPr>
              <a:t>Fact</a:t>
            </a:r>
            <a:endParaRPr lang="en-US" sz="1700" dirty="0"/>
          </a:p>
        </p:txBody>
      </p:sp>
      <p:sp>
        <p:nvSpPr>
          <p:cNvPr id="9" name="Shape 6"/>
          <p:cNvSpPr/>
          <p:nvPr/>
        </p:nvSpPr>
        <p:spPr>
          <a:xfrm>
            <a:off x="1015990" y="2260580"/>
            <a:ext cx="2978109" cy="894100"/>
          </a:xfrm>
          <a:prstGeom prst="roundRect">
            <a:avLst>
              <a:gd name="adj" fmla="val 10227"/>
            </a:avLst>
          </a:prstGeom>
          <a:solidFill>
            <a:srgbClr val="1E2433"/>
          </a:solidFill>
          <a:ln/>
        </p:spPr>
      </p:sp>
      <p:sp>
        <p:nvSpPr>
          <p:cNvPr id="10" name="Text 7"/>
          <p:cNvSpPr txBox="1"/>
          <p:nvPr/>
        </p:nvSpPr>
        <p:spPr>
          <a:xfrm>
            <a:off x="1193841" y="2387590"/>
            <a:ext cx="2622591" cy="640080"/>
          </a:xfrm>
          <a:prstGeom prst="rect">
            <a:avLst/>
          </a:prstGeom>
          <a:noFill/>
          <a:ln/>
        </p:spPr>
        <p:txBody>
          <a:bodyPr wrap="square" lIns="0" tIns="0" rIns="0" bIns="0" rtlCol="0" anchor="t"/>
          <a:lstStyle/>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parent(tom, bob).</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parent(bob, ann).</a:t>
            </a:r>
            <a:endParaRPr lang="en-US" sz="1200" dirty="0"/>
          </a:p>
        </p:txBody>
      </p:sp>
      <p:sp>
        <p:nvSpPr>
          <p:cNvPr id="11" name="Text 8"/>
          <p:cNvSpPr txBox="1"/>
          <p:nvPr/>
        </p:nvSpPr>
        <p:spPr>
          <a:xfrm>
            <a:off x="1015990" y="3289280"/>
            <a:ext cx="2978109" cy="1015990"/>
          </a:xfrm>
          <a:prstGeom prst="rect">
            <a:avLst/>
          </a:prstGeom>
          <a:noFill/>
          <a:ln/>
        </p:spPr>
        <p:txBody>
          <a:bodyPr wrap="square" lIns="0" tIns="0" rIns="0" bIns="0" rtlCol="0" anchor="t"/>
          <a:lstStyle/>
          <a:p>
            <a:pPr indent="0" marL="0">
              <a:lnSpc>
                <a:spcPct val="115000"/>
              </a:lnSpc>
              <a:buNone/>
            </a:pPr>
            <a:r>
              <a:rPr lang="en-US" sz="1300" dirty="0">
                <a:solidFill>
                  <a:srgbClr val="4A5264"/>
                </a:solidFill>
                <a:latin typeface="Calibri" pitchFamily="34" charset="0"/>
                <a:ea typeface="Calibri" pitchFamily="34" charset="-122"/>
                <a:cs typeface="Calibri" pitchFamily="34" charset="-120"/>
              </a:rPr>
              <a:t>A statement that is simply true. Lower-case names are constants.</a:t>
            </a:r>
            <a:endParaRPr lang="en-US" sz="1300" dirty="0"/>
          </a:p>
        </p:txBody>
      </p:sp>
      <p:sp>
        <p:nvSpPr>
          <p:cNvPr id="12" name="Shape 9"/>
          <p:cNvSpPr/>
          <p:nvPr/>
        </p:nvSpPr>
        <p:spPr>
          <a:xfrm>
            <a:off x="4400550" y="1701790"/>
            <a:ext cx="3384560" cy="2794041"/>
          </a:xfrm>
          <a:prstGeom prst="roundRect">
            <a:avLst>
              <a:gd name="adj" fmla="val 3273"/>
            </a:avLst>
          </a:prstGeom>
          <a:solidFill>
            <a:srgbClr val="FFFFFF"/>
          </a:solidFill>
          <a:ln w="12700">
            <a:solidFill>
              <a:srgbClr val="E3E1DA"/>
            </a:solidFill>
            <a:prstDash val="solid"/>
          </a:ln>
        </p:spPr>
      </p:sp>
      <p:sp>
        <p:nvSpPr>
          <p:cNvPr id="13" name="Text 10"/>
          <p:cNvSpPr txBox="1"/>
          <p:nvPr/>
        </p:nvSpPr>
        <p:spPr>
          <a:xfrm>
            <a:off x="4603730" y="1879641"/>
            <a:ext cx="2978109" cy="279441"/>
          </a:xfrm>
          <a:prstGeom prst="rect">
            <a:avLst/>
          </a:prstGeom>
          <a:noFill/>
          <a:ln/>
        </p:spPr>
        <p:txBody>
          <a:bodyPr wrap="square" lIns="0" tIns="0" rIns="0" bIns="0" rtlCol="0" anchor="t"/>
          <a:lstStyle/>
          <a:p>
            <a:pPr indent="0" marL="0">
              <a:buNone/>
            </a:pPr>
            <a:r>
              <a:rPr lang="en-US" sz="1700" b="1" dirty="0">
                <a:solidFill>
                  <a:srgbClr val="1B2233"/>
                </a:solidFill>
                <a:latin typeface="Calibri" pitchFamily="34" charset="0"/>
                <a:ea typeface="Calibri" pitchFamily="34" charset="-122"/>
                <a:cs typeface="Calibri" pitchFamily="34" charset="-120"/>
              </a:rPr>
              <a:t>Rule</a:t>
            </a:r>
            <a:endParaRPr lang="en-US" sz="1700" dirty="0"/>
          </a:p>
        </p:txBody>
      </p:sp>
      <p:sp>
        <p:nvSpPr>
          <p:cNvPr id="14" name="Shape 11"/>
          <p:cNvSpPr/>
          <p:nvPr/>
        </p:nvSpPr>
        <p:spPr>
          <a:xfrm>
            <a:off x="4603730" y="2260580"/>
            <a:ext cx="2978109" cy="894100"/>
          </a:xfrm>
          <a:prstGeom prst="roundRect">
            <a:avLst>
              <a:gd name="adj" fmla="val 10227"/>
            </a:avLst>
          </a:prstGeom>
          <a:solidFill>
            <a:srgbClr val="1E2433"/>
          </a:solidFill>
          <a:ln/>
        </p:spPr>
      </p:sp>
      <p:sp>
        <p:nvSpPr>
          <p:cNvPr id="15" name="Text 12"/>
          <p:cNvSpPr txBox="1"/>
          <p:nvPr/>
        </p:nvSpPr>
        <p:spPr>
          <a:xfrm>
            <a:off x="4781580" y="2387590"/>
            <a:ext cx="2622591" cy="640080"/>
          </a:xfrm>
          <a:prstGeom prst="rect">
            <a:avLst/>
          </a:prstGeom>
          <a:noFill/>
          <a:ln/>
        </p:spPr>
        <p:txBody>
          <a:bodyPr wrap="square" lIns="0" tIns="0" rIns="0" bIns="0" rtlCol="0" anchor="t"/>
          <a:lstStyle/>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grandparent(X, Z) :-</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parent(X, Y),</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parent(Y, Z).</a:t>
            </a:r>
            <a:endParaRPr lang="en-US" sz="1200" dirty="0"/>
          </a:p>
        </p:txBody>
      </p:sp>
      <p:sp>
        <p:nvSpPr>
          <p:cNvPr id="16" name="Text 13"/>
          <p:cNvSpPr txBox="1"/>
          <p:nvPr/>
        </p:nvSpPr>
        <p:spPr>
          <a:xfrm>
            <a:off x="4603730" y="3289280"/>
            <a:ext cx="2978109" cy="1015990"/>
          </a:xfrm>
          <a:prstGeom prst="rect">
            <a:avLst/>
          </a:prstGeom>
          <a:noFill/>
          <a:ln/>
        </p:spPr>
        <p:txBody>
          <a:bodyPr wrap="square" lIns="0" tIns="0" rIns="0" bIns="0" rtlCol="0" anchor="t"/>
          <a:lstStyle/>
          <a:p>
            <a:pPr indent="0" marL="0">
              <a:lnSpc>
                <a:spcPct val="115000"/>
              </a:lnSpc>
              <a:buNone/>
            </a:pPr>
            <a:r>
              <a:rPr lang="en-US" sz="1300" dirty="0">
                <a:solidFill>
                  <a:srgbClr val="4A5264"/>
                </a:solidFill>
                <a:latin typeface="Calibri" pitchFamily="34" charset="0"/>
                <a:ea typeface="Calibri" pitchFamily="34" charset="-122"/>
                <a:cs typeface="Calibri" pitchFamily="34" charset="-120"/>
              </a:rPr>
              <a:t>The head is true IF the body is true. Read :- as IF and the comma as AND.</a:t>
            </a:r>
            <a:endParaRPr lang="en-US" sz="1300" dirty="0"/>
          </a:p>
        </p:txBody>
      </p:sp>
      <p:sp>
        <p:nvSpPr>
          <p:cNvPr id="17" name="Shape 14"/>
          <p:cNvSpPr/>
          <p:nvPr/>
        </p:nvSpPr>
        <p:spPr>
          <a:xfrm>
            <a:off x="7988290" y="1701790"/>
            <a:ext cx="3384560" cy="2794041"/>
          </a:xfrm>
          <a:prstGeom prst="roundRect">
            <a:avLst>
              <a:gd name="adj" fmla="val 3273"/>
            </a:avLst>
          </a:prstGeom>
          <a:solidFill>
            <a:srgbClr val="FFFFFF"/>
          </a:solidFill>
          <a:ln w="12700">
            <a:solidFill>
              <a:srgbClr val="E3E1DA"/>
            </a:solidFill>
            <a:prstDash val="solid"/>
          </a:ln>
        </p:spPr>
      </p:sp>
      <p:sp>
        <p:nvSpPr>
          <p:cNvPr id="18" name="Text 15"/>
          <p:cNvSpPr txBox="1"/>
          <p:nvPr/>
        </p:nvSpPr>
        <p:spPr>
          <a:xfrm>
            <a:off x="8191470" y="1879641"/>
            <a:ext cx="2978109" cy="279441"/>
          </a:xfrm>
          <a:prstGeom prst="rect">
            <a:avLst/>
          </a:prstGeom>
          <a:noFill/>
          <a:ln/>
        </p:spPr>
        <p:txBody>
          <a:bodyPr wrap="square" lIns="0" tIns="0" rIns="0" bIns="0" rtlCol="0" anchor="t"/>
          <a:lstStyle/>
          <a:p>
            <a:pPr indent="0" marL="0">
              <a:buNone/>
            </a:pPr>
            <a:r>
              <a:rPr lang="en-US" sz="1700" b="1" dirty="0">
                <a:solidFill>
                  <a:srgbClr val="1B2233"/>
                </a:solidFill>
                <a:latin typeface="Calibri" pitchFamily="34" charset="0"/>
                <a:ea typeface="Calibri" pitchFamily="34" charset="-122"/>
                <a:cs typeface="Calibri" pitchFamily="34" charset="-120"/>
              </a:rPr>
              <a:t>Query</a:t>
            </a:r>
            <a:endParaRPr lang="en-US" sz="1700" dirty="0"/>
          </a:p>
        </p:txBody>
      </p:sp>
      <p:sp>
        <p:nvSpPr>
          <p:cNvPr id="19" name="Shape 16"/>
          <p:cNvSpPr/>
          <p:nvPr/>
        </p:nvSpPr>
        <p:spPr>
          <a:xfrm>
            <a:off x="8191470" y="2260580"/>
            <a:ext cx="2978109" cy="894100"/>
          </a:xfrm>
          <a:prstGeom prst="roundRect">
            <a:avLst>
              <a:gd name="adj" fmla="val 10227"/>
            </a:avLst>
          </a:prstGeom>
          <a:solidFill>
            <a:srgbClr val="1E2433"/>
          </a:solidFill>
          <a:ln/>
        </p:spPr>
      </p:sp>
      <p:sp>
        <p:nvSpPr>
          <p:cNvPr id="20" name="Text 17"/>
          <p:cNvSpPr txBox="1"/>
          <p:nvPr/>
        </p:nvSpPr>
        <p:spPr>
          <a:xfrm>
            <a:off x="8369320" y="2387590"/>
            <a:ext cx="2622591" cy="640080"/>
          </a:xfrm>
          <a:prstGeom prst="rect">
            <a:avLst/>
          </a:prstGeom>
          <a:noFill/>
          <a:ln/>
        </p:spPr>
        <p:txBody>
          <a:bodyPr wrap="square" lIns="0" tIns="0" rIns="0" bIns="0" rtlCol="0" anchor="t"/>
          <a:lstStyle/>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grandparent(tom, Who).</a:t>
            </a:r>
            <a:endParaRPr lang="en-US" sz="1200" dirty="0"/>
          </a:p>
          <a:p>
            <a:pPr indent="0" marL="0">
              <a:lnSpc>
                <a:spcPts val="1680"/>
              </a:lnSpc>
              <a:buNone/>
            </a:pPr>
            <a:r>
              <a:rPr lang="en-US" sz="1200" dirty="0">
                <a:solidFill>
                  <a:srgbClr val="8DB7F5"/>
                </a:solidFill>
                <a:latin typeface="Consolas" pitchFamily="34" charset="0"/>
                <a:ea typeface="Consolas" pitchFamily="34" charset="-122"/>
                <a:cs typeface="Consolas" pitchFamily="34" charset="-120"/>
              </a:rPr>
              <a:t>Who = ann.</a:t>
            </a:r>
            <a:endParaRPr lang="en-US" sz="1200" dirty="0"/>
          </a:p>
        </p:txBody>
      </p:sp>
      <p:sp>
        <p:nvSpPr>
          <p:cNvPr id="21" name="Text 18"/>
          <p:cNvSpPr txBox="1"/>
          <p:nvPr/>
        </p:nvSpPr>
        <p:spPr>
          <a:xfrm>
            <a:off x="8191470" y="3289280"/>
            <a:ext cx="2978109" cy="1015990"/>
          </a:xfrm>
          <a:prstGeom prst="rect">
            <a:avLst/>
          </a:prstGeom>
          <a:noFill/>
          <a:ln/>
        </p:spPr>
        <p:txBody>
          <a:bodyPr wrap="square" lIns="0" tIns="0" rIns="0" bIns="0" rtlCol="0" anchor="t"/>
          <a:lstStyle/>
          <a:p>
            <a:pPr indent="0" marL="0">
              <a:lnSpc>
                <a:spcPct val="115000"/>
              </a:lnSpc>
              <a:buNone/>
            </a:pPr>
            <a:r>
              <a:rPr lang="en-US" sz="1300" dirty="0">
                <a:solidFill>
                  <a:srgbClr val="4A5264"/>
                </a:solidFill>
                <a:latin typeface="Calibri" pitchFamily="34" charset="0"/>
                <a:ea typeface="Calibri" pitchFamily="34" charset="-122"/>
                <a:cs typeface="Calibri" pitchFamily="34" charset="-120"/>
              </a:rPr>
              <a:t>Prolog searches the clauses and binds variables (capitalised) to make the goal true.</a:t>
            </a:r>
            <a:endParaRPr lang="en-US" sz="1300" dirty="0"/>
          </a:p>
        </p:txBody>
      </p:sp>
      <p:sp>
        <p:nvSpPr>
          <p:cNvPr id="22" name="Shape 19"/>
          <p:cNvSpPr/>
          <p:nvPr/>
        </p:nvSpPr>
        <p:spPr>
          <a:xfrm>
            <a:off x="812810" y="4775180"/>
            <a:ext cx="1503639" cy="368320"/>
          </a:xfrm>
          <a:prstGeom prst="roundRect">
            <a:avLst>
              <a:gd name="adj" fmla="val 19861"/>
            </a:avLst>
          </a:prstGeom>
          <a:solidFill>
            <a:srgbClr val="EFEEE9"/>
          </a:solidFill>
          <a:ln/>
        </p:spPr>
      </p:sp>
      <p:sp>
        <p:nvSpPr>
          <p:cNvPr id="23" name="Text 20"/>
          <p:cNvSpPr txBox="1"/>
          <p:nvPr/>
        </p:nvSpPr>
        <p:spPr>
          <a:xfrm>
            <a:off x="812810" y="4775180"/>
            <a:ext cx="1503639" cy="368320"/>
          </a:xfrm>
          <a:prstGeom prst="rect">
            <a:avLst/>
          </a:prstGeom>
          <a:noFill/>
          <a:ln/>
        </p:spPr>
        <p:txBody>
          <a:bodyPr wrap="square" lIns="0" tIns="0" rIns="0" bIns="0" rtlCol="0" anchor="ctr"/>
          <a:lstStyle/>
          <a:p>
            <a:pPr algn="ctr" indent="0" marL="0">
              <a:buNone/>
            </a:pPr>
            <a:r>
              <a:rPr lang="en-US" sz="1200" dirty="0">
                <a:solidFill>
                  <a:srgbClr val="1B2233"/>
                </a:solidFill>
                <a:latin typeface="Consolas" pitchFamily="34" charset="0"/>
                <a:ea typeface="Consolas" pitchFamily="34" charset="-122"/>
                <a:cs typeface="Consolas" pitchFamily="34" charset="-120"/>
              </a:rPr>
              <a:t>:-  means IF</a:t>
            </a:r>
            <a:endParaRPr lang="en-US" sz="1200" dirty="0"/>
          </a:p>
        </p:txBody>
      </p:sp>
      <p:sp>
        <p:nvSpPr>
          <p:cNvPr id="24" name="Shape 21"/>
          <p:cNvSpPr/>
          <p:nvPr/>
        </p:nvSpPr>
        <p:spPr>
          <a:xfrm>
            <a:off x="2443460" y="4775180"/>
            <a:ext cx="1503639" cy="368320"/>
          </a:xfrm>
          <a:prstGeom prst="roundRect">
            <a:avLst>
              <a:gd name="adj" fmla="val 19861"/>
            </a:avLst>
          </a:prstGeom>
          <a:solidFill>
            <a:srgbClr val="EFEEE9"/>
          </a:solidFill>
          <a:ln/>
        </p:spPr>
      </p:sp>
      <p:sp>
        <p:nvSpPr>
          <p:cNvPr id="25" name="Text 22"/>
          <p:cNvSpPr txBox="1"/>
          <p:nvPr/>
        </p:nvSpPr>
        <p:spPr>
          <a:xfrm>
            <a:off x="2443460" y="4775180"/>
            <a:ext cx="1503639" cy="368320"/>
          </a:xfrm>
          <a:prstGeom prst="rect">
            <a:avLst/>
          </a:prstGeom>
          <a:noFill/>
          <a:ln/>
        </p:spPr>
        <p:txBody>
          <a:bodyPr wrap="square" lIns="0" tIns="0" rIns="0" bIns="0" rtlCol="0" anchor="ctr"/>
          <a:lstStyle/>
          <a:p>
            <a:pPr algn="ctr" indent="0" marL="0">
              <a:buNone/>
            </a:pPr>
            <a:r>
              <a:rPr lang="en-US" sz="1200" dirty="0">
                <a:solidFill>
                  <a:srgbClr val="1B2233"/>
                </a:solidFill>
                <a:latin typeface="Consolas" pitchFamily="34" charset="0"/>
                <a:ea typeface="Consolas" pitchFamily="34" charset="-122"/>
                <a:cs typeface="Consolas" pitchFamily="34" charset="-120"/>
              </a:rPr>
              <a:t>,  means AND</a:t>
            </a:r>
            <a:endParaRPr lang="en-US" sz="1200" dirty="0"/>
          </a:p>
        </p:txBody>
      </p:sp>
      <p:sp>
        <p:nvSpPr>
          <p:cNvPr id="26" name="Shape 23"/>
          <p:cNvSpPr/>
          <p:nvPr/>
        </p:nvSpPr>
        <p:spPr>
          <a:xfrm>
            <a:off x="4074201" y="4775180"/>
            <a:ext cx="1412199" cy="368320"/>
          </a:xfrm>
          <a:prstGeom prst="roundRect">
            <a:avLst>
              <a:gd name="adj" fmla="val 19861"/>
            </a:avLst>
          </a:prstGeom>
          <a:solidFill>
            <a:srgbClr val="EFEEE9"/>
          </a:solidFill>
          <a:ln/>
        </p:spPr>
      </p:sp>
      <p:sp>
        <p:nvSpPr>
          <p:cNvPr id="27" name="Text 24"/>
          <p:cNvSpPr txBox="1"/>
          <p:nvPr/>
        </p:nvSpPr>
        <p:spPr>
          <a:xfrm>
            <a:off x="4074201" y="4775180"/>
            <a:ext cx="1412199" cy="368320"/>
          </a:xfrm>
          <a:prstGeom prst="rect">
            <a:avLst/>
          </a:prstGeom>
          <a:noFill/>
          <a:ln/>
        </p:spPr>
        <p:txBody>
          <a:bodyPr wrap="square" lIns="0" tIns="0" rIns="0" bIns="0" rtlCol="0" anchor="ctr"/>
          <a:lstStyle/>
          <a:p>
            <a:pPr algn="ctr" indent="0" marL="0">
              <a:buNone/>
            </a:pPr>
            <a:r>
              <a:rPr lang="en-US" sz="1200" dirty="0">
                <a:solidFill>
                  <a:srgbClr val="1B2233"/>
                </a:solidFill>
                <a:latin typeface="Consolas" pitchFamily="34" charset="0"/>
                <a:ea typeface="Consolas" pitchFamily="34" charset="-122"/>
                <a:cs typeface="Consolas" pitchFamily="34" charset="-120"/>
              </a:rPr>
              <a:t>;  means OR</a:t>
            </a:r>
            <a:endParaRPr lang="en-US" sz="1200" dirty="0"/>
          </a:p>
        </p:txBody>
      </p:sp>
      <p:sp>
        <p:nvSpPr>
          <p:cNvPr id="28" name="Shape 25"/>
          <p:cNvSpPr/>
          <p:nvPr/>
        </p:nvSpPr>
        <p:spPr>
          <a:xfrm>
            <a:off x="5613410" y="4775180"/>
            <a:ext cx="1595079" cy="368320"/>
          </a:xfrm>
          <a:prstGeom prst="roundRect">
            <a:avLst>
              <a:gd name="adj" fmla="val 19861"/>
            </a:avLst>
          </a:prstGeom>
          <a:solidFill>
            <a:srgbClr val="EFEEE9"/>
          </a:solidFill>
          <a:ln/>
        </p:spPr>
      </p:sp>
      <p:sp>
        <p:nvSpPr>
          <p:cNvPr id="29" name="Text 26"/>
          <p:cNvSpPr txBox="1"/>
          <p:nvPr/>
        </p:nvSpPr>
        <p:spPr>
          <a:xfrm>
            <a:off x="5613410" y="4775180"/>
            <a:ext cx="1595079" cy="368320"/>
          </a:xfrm>
          <a:prstGeom prst="rect">
            <a:avLst/>
          </a:prstGeom>
          <a:noFill/>
          <a:ln/>
        </p:spPr>
        <p:txBody>
          <a:bodyPr wrap="square" lIns="0" tIns="0" rIns="0" bIns="0" rtlCol="0" anchor="ctr"/>
          <a:lstStyle/>
          <a:p>
            <a:pPr algn="ctr" indent="0" marL="0">
              <a:buNone/>
            </a:pPr>
            <a:r>
              <a:rPr lang="en-US" sz="1200" dirty="0">
                <a:solidFill>
                  <a:srgbClr val="1B2233"/>
                </a:solidFill>
                <a:latin typeface="Consolas" pitchFamily="34" charset="0"/>
                <a:ea typeface="Consolas" pitchFamily="34" charset="-122"/>
                <a:cs typeface="Consolas" pitchFamily="34" charset="-120"/>
              </a:rPr>
              <a:t>\+  means NOT</a:t>
            </a:r>
            <a:endParaRPr lang="en-US" sz="1200" dirty="0"/>
          </a:p>
        </p:txBody>
      </p:sp>
      <p:sp>
        <p:nvSpPr>
          <p:cNvPr id="30" name="Shape 27"/>
          <p:cNvSpPr/>
          <p:nvPr/>
        </p:nvSpPr>
        <p:spPr>
          <a:xfrm>
            <a:off x="7335500" y="4775180"/>
            <a:ext cx="1595079" cy="368320"/>
          </a:xfrm>
          <a:prstGeom prst="roundRect">
            <a:avLst>
              <a:gd name="adj" fmla="val 19861"/>
            </a:avLst>
          </a:prstGeom>
          <a:solidFill>
            <a:srgbClr val="EFEEE9"/>
          </a:solidFill>
          <a:ln/>
        </p:spPr>
      </p:sp>
      <p:sp>
        <p:nvSpPr>
          <p:cNvPr id="31" name="Text 28"/>
          <p:cNvSpPr txBox="1"/>
          <p:nvPr/>
        </p:nvSpPr>
        <p:spPr>
          <a:xfrm>
            <a:off x="7335500" y="4775180"/>
            <a:ext cx="1595079" cy="368320"/>
          </a:xfrm>
          <a:prstGeom prst="rect">
            <a:avLst/>
          </a:prstGeom>
          <a:noFill/>
          <a:ln/>
        </p:spPr>
        <p:txBody>
          <a:bodyPr wrap="square" lIns="0" tIns="0" rIns="0" bIns="0" rtlCol="0" anchor="ctr"/>
          <a:lstStyle/>
          <a:p>
            <a:pPr algn="ctr" indent="0" marL="0">
              <a:buNone/>
            </a:pPr>
            <a:r>
              <a:rPr lang="en-US" sz="1200" dirty="0">
                <a:solidFill>
                  <a:srgbClr val="1B2233"/>
                </a:solidFill>
                <a:latin typeface="Consolas" pitchFamily="34" charset="0"/>
                <a:ea typeface="Consolas" pitchFamily="34" charset="-122"/>
                <a:cs typeface="Consolas" pitchFamily="34" charset="-120"/>
              </a:rPr>
              <a:t>X  = variable</a:t>
            </a:r>
            <a:endParaRPr lang="en-US" sz="1200" dirty="0"/>
          </a:p>
        </p:txBody>
      </p:sp>
      <p:sp>
        <p:nvSpPr>
          <p:cNvPr id="32" name="Shape 29"/>
          <p:cNvSpPr/>
          <p:nvPr/>
        </p:nvSpPr>
        <p:spPr>
          <a:xfrm>
            <a:off x="9057681" y="4775180"/>
            <a:ext cx="1777959" cy="368320"/>
          </a:xfrm>
          <a:prstGeom prst="roundRect">
            <a:avLst>
              <a:gd name="adj" fmla="val 19861"/>
            </a:avLst>
          </a:prstGeom>
          <a:solidFill>
            <a:srgbClr val="EFEEE9"/>
          </a:solidFill>
          <a:ln/>
        </p:spPr>
      </p:sp>
      <p:sp>
        <p:nvSpPr>
          <p:cNvPr id="33" name="Text 30"/>
          <p:cNvSpPr txBox="1"/>
          <p:nvPr/>
        </p:nvSpPr>
        <p:spPr>
          <a:xfrm>
            <a:off x="9057681" y="4775180"/>
            <a:ext cx="1777959" cy="368320"/>
          </a:xfrm>
          <a:prstGeom prst="rect">
            <a:avLst/>
          </a:prstGeom>
          <a:noFill/>
          <a:ln/>
        </p:spPr>
        <p:txBody>
          <a:bodyPr wrap="square" lIns="0" tIns="0" rIns="0" bIns="0" rtlCol="0" anchor="ctr"/>
          <a:lstStyle/>
          <a:p>
            <a:pPr algn="ctr" indent="0" marL="0">
              <a:buNone/>
            </a:pPr>
            <a:r>
              <a:rPr lang="en-US" sz="1200" dirty="0">
                <a:solidFill>
                  <a:srgbClr val="1B2233"/>
                </a:solidFill>
                <a:latin typeface="Consolas" pitchFamily="34" charset="0"/>
                <a:ea typeface="Consolas" pitchFamily="34" charset="-122"/>
                <a:cs typeface="Consolas" pitchFamily="34" charset="-120"/>
              </a:rPr>
              <a:t>tom  = constant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02 · CORE CONCEPTS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Representing IF-THEN rules as Prolog clauses</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Sources: Bratko (2012), Ch. 1–2; Kowalski (1979)</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08</a:t>
            </a:r>
            <a:endParaRPr lang="en-US" sz="1200" dirty="0"/>
          </a:p>
        </p:txBody>
      </p:sp>
      <p:sp>
        <p:nvSpPr>
          <p:cNvPr id="7" name="Shape 4"/>
          <p:cNvSpPr/>
          <p:nvPr/>
        </p:nvSpPr>
        <p:spPr>
          <a:xfrm>
            <a:off x="812810" y="1625620"/>
            <a:ext cx="10566441" cy="787390"/>
          </a:xfrm>
          <a:prstGeom prst="roundRect">
            <a:avLst>
              <a:gd name="adj" fmla="val 9290"/>
            </a:avLst>
          </a:prstGeom>
          <a:solidFill>
            <a:srgbClr val="F6E9E1"/>
          </a:solidFill>
          <a:ln/>
        </p:spPr>
      </p:sp>
      <p:sp>
        <p:nvSpPr>
          <p:cNvPr id="8" name="Text 5"/>
          <p:cNvSpPr txBox="1"/>
          <p:nvPr/>
        </p:nvSpPr>
        <p:spPr>
          <a:xfrm>
            <a:off x="1015990" y="1625620"/>
            <a:ext cx="10159990" cy="787390"/>
          </a:xfrm>
          <a:prstGeom prst="rect">
            <a:avLst/>
          </a:prstGeom>
          <a:noFill/>
          <a:ln/>
        </p:spPr>
        <p:txBody>
          <a:bodyPr wrap="square" lIns="0" tIns="0" rIns="0" bIns="0" rtlCol="0" anchor="ctr"/>
          <a:lstStyle/>
          <a:p>
            <a:pPr indent="0" marL="0">
              <a:lnSpc>
                <a:spcPct val="125000"/>
              </a:lnSpc>
              <a:buNone/>
            </a:pPr>
            <a:r>
              <a:rPr lang="en-US" sz="1700" dirty="0">
                <a:solidFill>
                  <a:srgbClr val="1B2233"/>
                </a:solidFill>
                <a:latin typeface="Cambria" pitchFamily="34" charset="0"/>
                <a:ea typeface="Cambria" pitchFamily="34" charset="-122"/>
                <a:cs typeface="Cambria" pitchFamily="34" charset="-120"/>
              </a:rPr>
              <a:t>IF p1 AND … AND pn THEN q    ≡    q ← p1 ∧ … ∧ pn    ≡    ¬p1 ∨ … ∨ ¬pn ∨ q</a:t>
            </a:r>
            <a:endParaRPr lang="en-US" sz="1300" dirty="0"/>
          </a:p>
          <a:p>
            <a:pPr indent="0" marL="0">
              <a:lnSpc>
                <a:spcPct val="125000"/>
              </a:lnSpc>
              <a:buNone/>
            </a:pPr>
            <a:r>
              <a:rPr lang="en-US" sz="1200" dirty="0">
                <a:solidFill>
                  <a:srgbClr val="4A5264"/>
                </a:solidFill>
                <a:latin typeface="Calibri" pitchFamily="34" charset="0"/>
                <a:ea typeface="Calibri" pitchFamily="34" charset="-122"/>
                <a:cs typeface="Calibri" pitchFamily="34" charset="-120"/>
              </a:rPr>
              <a:t>A Horn clause (at most one positive literal): exactly the shape of a Prolog clause, written q :- p1, …, pn.</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12810" y="2565441"/>
          <a:ext cx="10566441" cy="914400"/>
        </p:xfrm>
        <a:graphic>
          <a:graphicData uri="http://schemas.openxmlformats.org/drawingml/2006/table">
            <a:tbl>
              <a:tblPr/>
              <a:tblGrid>
                <a:gridCol w="4826020"/>
                <a:gridCol w="5740420"/>
              </a:tblGrid>
              <a:tr h="0">
                <a:tc>
                  <a:txBody>
                    <a:bodyPr/>
                    <a:lstStyle/>
                    <a:p>
                      <a:pPr indent="0" marL="0">
                        <a:buNone/>
                      </a:pPr>
                      <a:r>
                        <a:rPr lang="en-US" sz="1300" b="1" dirty="0">
                          <a:solidFill>
                            <a:srgbClr val="F3EFE4"/>
                          </a:solidFill>
                          <a:latin typeface="Calibri" pitchFamily="34" charset="0"/>
                          <a:ea typeface="Calibri" pitchFamily="34" charset="-122"/>
                          <a:cs typeface="Calibri" pitchFamily="34" charset="-120"/>
                        </a:rPr>
                        <a:t>IF-THEN rule</a:t>
                      </a:r>
                      <a:endParaRPr lang="en-US" sz="1300" dirty="0">
                        <a:latin typeface="Calibri" charset="0"/>
                        <a:ea typeface="Calibri" charset="0"/>
                        <a:cs typeface="Calibri"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1E2433"/>
                    </a:solidFill>
                  </a:tcPr>
                </a:tc>
                <a:tc>
                  <a:txBody>
                    <a:bodyPr/>
                    <a:lstStyle/>
                    <a:p>
                      <a:pPr indent="0" marL="0">
                        <a:buNone/>
                      </a:pPr>
                      <a:r>
                        <a:rPr lang="en-US" sz="1300" b="1" dirty="0">
                          <a:solidFill>
                            <a:srgbClr val="F3EFE4"/>
                          </a:solidFill>
                          <a:latin typeface="Calibri" pitchFamily="34" charset="0"/>
                          <a:ea typeface="Calibri" pitchFamily="34" charset="-122"/>
                          <a:cs typeface="Calibri" pitchFamily="34" charset="-120"/>
                        </a:rPr>
                        <a:t>Prolog clause</a:t>
                      </a:r>
                      <a:endParaRPr lang="en-US" sz="1300" dirty="0">
                        <a:latin typeface="Calibri" charset="0"/>
                        <a:ea typeface="Calibri" charset="0"/>
                        <a:cs typeface="Calibri"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1E2433"/>
                    </a:solidFill>
                  </a:tcPr>
                </a:tc>
              </a:tr>
              <a:tr h="0">
                <a:tc>
                  <a:txBody>
                    <a:bodyPr/>
                    <a:lstStyle/>
                    <a:p>
                      <a:pPr indent="0" marL="0">
                        <a:buNone/>
                      </a:pPr>
                      <a:r>
                        <a:rPr lang="en-US" sz="1300" dirty="0">
                          <a:solidFill>
                            <a:srgbClr val="1B2233"/>
                          </a:solidFill>
                          <a:latin typeface="Calibri" pitchFamily="34" charset="0"/>
                          <a:ea typeface="Calibri" pitchFamily="34" charset="-122"/>
                          <a:cs typeface="Calibri" pitchFamily="34" charset="-120"/>
                        </a:rPr>
                        <a:t>Fact: the animal has hair</a:t>
                      </a:r>
                      <a:endParaRPr lang="en-US" sz="1300" dirty="0">
                        <a:latin typeface="Calibri" charset="0"/>
                        <a:ea typeface="Calibri" charset="0"/>
                        <a:cs typeface="Calibri"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indent="0" marL="0">
                        <a:buNone/>
                      </a:pPr>
                      <a:r>
                        <a:rPr lang="en-US" sz="1200" dirty="0">
                          <a:solidFill>
                            <a:srgbClr val="A8441A"/>
                          </a:solidFill>
                          <a:latin typeface="Consolas" pitchFamily="34" charset="0"/>
                          <a:ea typeface="Consolas" pitchFamily="34" charset="-122"/>
                          <a:cs typeface="Consolas" pitchFamily="34" charset="-120"/>
                        </a:rPr>
                        <a:t>has(hair).</a:t>
                      </a:r>
                      <a:endParaRPr lang="en-US" sz="1200" dirty="0">
                        <a:latin typeface="Consolas" charset="0"/>
                        <a:ea typeface="Consolas" charset="0"/>
                        <a:cs typeface="Consolas"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B2233"/>
                          </a:solidFill>
                          <a:latin typeface="Calibri" pitchFamily="34" charset="0"/>
                          <a:ea typeface="Calibri" pitchFamily="34" charset="-122"/>
                          <a:cs typeface="Calibri" pitchFamily="34" charset="-120"/>
                        </a:rPr>
                        <a:t>IF p THEN q</a:t>
                      </a:r>
                      <a:endParaRPr lang="en-US" sz="1300" dirty="0">
                        <a:latin typeface="Calibri" charset="0"/>
                        <a:ea typeface="Calibri" charset="0"/>
                        <a:cs typeface="Calibri"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indent="0" marL="0">
                        <a:buNone/>
                      </a:pPr>
                      <a:r>
                        <a:rPr lang="en-US" sz="1200" dirty="0">
                          <a:solidFill>
                            <a:srgbClr val="A8441A"/>
                          </a:solidFill>
                          <a:latin typeface="Consolas" pitchFamily="34" charset="0"/>
                          <a:ea typeface="Consolas" pitchFamily="34" charset="-122"/>
                          <a:cs typeface="Consolas" pitchFamily="34" charset="-120"/>
                        </a:rPr>
                        <a:t>q :- p.</a:t>
                      </a:r>
                      <a:endParaRPr lang="en-US" sz="1200" dirty="0">
                        <a:latin typeface="Consolas" charset="0"/>
                        <a:ea typeface="Consolas" charset="0"/>
                        <a:cs typeface="Consolas"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r>
              <a:tr h="0">
                <a:tc>
                  <a:txBody>
                    <a:bodyPr/>
                    <a:lstStyle/>
                    <a:p>
                      <a:pPr indent="0" marL="0">
                        <a:buNone/>
                      </a:pPr>
                      <a:r>
                        <a:rPr lang="en-US" sz="1300" dirty="0">
                          <a:solidFill>
                            <a:srgbClr val="1B2233"/>
                          </a:solidFill>
                          <a:latin typeface="Calibri" pitchFamily="34" charset="0"/>
                          <a:ea typeface="Calibri" pitchFamily="34" charset="-122"/>
                          <a:cs typeface="Calibri" pitchFamily="34" charset="-120"/>
                        </a:rPr>
                        <a:t>IF p AND q THEN r</a:t>
                      </a:r>
                      <a:endParaRPr lang="en-US" sz="1300" dirty="0">
                        <a:latin typeface="Calibri" charset="0"/>
                        <a:ea typeface="Calibri" charset="0"/>
                        <a:cs typeface="Calibri"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indent="0" marL="0">
                        <a:buNone/>
                      </a:pPr>
                      <a:r>
                        <a:rPr lang="en-US" sz="1200" dirty="0">
                          <a:solidFill>
                            <a:srgbClr val="A8441A"/>
                          </a:solidFill>
                          <a:latin typeface="Consolas" pitchFamily="34" charset="0"/>
                          <a:ea typeface="Consolas" pitchFamily="34" charset="-122"/>
                          <a:cs typeface="Consolas" pitchFamily="34" charset="-120"/>
                        </a:rPr>
                        <a:t>r :- p, q.</a:t>
                      </a:r>
                      <a:endParaRPr lang="en-US" sz="1200" dirty="0">
                        <a:latin typeface="Consolas" charset="0"/>
                        <a:ea typeface="Consolas" charset="0"/>
                        <a:cs typeface="Consolas"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B2233"/>
                          </a:solidFill>
                          <a:latin typeface="Calibri" pitchFamily="34" charset="0"/>
                          <a:ea typeface="Calibri" pitchFamily="34" charset="-122"/>
                          <a:cs typeface="Calibri" pitchFamily="34" charset="-120"/>
                        </a:rPr>
                        <a:t>IF p OR q THEN r</a:t>
                      </a:r>
                      <a:endParaRPr lang="en-US" sz="1300" dirty="0">
                        <a:latin typeface="Calibri" charset="0"/>
                        <a:ea typeface="Calibri" charset="0"/>
                        <a:cs typeface="Calibri"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indent="0" marL="0">
                        <a:buNone/>
                      </a:pPr>
                      <a:r>
                        <a:rPr lang="en-US" sz="1200" dirty="0">
                          <a:solidFill>
                            <a:srgbClr val="A8441A"/>
                          </a:solidFill>
                          <a:latin typeface="Consolas" pitchFamily="34" charset="0"/>
                          <a:ea typeface="Consolas" pitchFamily="34" charset="-122"/>
                          <a:cs typeface="Consolas" pitchFamily="34" charset="-120"/>
                        </a:rPr>
                        <a:t>r :- p.   r :- q.   % two clauses</a:t>
                      </a:r>
                      <a:endParaRPr lang="en-US" sz="1200" dirty="0">
                        <a:latin typeface="Consolas" charset="0"/>
                        <a:ea typeface="Consolas" charset="0"/>
                        <a:cs typeface="Consolas"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r>
              <a:tr h="0">
                <a:tc>
                  <a:txBody>
                    <a:bodyPr/>
                    <a:lstStyle/>
                    <a:p>
                      <a:pPr indent="0" marL="0">
                        <a:buNone/>
                      </a:pPr>
                      <a:r>
                        <a:rPr lang="en-US" sz="1300" dirty="0">
                          <a:solidFill>
                            <a:srgbClr val="1B2233"/>
                          </a:solidFill>
                          <a:latin typeface="Calibri" pitchFamily="34" charset="0"/>
                          <a:ea typeface="Calibri" pitchFamily="34" charset="-122"/>
                          <a:cs typeface="Calibri" pitchFamily="34" charset="-120"/>
                        </a:rPr>
                        <a:t>IF p AND NOT q THEN r</a:t>
                      </a:r>
                      <a:endParaRPr lang="en-US" sz="1300" dirty="0">
                        <a:latin typeface="Calibri" charset="0"/>
                        <a:ea typeface="Calibri" charset="0"/>
                        <a:cs typeface="Calibri"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indent="0" marL="0">
                        <a:buNone/>
                      </a:pPr>
                      <a:r>
                        <a:rPr lang="en-US" sz="1200" dirty="0">
                          <a:solidFill>
                            <a:srgbClr val="A8441A"/>
                          </a:solidFill>
                          <a:latin typeface="Consolas" pitchFamily="34" charset="0"/>
                          <a:ea typeface="Consolas" pitchFamily="34" charset="-122"/>
                          <a:cs typeface="Consolas" pitchFamily="34" charset="-120"/>
                        </a:rPr>
                        <a:t>r :- p, \+ q.</a:t>
                      </a:r>
                      <a:endParaRPr lang="en-US" sz="1200" dirty="0">
                        <a:latin typeface="Consolas" charset="0"/>
                        <a:ea typeface="Consolas" charset="0"/>
                        <a:cs typeface="Consolas"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B2233"/>
                          </a:solidFill>
                          <a:latin typeface="Calibri" pitchFamily="34" charset="0"/>
                          <a:ea typeface="Calibri" pitchFamily="34" charset="-122"/>
                          <a:cs typeface="Calibri" pitchFamily="34" charset="-120"/>
                        </a:rPr>
                        <a:t>IF X is a parent of Y AND Y is a parent of Z THEN X is a grandparent of Z</a:t>
                      </a:r>
                      <a:endParaRPr lang="en-US" sz="1300" dirty="0">
                        <a:latin typeface="Calibri" charset="0"/>
                        <a:ea typeface="Calibri" charset="0"/>
                        <a:cs typeface="Calibri"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indent="0" marL="0">
                        <a:buNone/>
                      </a:pPr>
                      <a:r>
                        <a:rPr lang="en-US" sz="1200" dirty="0">
                          <a:solidFill>
                            <a:srgbClr val="A8441A"/>
                          </a:solidFill>
                          <a:latin typeface="Consolas" pitchFamily="34" charset="0"/>
                          <a:ea typeface="Consolas" pitchFamily="34" charset="-122"/>
                          <a:cs typeface="Consolas" pitchFamily="34" charset="-120"/>
                        </a:rPr>
                        <a:t>grandparent(X, Z) :-</a:t>
                      </a:r>
                      <a:endParaRPr lang="en-US" sz="1200" dirty="0">
                        <a:latin typeface="Consolas" charset="0"/>
                        <a:ea typeface="Consolas" charset="0"/>
                        <a:cs typeface="Consolas" charset="0"/>
                      </a:endParaRPr>
                    </a:p>
                    <a:p>
                      <a:pPr indent="0" marL="0">
                        <a:buNone/>
                      </a:pPr>
                      <a:r>
                        <a:rPr lang="en-US" sz="1200" dirty="0">
                          <a:solidFill>
                            <a:srgbClr val="A8441A"/>
                          </a:solidFill>
                          <a:latin typeface="Consolas" pitchFamily="34" charset="0"/>
                          <a:ea typeface="Consolas" pitchFamily="34" charset="-122"/>
                          <a:cs typeface="Consolas" pitchFamily="34" charset="-120"/>
                        </a:rPr>
                        <a:t>    parent(X, Y), parent(Y, Z).</a:t>
                      </a:r>
                      <a:endParaRPr lang="en-US" sz="1200" dirty="0">
                        <a:latin typeface="Consolas" charset="0"/>
                        <a:ea typeface="Consolas" charset="0"/>
                        <a:cs typeface="Consolas"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02 · CORE CONCEPTS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Example: animal rules written directly in Prolog</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 rules adapted from Winston (1992), as used in Bratko (2012), Ch. 15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09</a:t>
            </a:r>
            <a:endParaRPr lang="en-US" sz="1200" dirty="0"/>
          </a:p>
        </p:txBody>
      </p:sp>
      <p:sp>
        <p:nvSpPr>
          <p:cNvPr id="7" name="Shape 4"/>
          <p:cNvSpPr/>
          <p:nvPr/>
        </p:nvSpPr>
        <p:spPr>
          <a:xfrm>
            <a:off x="812810" y="1701790"/>
            <a:ext cx="5715000" cy="3289280"/>
          </a:xfrm>
          <a:prstGeom prst="roundRect">
            <a:avLst>
              <a:gd name="adj" fmla="val 2780"/>
            </a:avLst>
          </a:prstGeom>
          <a:solidFill>
            <a:srgbClr val="1E2433"/>
          </a:solidFill>
          <a:ln/>
        </p:spPr>
      </p:sp>
      <p:sp>
        <p:nvSpPr>
          <p:cNvPr id="8" name="Text 5"/>
          <p:cNvSpPr txBox="1"/>
          <p:nvPr/>
        </p:nvSpPr>
        <p:spPr>
          <a:xfrm>
            <a:off x="990570" y="1854220"/>
            <a:ext cx="5359390" cy="2984510"/>
          </a:xfrm>
          <a:prstGeom prst="rect">
            <a:avLst/>
          </a:prstGeom>
          <a:noFill/>
          <a:ln/>
        </p:spPr>
        <p:txBody>
          <a:bodyPr wrap="square" lIns="0" tIns="0" rIns="0" bIns="0" rtlCol="0" anchor="t"/>
          <a:lstStyle/>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IF it has hair THEN it is a mammal</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mammal :- has(hair).</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IF mammal AND eats meat THEN carnivore</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carnivore :- mammal, eats(meat).</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IF carnivore AND tawny AND dark spots</a:t>
            </a:r>
            <a:endParaRPr lang="en-US" sz="1200" dirty="0"/>
          </a:p>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THEN it is a cheetah</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animal(cheetah) :-</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carnivore, has(tawny_colour), has(dark_spots).</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facts observed about this animal</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has(hair).  has(tawny_colour).  has(dark_spots).</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eats(meat).</a:t>
            </a:r>
            <a:endParaRPr lang="en-US" sz="1200" dirty="0"/>
          </a:p>
        </p:txBody>
      </p:sp>
      <p:sp>
        <p:nvSpPr>
          <p:cNvPr id="9" name="Shape 6"/>
          <p:cNvSpPr/>
          <p:nvPr/>
        </p:nvSpPr>
        <p:spPr>
          <a:xfrm>
            <a:off x="6781830" y="1701790"/>
            <a:ext cx="4597420" cy="2222541"/>
          </a:xfrm>
          <a:prstGeom prst="roundRect">
            <a:avLst>
              <a:gd name="adj" fmla="val 4114"/>
            </a:avLst>
          </a:prstGeom>
          <a:solidFill>
            <a:srgbClr val="1E2433"/>
          </a:solidFill>
          <a:ln/>
        </p:spPr>
      </p:sp>
      <p:sp>
        <p:nvSpPr>
          <p:cNvPr id="10" name="Text 7"/>
          <p:cNvSpPr txBox="1"/>
          <p:nvPr/>
        </p:nvSpPr>
        <p:spPr>
          <a:xfrm>
            <a:off x="6959590" y="1854220"/>
            <a:ext cx="4241810" cy="1917680"/>
          </a:xfrm>
          <a:prstGeom prst="rect">
            <a:avLst/>
          </a:prstGeom>
          <a:noFill/>
          <a:ln/>
        </p:spPr>
        <p:txBody>
          <a:bodyPr wrap="square" lIns="0" tIns="0" rIns="0" bIns="0" rtlCol="0" anchor="t"/>
          <a:lstStyle/>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SWI-Prolog</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animal(X).</a:t>
            </a:r>
            <a:endParaRPr lang="en-US" sz="1200" dirty="0"/>
          </a:p>
          <a:p>
            <a:pPr indent="0" marL="0">
              <a:lnSpc>
                <a:spcPts val="1680"/>
              </a:lnSpc>
              <a:buNone/>
            </a:pPr>
            <a:r>
              <a:rPr lang="en-US" sz="1200" dirty="0">
                <a:solidFill>
                  <a:srgbClr val="8DB7F5"/>
                </a:solidFill>
                <a:latin typeface="Consolas" pitchFamily="34" charset="0"/>
                <a:ea typeface="Consolas" pitchFamily="34" charset="-122"/>
                <a:cs typeface="Consolas" pitchFamily="34" charset="-120"/>
              </a:rPr>
              <a:t>X = cheetah.</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carnivore.</a:t>
            </a:r>
            <a:endParaRPr lang="en-US" sz="1200" dirty="0"/>
          </a:p>
          <a:p>
            <a:pPr indent="0" marL="0">
              <a:lnSpc>
                <a:spcPts val="1680"/>
              </a:lnSpc>
              <a:buNone/>
            </a:pPr>
            <a:r>
              <a:rPr lang="en-US" sz="1200" dirty="0">
                <a:solidFill>
                  <a:srgbClr val="8DB7F5"/>
                </a:solidFill>
                <a:latin typeface="Consolas" pitchFamily="34" charset="0"/>
                <a:ea typeface="Consolas" pitchFamily="34" charset="-122"/>
                <a:cs typeface="Consolas" pitchFamily="34" charset="-120"/>
              </a:rPr>
              <a:t>true.</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animal(tiger).</a:t>
            </a:r>
            <a:endParaRPr lang="en-US" sz="1200" dirty="0"/>
          </a:p>
          <a:p>
            <a:pPr indent="0" marL="0">
              <a:lnSpc>
                <a:spcPts val="1680"/>
              </a:lnSpc>
              <a:buNone/>
            </a:pPr>
            <a:r>
              <a:rPr lang="en-US" sz="1200" dirty="0">
                <a:solidFill>
                  <a:srgbClr val="8DB7F5"/>
                </a:solidFill>
                <a:latin typeface="Consolas" pitchFamily="34" charset="0"/>
                <a:ea typeface="Consolas" pitchFamily="34" charset="-122"/>
                <a:cs typeface="Consolas" pitchFamily="34" charset="-120"/>
              </a:rPr>
              <a:t>false.</a:t>
            </a:r>
            <a:endParaRPr lang="en-US" sz="1200" dirty="0"/>
          </a:p>
        </p:txBody>
      </p:sp>
      <p:sp>
        <p:nvSpPr>
          <p:cNvPr id="11" name="Shape 8"/>
          <p:cNvSpPr/>
          <p:nvPr/>
        </p:nvSpPr>
        <p:spPr>
          <a:xfrm>
            <a:off x="6781830" y="4102090"/>
            <a:ext cx="4597420" cy="952530"/>
          </a:xfrm>
          <a:prstGeom prst="roundRect">
            <a:avLst>
              <a:gd name="adj" fmla="val 7680"/>
            </a:avLst>
          </a:prstGeom>
          <a:solidFill>
            <a:srgbClr val="F6E9E1"/>
          </a:solidFill>
          <a:ln/>
        </p:spPr>
      </p:sp>
      <p:sp>
        <p:nvSpPr>
          <p:cNvPr id="12" name="Text 9"/>
          <p:cNvSpPr txBox="1"/>
          <p:nvPr/>
        </p:nvSpPr>
        <p:spPr>
          <a:xfrm>
            <a:off x="6959590" y="4102090"/>
            <a:ext cx="4241810" cy="952530"/>
          </a:xfrm>
          <a:prstGeom prst="rect">
            <a:avLst/>
          </a:prstGeom>
          <a:noFill/>
          <a:ln/>
        </p:spPr>
        <p:txBody>
          <a:bodyPr wrap="square" lIns="0" tIns="0" rIns="0" bIns="0" rtlCol="0" anchor="ctr"/>
          <a:lstStyle/>
          <a:p>
            <a:pPr indent="0" marL="0">
              <a:lnSpc>
                <a:spcPct val="110000"/>
              </a:lnSpc>
              <a:buNone/>
            </a:pPr>
            <a:r>
              <a:rPr lang="en-US" sz="1300" b="1" dirty="0">
                <a:solidFill>
                  <a:srgbClr val="1B2233"/>
                </a:solidFill>
                <a:latin typeface="Calibri" pitchFamily="34" charset="0"/>
                <a:ea typeface="Calibri" pitchFamily="34" charset="-122"/>
                <a:cs typeface="Calibri" pitchFamily="34" charset="-120"/>
              </a:rPr>
              <a:t>Two gaps:</a:t>
            </a:r>
            <a:pPr indent="0" marL="0">
              <a:lnSpc>
                <a:spcPct val="110000"/>
              </a:lnSpc>
              <a:buNone/>
            </a:pPr>
            <a:r>
              <a:rPr lang="en-US" sz="1300" dirty="0">
                <a:solidFill>
                  <a:srgbClr val="1B2233"/>
                </a:solidFill>
                <a:latin typeface="Calibri" pitchFamily="34" charset="0"/>
                <a:ea typeface="Calibri" pitchFamily="34" charset="-122"/>
                <a:cs typeface="Calibri" pitchFamily="34" charset="-120"/>
              </a:rPr>
              <a:t> every fact must be typed in beforehand, and the answer comes with no explanation. Next: ask for facts and explain.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02 · CORE CONCEPTS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How Prolog runs rules: backward chaining</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Sources: Bratko (2012), Ch. 2; Russell &amp; Norvig (2020), Ch. 9</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10</a:t>
            </a:r>
            <a:endParaRPr lang="en-US" sz="1200" dirty="0"/>
          </a:p>
        </p:txBody>
      </p:sp>
      <p:sp>
        <p:nvSpPr>
          <p:cNvPr id="7" name="Text 4"/>
          <p:cNvSpPr txBox="1"/>
          <p:nvPr/>
        </p:nvSpPr>
        <p:spPr>
          <a:xfrm>
            <a:off x="812810" y="1701790"/>
            <a:ext cx="4444990" cy="508041"/>
          </a:xfrm>
          <a:prstGeom prst="rect">
            <a:avLst/>
          </a:prstGeom>
          <a:noFill/>
          <a:ln/>
        </p:spPr>
        <p:txBody>
          <a:bodyPr wrap="square" lIns="0" tIns="0" rIns="0" bIns="0" rtlCol="0" anchor="t"/>
          <a:lstStyle/>
          <a:p>
            <a:pPr indent="0" marL="0">
              <a:lnSpc>
                <a:spcPct val="110000"/>
              </a:lnSpc>
              <a:buNone/>
            </a:pPr>
            <a:r>
              <a:rPr lang="en-US" sz="1400" dirty="0">
                <a:solidFill>
                  <a:srgbClr val="1B2233"/>
                </a:solidFill>
                <a:latin typeface="Calibri" pitchFamily="34" charset="0"/>
                <a:ea typeface="Calibri" pitchFamily="34" charset="-122"/>
                <a:cs typeface="Calibri" pitchFamily="34" charset="-120"/>
              </a:rPr>
              <a:t>Prolog proves a query by working </a:t>
            </a:r>
            <a:pPr indent="0" marL="0">
              <a:lnSpc>
                <a:spcPct val="110000"/>
              </a:lnSpc>
              <a:buNone/>
            </a:pPr>
            <a:r>
              <a:rPr lang="en-US" sz="1400" b="1" dirty="0">
                <a:solidFill>
                  <a:srgbClr val="1B2233"/>
                </a:solidFill>
                <a:latin typeface="Calibri" pitchFamily="34" charset="0"/>
                <a:ea typeface="Calibri" pitchFamily="34" charset="-122"/>
                <a:cs typeface="Calibri" pitchFamily="34" charset="-120"/>
              </a:rPr>
              <a:t>backwards from the goal</a:t>
            </a:r>
            <a:pPr indent="0" marL="0">
              <a:lnSpc>
                <a:spcPct val="110000"/>
              </a:lnSpc>
              <a:buNone/>
            </a:pPr>
            <a:r>
              <a:rPr lang="en-US" sz="1400" dirty="0">
                <a:solidFill>
                  <a:srgbClr val="1B2233"/>
                </a:solidFill>
                <a:latin typeface="Calibri" pitchFamily="34" charset="0"/>
                <a:ea typeface="Calibri" pitchFamily="34" charset="-122"/>
                <a:cs typeface="Calibri" pitchFamily="34" charset="-120"/>
              </a:rPr>
              <a:t> (SLD resolution):</a:t>
            </a:r>
            <a:endParaRPr lang="en-US" sz="1400" dirty="0"/>
          </a:p>
        </p:txBody>
      </p:sp>
      <p:sp>
        <p:nvSpPr>
          <p:cNvPr id="8" name="Text 5"/>
          <p:cNvSpPr txBox="1"/>
          <p:nvPr/>
        </p:nvSpPr>
        <p:spPr>
          <a:xfrm>
            <a:off x="812810" y="2311420"/>
            <a:ext cx="4444990" cy="2540020"/>
          </a:xfrm>
          <a:prstGeom prst="rect">
            <a:avLst/>
          </a:prstGeom>
          <a:noFill/>
          <a:ln/>
        </p:spPr>
        <p:txBody>
          <a:bodyPr wrap="square" lIns="0" tIns="0" rIns="0" bIns="0" rtlCol="0" anchor="t"/>
          <a:lstStyle/>
          <a:p>
            <a:pPr marL="279400" indent="-279400">
              <a:lnSpc>
                <a:spcPct val="110000"/>
              </a:lnSpc>
              <a:spcAft>
                <a:spcPts val="1000"/>
              </a:spcAft>
              <a:buSzPct val="100000"/>
              <a:buFont typeface="+mj-lt"/>
              <a:buAutoNum type="arabicPeriod" startAt="1"/>
            </a:pPr>
            <a:r>
              <a:rPr lang="en-US" sz="1400" dirty="0">
                <a:solidFill>
                  <a:srgbClr val="4A5264"/>
                </a:solidFill>
                <a:latin typeface="Calibri" pitchFamily="34" charset="0"/>
                <a:ea typeface="Calibri" pitchFamily="34" charset="-122"/>
                <a:cs typeface="Calibri" pitchFamily="34" charset="-120"/>
              </a:rPr>
              <a:t>Take the leftmost goal in the goal list.</a:t>
            </a:r>
            <a:endParaRPr lang="en-US" sz="1400" dirty="0"/>
          </a:p>
          <a:p>
            <a:pPr marL="279400" indent="-279400">
              <a:lnSpc>
                <a:spcPct val="110000"/>
              </a:lnSpc>
              <a:spcAft>
                <a:spcPts val="1000"/>
              </a:spcAft>
              <a:buSzPct val="100000"/>
              <a:buFont typeface="+mj-lt"/>
              <a:buAutoNum type="arabicPeriod" startAt="1"/>
            </a:pPr>
            <a:r>
              <a:rPr lang="en-US" sz="1400" dirty="0">
                <a:solidFill>
                  <a:srgbClr val="4A5264"/>
                </a:solidFill>
                <a:latin typeface="Calibri" pitchFamily="34" charset="0"/>
                <a:ea typeface="Calibri" pitchFamily="34" charset="-122"/>
                <a:cs typeface="Calibri" pitchFamily="34" charset="-120"/>
              </a:rPr>
              <a:t>Find the first clause whose head unifies with it.</a:t>
            </a:r>
            <a:endParaRPr lang="en-US" sz="1400" dirty="0"/>
          </a:p>
          <a:p>
            <a:pPr marL="279400" indent="-279400">
              <a:lnSpc>
                <a:spcPct val="110000"/>
              </a:lnSpc>
              <a:spcAft>
                <a:spcPts val="1000"/>
              </a:spcAft>
              <a:buSzPct val="100000"/>
              <a:buFont typeface="+mj-lt"/>
              <a:buAutoNum type="arabicPeriod" startAt="1"/>
            </a:pPr>
            <a:r>
              <a:rPr lang="en-US" sz="1400" dirty="0">
                <a:solidFill>
                  <a:srgbClr val="4A5264"/>
                </a:solidFill>
                <a:latin typeface="Calibri" pitchFamily="34" charset="0"/>
                <a:ea typeface="Calibri" pitchFamily="34" charset="-122"/>
                <a:cs typeface="Calibri" pitchFamily="34" charset="-120"/>
              </a:rPr>
              <a:t>Replace the goal by that clause's body: its conditions become sub-goals.</a:t>
            </a:r>
            <a:endParaRPr lang="en-US" sz="1400" dirty="0"/>
          </a:p>
          <a:p>
            <a:pPr marL="279400" indent="-279400">
              <a:lnSpc>
                <a:spcPct val="110000"/>
              </a:lnSpc>
              <a:spcAft>
                <a:spcPts val="1000"/>
              </a:spcAft>
              <a:buSzPct val="100000"/>
              <a:buFont typeface="+mj-lt"/>
              <a:buAutoNum type="arabicPeriod" startAt="1"/>
            </a:pPr>
            <a:r>
              <a:rPr lang="en-US" sz="1400" dirty="0">
                <a:solidFill>
                  <a:srgbClr val="4A5264"/>
                </a:solidFill>
                <a:latin typeface="Calibri" pitchFamily="34" charset="0"/>
                <a:ea typeface="Calibri" pitchFamily="34" charset="-122"/>
                <a:cs typeface="Calibri" pitchFamily="34" charset="-120"/>
              </a:rPr>
              <a:t>Goal list empty: success, and the bindings are the answer.</a:t>
            </a:r>
            <a:endParaRPr lang="en-US" sz="1400" dirty="0"/>
          </a:p>
          <a:p>
            <a:pPr marL="279400" indent="-279400">
              <a:lnSpc>
                <a:spcPct val="110000"/>
              </a:lnSpc>
              <a:spcAft>
                <a:spcPts val="1000"/>
              </a:spcAft>
              <a:buSzPct val="100000"/>
              <a:buFont typeface="+mj-lt"/>
              <a:buAutoNum type="arabicPeriod" startAt="1"/>
            </a:pPr>
            <a:r>
              <a:rPr lang="en-US" sz="1400" dirty="0">
                <a:solidFill>
                  <a:srgbClr val="4A5264"/>
                </a:solidFill>
                <a:latin typeface="Calibri" pitchFamily="34" charset="0"/>
                <a:ea typeface="Calibri" pitchFamily="34" charset="-122"/>
                <a:cs typeface="Calibri" pitchFamily="34" charset="-120"/>
              </a:rPr>
              <a:t>No clause fits: backtrack to the last choice and try the next clause.</a:t>
            </a:r>
            <a:endParaRPr lang="en-US" sz="1400" dirty="0"/>
          </a:p>
        </p:txBody>
      </p:sp>
      <p:sp>
        <p:nvSpPr>
          <p:cNvPr id="9" name="Shape 6"/>
          <p:cNvSpPr/>
          <p:nvPr/>
        </p:nvSpPr>
        <p:spPr>
          <a:xfrm>
            <a:off x="812810" y="5016490"/>
            <a:ext cx="4444990" cy="634959"/>
          </a:xfrm>
          <a:prstGeom prst="roundRect">
            <a:avLst>
              <a:gd name="adj" fmla="val 11521"/>
            </a:avLst>
          </a:prstGeom>
          <a:solidFill>
            <a:srgbClr val="F6E9E1"/>
          </a:solidFill>
          <a:ln/>
        </p:spPr>
      </p:sp>
      <p:sp>
        <p:nvSpPr>
          <p:cNvPr id="10" name="Text 7"/>
          <p:cNvSpPr txBox="1"/>
          <p:nvPr/>
        </p:nvSpPr>
        <p:spPr>
          <a:xfrm>
            <a:off x="990570" y="5016490"/>
            <a:ext cx="4089380" cy="634959"/>
          </a:xfrm>
          <a:prstGeom prst="rect">
            <a:avLst/>
          </a:prstGeom>
          <a:noFill/>
          <a:ln/>
        </p:spPr>
        <p:txBody>
          <a:bodyPr wrap="square" lIns="0" tIns="0" rIns="0" bIns="0" rtlCol="0" anchor="ctr"/>
          <a:lstStyle/>
          <a:p>
            <a:pPr indent="0" marL="0">
              <a:lnSpc>
                <a:spcPct val="110000"/>
              </a:lnSpc>
              <a:buNone/>
            </a:pPr>
            <a:r>
              <a:rPr lang="en-US" sz="1300" dirty="0">
                <a:solidFill>
                  <a:srgbClr val="1B2233"/>
                </a:solidFill>
                <a:latin typeface="Calibri" pitchFamily="34" charset="0"/>
                <a:ea typeface="Calibri" pitchFamily="34" charset="-122"/>
                <a:cs typeface="Calibri" pitchFamily="34" charset="-120"/>
              </a:rPr>
              <a:t>Search order: depth-first, goals left to right, clauses top to bottom.</a:t>
            </a:r>
            <a:endParaRPr lang="en-US" sz="1300" dirty="0"/>
          </a:p>
        </p:txBody>
      </p:sp>
      <p:sp>
        <p:nvSpPr>
          <p:cNvPr id="11" name="Shape 8"/>
          <p:cNvSpPr/>
          <p:nvPr/>
        </p:nvSpPr>
        <p:spPr>
          <a:xfrm>
            <a:off x="7442210" y="1701790"/>
            <a:ext cx="2158990" cy="381030"/>
          </a:xfrm>
          <a:prstGeom prst="roundRect">
            <a:avLst>
              <a:gd name="adj" fmla="val 23998"/>
            </a:avLst>
          </a:prstGeom>
          <a:solidFill>
            <a:srgbClr val="1E2433"/>
          </a:solidFill>
          <a:ln w="25400">
            <a:solidFill>
              <a:srgbClr val="1E2433"/>
            </a:solidFill>
            <a:prstDash val="solid"/>
          </a:ln>
        </p:spPr>
      </p:sp>
      <p:sp>
        <p:nvSpPr>
          <p:cNvPr id="12" name="Text 9"/>
          <p:cNvSpPr txBox="1"/>
          <p:nvPr/>
        </p:nvSpPr>
        <p:spPr>
          <a:xfrm>
            <a:off x="7442210" y="1701790"/>
            <a:ext cx="2158990" cy="381030"/>
          </a:xfrm>
          <a:prstGeom prst="rect">
            <a:avLst/>
          </a:prstGeom>
          <a:noFill/>
          <a:ln/>
        </p:spPr>
        <p:txBody>
          <a:bodyPr wrap="square" lIns="0" tIns="0" rIns="0" bIns="0" rtlCol="0" anchor="ctr"/>
          <a:lstStyle/>
          <a:p>
            <a:pPr algn="ctr" indent="0" marL="0">
              <a:buNone/>
            </a:pPr>
            <a:r>
              <a:rPr lang="en-US" sz="1200" dirty="0">
                <a:solidFill>
                  <a:srgbClr val="F3EFE4"/>
                </a:solidFill>
                <a:latin typeface="Consolas" pitchFamily="34" charset="0"/>
                <a:ea typeface="Consolas" pitchFamily="34" charset="-122"/>
                <a:cs typeface="Consolas" pitchFamily="34" charset="-120"/>
              </a:rPr>
              <a:t>?- animal(cheetah)</a:t>
            </a:r>
            <a:endParaRPr lang="en-US" sz="1200" dirty="0"/>
          </a:p>
        </p:txBody>
      </p:sp>
      <p:sp>
        <p:nvSpPr>
          <p:cNvPr id="13" name="Shape 10"/>
          <p:cNvSpPr/>
          <p:nvPr/>
        </p:nvSpPr>
        <p:spPr>
          <a:xfrm>
            <a:off x="5664159" y="2590770"/>
            <a:ext cx="1752630" cy="381030"/>
          </a:xfrm>
          <a:prstGeom prst="roundRect">
            <a:avLst>
              <a:gd name="adj" fmla="val 23998"/>
            </a:avLst>
          </a:prstGeom>
          <a:solidFill>
            <a:srgbClr val="1E2433"/>
          </a:solidFill>
          <a:ln w="25400">
            <a:solidFill>
              <a:srgbClr val="1E2433"/>
            </a:solidFill>
            <a:prstDash val="solid"/>
          </a:ln>
        </p:spPr>
      </p:sp>
      <p:sp>
        <p:nvSpPr>
          <p:cNvPr id="14" name="Text 11"/>
          <p:cNvSpPr txBox="1"/>
          <p:nvPr/>
        </p:nvSpPr>
        <p:spPr>
          <a:xfrm>
            <a:off x="5664159" y="2590770"/>
            <a:ext cx="1752630" cy="381030"/>
          </a:xfrm>
          <a:prstGeom prst="rect">
            <a:avLst/>
          </a:prstGeom>
          <a:noFill/>
          <a:ln/>
        </p:spPr>
        <p:txBody>
          <a:bodyPr wrap="square" lIns="0" tIns="0" rIns="0" bIns="0" rtlCol="0" anchor="ctr"/>
          <a:lstStyle/>
          <a:p>
            <a:pPr algn="ctr" indent="0" marL="0">
              <a:buNone/>
            </a:pPr>
            <a:r>
              <a:rPr lang="en-US" sz="1200" dirty="0">
                <a:solidFill>
                  <a:srgbClr val="F3EFE4"/>
                </a:solidFill>
                <a:latin typeface="Consolas" pitchFamily="34" charset="0"/>
                <a:ea typeface="Consolas" pitchFamily="34" charset="-122"/>
                <a:cs typeface="Consolas" pitchFamily="34" charset="-120"/>
              </a:rPr>
              <a:t>carnivore</a:t>
            </a:r>
            <a:endParaRPr lang="en-US" sz="1200" dirty="0"/>
          </a:p>
        </p:txBody>
      </p:sp>
      <p:sp>
        <p:nvSpPr>
          <p:cNvPr id="15" name="Shape 12"/>
          <p:cNvSpPr/>
          <p:nvPr/>
        </p:nvSpPr>
        <p:spPr>
          <a:xfrm>
            <a:off x="7645390" y="2590770"/>
            <a:ext cx="1752630" cy="381030"/>
          </a:xfrm>
          <a:prstGeom prst="roundRect">
            <a:avLst>
              <a:gd name="adj" fmla="val 23998"/>
            </a:avLst>
          </a:prstGeom>
          <a:solidFill>
            <a:srgbClr val="FFFFFF"/>
          </a:solidFill>
          <a:ln w="25400">
            <a:solidFill>
              <a:srgbClr val="2F5DA8"/>
            </a:solidFill>
            <a:prstDash val="solid"/>
          </a:ln>
        </p:spPr>
      </p:sp>
      <p:sp>
        <p:nvSpPr>
          <p:cNvPr id="16" name="Text 13"/>
          <p:cNvSpPr txBox="1"/>
          <p:nvPr/>
        </p:nvSpPr>
        <p:spPr>
          <a:xfrm>
            <a:off x="7645390" y="2590770"/>
            <a:ext cx="1752630" cy="381030"/>
          </a:xfrm>
          <a:prstGeom prst="rect">
            <a:avLst/>
          </a:prstGeom>
          <a:noFill/>
          <a:ln/>
        </p:spPr>
        <p:txBody>
          <a:bodyPr wrap="square" lIns="0" tIns="0" rIns="0" bIns="0" rtlCol="0" anchor="ctr"/>
          <a:lstStyle/>
          <a:p>
            <a:pPr algn="ctr" indent="0" marL="0">
              <a:buNone/>
            </a:pPr>
            <a:r>
              <a:rPr lang="en-US" sz="1200" dirty="0">
                <a:solidFill>
                  <a:srgbClr val="1B2233"/>
                </a:solidFill>
                <a:latin typeface="Consolas" pitchFamily="34" charset="0"/>
                <a:ea typeface="Consolas" pitchFamily="34" charset="-122"/>
                <a:cs typeface="Consolas" pitchFamily="34" charset="-120"/>
              </a:rPr>
              <a:t>has(tawny_colour)</a:t>
            </a:r>
            <a:endParaRPr lang="en-US" sz="1200" dirty="0"/>
          </a:p>
        </p:txBody>
      </p:sp>
      <p:sp>
        <p:nvSpPr>
          <p:cNvPr id="17" name="Shape 14"/>
          <p:cNvSpPr/>
          <p:nvPr/>
        </p:nvSpPr>
        <p:spPr>
          <a:xfrm>
            <a:off x="9626620" y="2590770"/>
            <a:ext cx="1752630" cy="381030"/>
          </a:xfrm>
          <a:prstGeom prst="roundRect">
            <a:avLst>
              <a:gd name="adj" fmla="val 23998"/>
            </a:avLst>
          </a:prstGeom>
          <a:solidFill>
            <a:srgbClr val="FFFFFF"/>
          </a:solidFill>
          <a:ln w="25400">
            <a:solidFill>
              <a:srgbClr val="2F5DA8"/>
            </a:solidFill>
            <a:prstDash val="solid"/>
          </a:ln>
        </p:spPr>
      </p:sp>
      <p:sp>
        <p:nvSpPr>
          <p:cNvPr id="18" name="Text 15"/>
          <p:cNvSpPr txBox="1"/>
          <p:nvPr/>
        </p:nvSpPr>
        <p:spPr>
          <a:xfrm>
            <a:off x="9626620" y="2590770"/>
            <a:ext cx="1752630" cy="381030"/>
          </a:xfrm>
          <a:prstGeom prst="rect">
            <a:avLst/>
          </a:prstGeom>
          <a:noFill/>
          <a:ln/>
        </p:spPr>
        <p:txBody>
          <a:bodyPr wrap="square" lIns="0" tIns="0" rIns="0" bIns="0" rtlCol="0" anchor="ctr"/>
          <a:lstStyle/>
          <a:p>
            <a:pPr algn="ctr" indent="0" marL="0">
              <a:buNone/>
            </a:pPr>
            <a:r>
              <a:rPr lang="en-US" sz="1200" dirty="0">
                <a:solidFill>
                  <a:srgbClr val="1B2233"/>
                </a:solidFill>
                <a:latin typeface="Consolas" pitchFamily="34" charset="0"/>
                <a:ea typeface="Consolas" pitchFamily="34" charset="-122"/>
                <a:cs typeface="Consolas" pitchFamily="34" charset="-120"/>
              </a:rPr>
              <a:t>has(dark_spots)</a:t>
            </a:r>
            <a:endParaRPr lang="en-US" sz="1200" dirty="0"/>
          </a:p>
        </p:txBody>
      </p:sp>
      <p:sp>
        <p:nvSpPr>
          <p:cNvPr id="19" name="Shape 16"/>
          <p:cNvSpPr/>
          <p:nvPr/>
        </p:nvSpPr>
        <p:spPr>
          <a:xfrm>
            <a:off x="5664159" y="3479841"/>
            <a:ext cx="1270010" cy="381030"/>
          </a:xfrm>
          <a:prstGeom prst="roundRect">
            <a:avLst>
              <a:gd name="adj" fmla="val 23998"/>
            </a:avLst>
          </a:prstGeom>
          <a:solidFill>
            <a:srgbClr val="1E2433"/>
          </a:solidFill>
          <a:ln w="25400">
            <a:solidFill>
              <a:srgbClr val="1E2433"/>
            </a:solidFill>
            <a:prstDash val="solid"/>
          </a:ln>
        </p:spPr>
      </p:sp>
      <p:sp>
        <p:nvSpPr>
          <p:cNvPr id="20" name="Text 17"/>
          <p:cNvSpPr txBox="1"/>
          <p:nvPr/>
        </p:nvSpPr>
        <p:spPr>
          <a:xfrm>
            <a:off x="5664159" y="3479841"/>
            <a:ext cx="1270010" cy="381030"/>
          </a:xfrm>
          <a:prstGeom prst="rect">
            <a:avLst/>
          </a:prstGeom>
          <a:noFill/>
          <a:ln/>
        </p:spPr>
        <p:txBody>
          <a:bodyPr wrap="square" lIns="0" tIns="0" rIns="0" bIns="0" rtlCol="0" anchor="ctr"/>
          <a:lstStyle/>
          <a:p>
            <a:pPr algn="ctr" indent="0" marL="0">
              <a:buNone/>
            </a:pPr>
            <a:r>
              <a:rPr lang="en-US" sz="1200" dirty="0">
                <a:solidFill>
                  <a:srgbClr val="F3EFE4"/>
                </a:solidFill>
                <a:latin typeface="Consolas" pitchFamily="34" charset="0"/>
                <a:ea typeface="Consolas" pitchFamily="34" charset="-122"/>
                <a:cs typeface="Consolas" pitchFamily="34" charset="-120"/>
              </a:rPr>
              <a:t>mammal</a:t>
            </a:r>
            <a:endParaRPr lang="en-US" sz="1200" dirty="0"/>
          </a:p>
        </p:txBody>
      </p:sp>
      <p:sp>
        <p:nvSpPr>
          <p:cNvPr id="21" name="Shape 18"/>
          <p:cNvSpPr/>
          <p:nvPr/>
        </p:nvSpPr>
        <p:spPr>
          <a:xfrm>
            <a:off x="7162770" y="3479841"/>
            <a:ext cx="1270010" cy="381030"/>
          </a:xfrm>
          <a:prstGeom prst="roundRect">
            <a:avLst>
              <a:gd name="adj" fmla="val 23998"/>
            </a:avLst>
          </a:prstGeom>
          <a:solidFill>
            <a:srgbClr val="FFFFFF"/>
          </a:solidFill>
          <a:ln w="25400">
            <a:solidFill>
              <a:srgbClr val="2F5DA8"/>
            </a:solidFill>
            <a:prstDash val="solid"/>
          </a:ln>
        </p:spPr>
      </p:sp>
      <p:sp>
        <p:nvSpPr>
          <p:cNvPr id="22" name="Text 19"/>
          <p:cNvSpPr txBox="1"/>
          <p:nvPr/>
        </p:nvSpPr>
        <p:spPr>
          <a:xfrm>
            <a:off x="7162770" y="3479841"/>
            <a:ext cx="1270010" cy="381030"/>
          </a:xfrm>
          <a:prstGeom prst="rect">
            <a:avLst/>
          </a:prstGeom>
          <a:noFill/>
          <a:ln/>
        </p:spPr>
        <p:txBody>
          <a:bodyPr wrap="square" lIns="0" tIns="0" rIns="0" bIns="0" rtlCol="0" anchor="ctr"/>
          <a:lstStyle/>
          <a:p>
            <a:pPr algn="ctr" indent="0" marL="0">
              <a:buNone/>
            </a:pPr>
            <a:r>
              <a:rPr lang="en-US" sz="1200" dirty="0">
                <a:solidFill>
                  <a:srgbClr val="1B2233"/>
                </a:solidFill>
                <a:latin typeface="Consolas" pitchFamily="34" charset="0"/>
                <a:ea typeface="Consolas" pitchFamily="34" charset="-122"/>
                <a:cs typeface="Consolas" pitchFamily="34" charset="-120"/>
              </a:rPr>
              <a:t>eats(meat)</a:t>
            </a:r>
            <a:endParaRPr lang="en-US" sz="1200" dirty="0"/>
          </a:p>
        </p:txBody>
      </p:sp>
      <p:sp>
        <p:nvSpPr>
          <p:cNvPr id="23" name="Shape 20"/>
          <p:cNvSpPr/>
          <p:nvPr/>
        </p:nvSpPr>
        <p:spPr>
          <a:xfrm>
            <a:off x="5664159" y="4368820"/>
            <a:ext cx="1270010" cy="381030"/>
          </a:xfrm>
          <a:prstGeom prst="roundRect">
            <a:avLst>
              <a:gd name="adj" fmla="val 23998"/>
            </a:avLst>
          </a:prstGeom>
          <a:solidFill>
            <a:srgbClr val="FFFFFF"/>
          </a:solidFill>
          <a:ln w="25400">
            <a:solidFill>
              <a:srgbClr val="2F5DA8"/>
            </a:solidFill>
            <a:prstDash val="solid"/>
          </a:ln>
        </p:spPr>
      </p:sp>
      <p:sp>
        <p:nvSpPr>
          <p:cNvPr id="24" name="Text 21"/>
          <p:cNvSpPr txBox="1"/>
          <p:nvPr/>
        </p:nvSpPr>
        <p:spPr>
          <a:xfrm>
            <a:off x="5664159" y="4368820"/>
            <a:ext cx="1270010" cy="381030"/>
          </a:xfrm>
          <a:prstGeom prst="rect">
            <a:avLst/>
          </a:prstGeom>
          <a:noFill/>
          <a:ln/>
        </p:spPr>
        <p:txBody>
          <a:bodyPr wrap="square" lIns="0" tIns="0" rIns="0" bIns="0" rtlCol="0" anchor="ctr"/>
          <a:lstStyle/>
          <a:p>
            <a:pPr algn="ctr" indent="0" marL="0">
              <a:buNone/>
            </a:pPr>
            <a:r>
              <a:rPr lang="en-US" sz="1200" dirty="0">
                <a:solidFill>
                  <a:srgbClr val="1B2233"/>
                </a:solidFill>
                <a:latin typeface="Consolas" pitchFamily="34" charset="0"/>
                <a:ea typeface="Consolas" pitchFamily="34" charset="-122"/>
                <a:cs typeface="Consolas" pitchFamily="34" charset="-120"/>
              </a:rPr>
              <a:t>has(hair)</a:t>
            </a:r>
            <a:endParaRPr lang="en-US" sz="1200" dirty="0"/>
          </a:p>
        </p:txBody>
      </p:sp>
      <p:sp>
        <p:nvSpPr>
          <p:cNvPr id="25" name="Shape 22"/>
          <p:cNvSpPr/>
          <p:nvPr/>
        </p:nvSpPr>
        <p:spPr>
          <a:xfrm>
            <a:off x="8521659" y="2082820"/>
            <a:ext cx="0" cy="254020"/>
          </a:xfrm>
          <a:prstGeom prst="line">
            <a:avLst/>
          </a:prstGeom>
          <a:noFill/>
          <a:ln w="28575">
            <a:solidFill>
              <a:srgbClr val="4A5264"/>
            </a:solidFill>
            <a:prstDash val="solid"/>
          </a:ln>
        </p:spPr>
      </p:sp>
      <p:sp>
        <p:nvSpPr>
          <p:cNvPr id="26" name="Shape 23"/>
          <p:cNvSpPr/>
          <p:nvPr/>
        </p:nvSpPr>
        <p:spPr>
          <a:xfrm>
            <a:off x="6540520" y="2336841"/>
            <a:ext cx="3962370" cy="0"/>
          </a:xfrm>
          <a:prstGeom prst="line">
            <a:avLst/>
          </a:prstGeom>
          <a:noFill/>
          <a:ln w="28575">
            <a:solidFill>
              <a:srgbClr val="4A5264"/>
            </a:solidFill>
            <a:prstDash val="solid"/>
          </a:ln>
        </p:spPr>
      </p:sp>
      <p:sp>
        <p:nvSpPr>
          <p:cNvPr id="27" name="Shape 24"/>
          <p:cNvSpPr/>
          <p:nvPr/>
        </p:nvSpPr>
        <p:spPr>
          <a:xfrm>
            <a:off x="6540520" y="2336841"/>
            <a:ext cx="0" cy="254020"/>
          </a:xfrm>
          <a:prstGeom prst="line">
            <a:avLst/>
          </a:prstGeom>
          <a:noFill/>
          <a:ln w="28575">
            <a:solidFill>
              <a:srgbClr val="4A5264"/>
            </a:solidFill>
            <a:prstDash val="solid"/>
            <a:tailEnd type="triangle"/>
          </a:ln>
        </p:spPr>
      </p:sp>
      <p:sp>
        <p:nvSpPr>
          <p:cNvPr id="28" name="Shape 25"/>
          <p:cNvSpPr/>
          <p:nvPr/>
        </p:nvSpPr>
        <p:spPr>
          <a:xfrm>
            <a:off x="8521659" y="2336841"/>
            <a:ext cx="0" cy="254020"/>
          </a:xfrm>
          <a:prstGeom prst="line">
            <a:avLst/>
          </a:prstGeom>
          <a:noFill/>
          <a:ln w="28575">
            <a:solidFill>
              <a:srgbClr val="4A5264"/>
            </a:solidFill>
            <a:prstDash val="solid"/>
            <a:tailEnd type="triangle"/>
          </a:ln>
        </p:spPr>
      </p:sp>
      <p:sp>
        <p:nvSpPr>
          <p:cNvPr id="29" name="Shape 26"/>
          <p:cNvSpPr/>
          <p:nvPr/>
        </p:nvSpPr>
        <p:spPr>
          <a:xfrm>
            <a:off x="10502890" y="2336841"/>
            <a:ext cx="0" cy="254020"/>
          </a:xfrm>
          <a:prstGeom prst="line">
            <a:avLst/>
          </a:prstGeom>
          <a:noFill/>
          <a:ln w="28575">
            <a:solidFill>
              <a:srgbClr val="4A5264"/>
            </a:solidFill>
            <a:prstDash val="solid"/>
            <a:tailEnd type="triangle"/>
          </a:ln>
        </p:spPr>
      </p:sp>
      <p:sp>
        <p:nvSpPr>
          <p:cNvPr id="30" name="Shape 27"/>
          <p:cNvSpPr/>
          <p:nvPr/>
        </p:nvSpPr>
        <p:spPr>
          <a:xfrm>
            <a:off x="6540520" y="2971800"/>
            <a:ext cx="0" cy="254020"/>
          </a:xfrm>
          <a:prstGeom prst="line">
            <a:avLst/>
          </a:prstGeom>
          <a:noFill/>
          <a:ln w="28575">
            <a:solidFill>
              <a:srgbClr val="4A5264"/>
            </a:solidFill>
            <a:prstDash val="solid"/>
          </a:ln>
        </p:spPr>
      </p:sp>
      <p:sp>
        <p:nvSpPr>
          <p:cNvPr id="31" name="Shape 28"/>
          <p:cNvSpPr/>
          <p:nvPr/>
        </p:nvSpPr>
        <p:spPr>
          <a:xfrm>
            <a:off x="6299210" y="3225820"/>
            <a:ext cx="1498610" cy="0"/>
          </a:xfrm>
          <a:prstGeom prst="line">
            <a:avLst/>
          </a:prstGeom>
          <a:noFill/>
          <a:ln w="28575">
            <a:solidFill>
              <a:srgbClr val="4A5264"/>
            </a:solidFill>
            <a:prstDash val="solid"/>
          </a:ln>
        </p:spPr>
      </p:sp>
      <p:sp>
        <p:nvSpPr>
          <p:cNvPr id="32" name="Shape 29"/>
          <p:cNvSpPr/>
          <p:nvPr/>
        </p:nvSpPr>
        <p:spPr>
          <a:xfrm>
            <a:off x="6299210" y="3225820"/>
            <a:ext cx="0" cy="254020"/>
          </a:xfrm>
          <a:prstGeom prst="line">
            <a:avLst/>
          </a:prstGeom>
          <a:noFill/>
          <a:ln w="28575">
            <a:solidFill>
              <a:srgbClr val="4A5264"/>
            </a:solidFill>
            <a:prstDash val="solid"/>
            <a:tailEnd type="triangle"/>
          </a:ln>
        </p:spPr>
      </p:sp>
      <p:sp>
        <p:nvSpPr>
          <p:cNvPr id="33" name="Shape 30"/>
          <p:cNvSpPr/>
          <p:nvPr/>
        </p:nvSpPr>
        <p:spPr>
          <a:xfrm>
            <a:off x="7797820" y="3225820"/>
            <a:ext cx="0" cy="254020"/>
          </a:xfrm>
          <a:prstGeom prst="line">
            <a:avLst/>
          </a:prstGeom>
          <a:noFill/>
          <a:ln w="28575">
            <a:solidFill>
              <a:srgbClr val="4A5264"/>
            </a:solidFill>
            <a:prstDash val="solid"/>
            <a:tailEnd type="triangle"/>
          </a:ln>
        </p:spPr>
      </p:sp>
      <p:sp>
        <p:nvSpPr>
          <p:cNvPr id="34" name="Shape 31"/>
          <p:cNvSpPr/>
          <p:nvPr/>
        </p:nvSpPr>
        <p:spPr>
          <a:xfrm>
            <a:off x="6299210" y="3860780"/>
            <a:ext cx="0" cy="508041"/>
          </a:xfrm>
          <a:prstGeom prst="line">
            <a:avLst/>
          </a:prstGeom>
          <a:noFill/>
          <a:ln w="28575">
            <a:solidFill>
              <a:srgbClr val="4A5264"/>
            </a:solidFill>
            <a:prstDash val="solid"/>
            <a:tailEnd type="triangle"/>
          </a:ln>
        </p:spPr>
      </p:sp>
      <p:sp>
        <p:nvSpPr>
          <p:cNvPr id="35" name="Shape 32"/>
          <p:cNvSpPr/>
          <p:nvPr/>
        </p:nvSpPr>
        <p:spPr>
          <a:xfrm>
            <a:off x="7569220" y="4940320"/>
            <a:ext cx="1777959" cy="292059"/>
          </a:xfrm>
          <a:prstGeom prst="roundRect">
            <a:avLst>
              <a:gd name="adj" fmla="val 31309"/>
            </a:avLst>
          </a:prstGeom>
          <a:solidFill>
            <a:srgbClr val="1E2433"/>
          </a:solidFill>
          <a:ln/>
        </p:spPr>
      </p:sp>
      <p:sp>
        <p:nvSpPr>
          <p:cNvPr id="36" name="Text 33"/>
          <p:cNvSpPr txBox="1"/>
          <p:nvPr/>
        </p:nvSpPr>
        <p:spPr>
          <a:xfrm>
            <a:off x="7569220" y="4940320"/>
            <a:ext cx="1777959" cy="292059"/>
          </a:xfrm>
          <a:prstGeom prst="rect">
            <a:avLst/>
          </a:prstGeom>
          <a:noFill/>
          <a:ln/>
        </p:spPr>
        <p:txBody>
          <a:bodyPr wrap="square" lIns="0" tIns="0" rIns="0" bIns="0" rtlCol="0" anchor="ctr"/>
          <a:lstStyle/>
          <a:p>
            <a:pPr algn="ctr" indent="0" marL="0">
              <a:buNone/>
            </a:pPr>
            <a:r>
              <a:rPr lang="en-US" sz="1200" dirty="0">
                <a:solidFill>
                  <a:srgbClr val="F3EFE4"/>
                </a:solidFill>
                <a:latin typeface="Calibri" pitchFamily="34" charset="0"/>
                <a:ea typeface="Calibri" pitchFamily="34" charset="-122"/>
                <a:cs typeface="Calibri" pitchFamily="34" charset="-120"/>
              </a:rPr>
              <a:t>proved by a rule</a:t>
            </a:r>
            <a:endParaRPr lang="en-US" sz="1200" dirty="0"/>
          </a:p>
        </p:txBody>
      </p:sp>
      <p:sp>
        <p:nvSpPr>
          <p:cNvPr id="37" name="Shape 34"/>
          <p:cNvSpPr/>
          <p:nvPr/>
        </p:nvSpPr>
        <p:spPr>
          <a:xfrm>
            <a:off x="9550359" y="4940320"/>
            <a:ext cx="1777959" cy="292059"/>
          </a:xfrm>
          <a:prstGeom prst="roundRect">
            <a:avLst>
              <a:gd name="adj" fmla="val 31309"/>
            </a:avLst>
          </a:prstGeom>
          <a:solidFill>
            <a:srgbClr val="FFFFFF"/>
          </a:solidFill>
          <a:ln w="25400">
            <a:solidFill>
              <a:srgbClr val="2F5DA8"/>
            </a:solidFill>
            <a:prstDash val="solid"/>
          </a:ln>
        </p:spPr>
      </p:sp>
      <p:sp>
        <p:nvSpPr>
          <p:cNvPr id="38" name="Text 35"/>
          <p:cNvSpPr txBox="1"/>
          <p:nvPr/>
        </p:nvSpPr>
        <p:spPr>
          <a:xfrm>
            <a:off x="9550359" y="4940320"/>
            <a:ext cx="1777959" cy="292059"/>
          </a:xfrm>
          <a:prstGeom prst="rect">
            <a:avLst/>
          </a:prstGeom>
          <a:noFill/>
          <a:ln/>
        </p:spPr>
        <p:txBody>
          <a:bodyPr wrap="square" lIns="0" tIns="0" rIns="0" bIns="0" rtlCol="0" anchor="ctr"/>
          <a:lstStyle/>
          <a:p>
            <a:pPr algn="ctr" indent="0" marL="0">
              <a:buNone/>
            </a:pPr>
            <a:r>
              <a:rPr lang="en-US" sz="1200" dirty="0">
                <a:solidFill>
                  <a:srgbClr val="1B2233"/>
                </a:solidFill>
                <a:latin typeface="Calibri" pitchFamily="34" charset="0"/>
                <a:ea typeface="Calibri" pitchFamily="34" charset="-122"/>
                <a:cs typeface="Calibri" pitchFamily="34" charset="-120"/>
              </a:rPr>
              <a:t>matched a fact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02 · CORE CONCEPTS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Backward vs forward chaining</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Sources: Durkin (1994); Giarratano &amp; Riley (2005)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11</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12810" y="1727210"/>
          <a:ext cx="10566441" cy="914400"/>
        </p:xfrm>
        <a:graphic>
          <a:graphicData uri="http://schemas.openxmlformats.org/drawingml/2006/table">
            <a:tbl>
              <a:tblPr/>
              <a:tblGrid>
                <a:gridCol w="2324130"/>
                <a:gridCol w="4121109"/>
                <a:gridCol w="4121109"/>
              </a:tblGrid>
              <a:tr h="393741">
                <a:tc>
                  <a:txBody>
                    <a:bodyPr/>
                    <a:lstStyle/>
                    <a:p>
                      <a:pPr indent="0" marL="0">
                        <a:buNone/>
                      </a:pPr>
                      <a:r>
                        <a:rPr lang="en-US" sz="1400" b="1" dirty="0">
                          <a:solidFill>
                            <a:srgbClr val="F3EFE4"/>
                          </a:solidFill>
                          <a:latin typeface="Calibri" pitchFamily="34" charset="0"/>
                          <a:ea typeface="Calibri" pitchFamily="34" charset="-122"/>
                          <a:cs typeface="Calibri" pitchFamily="34" charset="-120"/>
                        </a:rPr>
                        <a:t>Aspect</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1E2433"/>
                    </a:solidFill>
                  </a:tcPr>
                </a:tc>
                <a:tc>
                  <a:txBody>
                    <a:bodyPr/>
                    <a:lstStyle/>
                    <a:p>
                      <a:pPr indent="0" marL="0">
                        <a:buNone/>
                      </a:pPr>
                      <a:r>
                        <a:rPr lang="en-US" sz="1400" b="1" dirty="0">
                          <a:solidFill>
                            <a:srgbClr val="F2A65A"/>
                          </a:solidFill>
                          <a:latin typeface="Calibri" pitchFamily="34" charset="0"/>
                          <a:ea typeface="Calibri" pitchFamily="34" charset="-122"/>
                          <a:cs typeface="Calibri" pitchFamily="34" charset="-120"/>
                        </a:rPr>
                        <a:t>Backward (goal-driven)</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1E2433"/>
                    </a:solidFill>
                  </a:tcPr>
                </a:tc>
                <a:tc>
                  <a:txBody>
                    <a:bodyPr/>
                    <a:lstStyle/>
                    <a:p>
                      <a:pPr indent="0" marL="0">
                        <a:buNone/>
                      </a:pPr>
                      <a:r>
                        <a:rPr lang="en-US" sz="1400" b="1" dirty="0">
                          <a:solidFill>
                            <a:srgbClr val="F3EFE4"/>
                          </a:solidFill>
                          <a:latin typeface="Calibri" pitchFamily="34" charset="0"/>
                          <a:ea typeface="Calibri" pitchFamily="34" charset="-122"/>
                          <a:cs typeface="Calibri" pitchFamily="34" charset="-120"/>
                        </a:rPr>
                        <a:t>Forward (data-driven)</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1E2433"/>
                    </a:solidFill>
                  </a:tcPr>
                </a:tc>
              </a:tr>
              <a:tr h="393741">
                <a:tc>
                  <a:txBody>
                    <a:bodyPr/>
                    <a:lstStyle/>
                    <a:p>
                      <a:pPr indent="0" marL="0">
                        <a:buNone/>
                      </a:pPr>
                      <a:r>
                        <a:rPr lang="en-US" sz="1400" b="1" dirty="0">
                          <a:solidFill>
                            <a:srgbClr val="1B2233"/>
                          </a:solidFill>
                          <a:latin typeface="Calibri" pitchFamily="34" charset="0"/>
                          <a:ea typeface="Calibri" pitchFamily="34" charset="-122"/>
                          <a:cs typeface="Calibri" pitchFamily="34" charset="-120"/>
                        </a:rPr>
                        <a:t>Starts from</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indent="0" marL="0">
                        <a:buNone/>
                      </a:pPr>
                      <a:r>
                        <a:rPr lang="en-US" sz="1400" dirty="0">
                          <a:solidFill>
                            <a:srgbClr val="1B2233"/>
                          </a:solidFill>
                          <a:latin typeface="Calibri" pitchFamily="34" charset="0"/>
                          <a:ea typeface="Calibri" pitchFamily="34" charset="-122"/>
                          <a:cs typeface="Calibri" pitchFamily="34" charset="-120"/>
                        </a:rPr>
                        <a:t>a hypothesis (goal) to prove</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indent="0" marL="0">
                        <a:buNone/>
                      </a:pPr>
                      <a:r>
                        <a:rPr lang="en-US" sz="1400" dirty="0">
                          <a:solidFill>
                            <a:srgbClr val="1B2233"/>
                          </a:solidFill>
                          <a:latin typeface="Calibri" pitchFamily="34" charset="0"/>
                          <a:ea typeface="Calibri" pitchFamily="34" charset="-122"/>
                          <a:cs typeface="Calibri" pitchFamily="34" charset="-120"/>
                        </a:rPr>
                        <a:t>the facts already known</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r>
              <a:tr h="393741">
                <a:tc>
                  <a:txBody>
                    <a:bodyPr/>
                    <a:lstStyle/>
                    <a:p>
                      <a:pPr indent="0" marL="0">
                        <a:buNone/>
                      </a:pPr>
                      <a:r>
                        <a:rPr lang="en-US" sz="1400" b="1" dirty="0">
                          <a:solidFill>
                            <a:srgbClr val="1B2233"/>
                          </a:solidFill>
                          <a:latin typeface="Calibri" pitchFamily="34" charset="0"/>
                          <a:ea typeface="Calibri" pitchFamily="34" charset="-122"/>
                          <a:cs typeface="Calibri" pitchFamily="34" charset="-120"/>
                        </a:rPr>
                        <a:t>Direction</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indent="0" marL="0">
                        <a:buNone/>
                      </a:pPr>
                      <a:r>
                        <a:rPr lang="en-US" sz="1400" dirty="0">
                          <a:solidFill>
                            <a:srgbClr val="1B2233"/>
                          </a:solidFill>
                          <a:latin typeface="Calibri" pitchFamily="34" charset="0"/>
                          <a:ea typeface="Calibri" pitchFamily="34" charset="-122"/>
                          <a:cs typeface="Calibri" pitchFamily="34" charset="-120"/>
                        </a:rPr>
                        <a:t>goal → sub-goals → facts</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indent="0" marL="0">
                        <a:buNone/>
                      </a:pPr>
                      <a:r>
                        <a:rPr lang="en-US" sz="1400" dirty="0">
                          <a:solidFill>
                            <a:srgbClr val="1B2233"/>
                          </a:solidFill>
                          <a:latin typeface="Calibri" pitchFamily="34" charset="0"/>
                          <a:ea typeface="Calibri" pitchFamily="34" charset="-122"/>
                          <a:cs typeface="Calibri" pitchFamily="34" charset="-120"/>
                        </a:rPr>
                        <a:t>facts → rules fire → new facts</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r>
              <a:tr h="393741">
                <a:tc>
                  <a:txBody>
                    <a:bodyPr/>
                    <a:lstStyle/>
                    <a:p>
                      <a:pPr indent="0" marL="0">
                        <a:buNone/>
                      </a:pPr>
                      <a:r>
                        <a:rPr lang="en-US" sz="1400" b="1" dirty="0">
                          <a:solidFill>
                            <a:srgbClr val="1B2233"/>
                          </a:solidFill>
                          <a:latin typeface="Calibri" pitchFamily="34" charset="0"/>
                          <a:ea typeface="Calibri" pitchFamily="34" charset="-122"/>
                          <a:cs typeface="Calibri" pitchFamily="34" charset="-120"/>
                        </a:rPr>
                        <a:t>Questions</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indent="0" marL="0">
                        <a:buNone/>
                      </a:pPr>
                      <a:r>
                        <a:rPr lang="en-US" sz="1400" dirty="0">
                          <a:solidFill>
                            <a:srgbClr val="1B2233"/>
                          </a:solidFill>
                          <a:latin typeface="Calibri" pitchFamily="34" charset="0"/>
                          <a:ea typeface="Calibri" pitchFamily="34" charset="-122"/>
                          <a:cs typeface="Calibri" pitchFamily="34" charset="-120"/>
                        </a:rPr>
                        <a:t>only those the current goal needs</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indent="0" marL="0">
                        <a:buNone/>
                      </a:pPr>
                      <a:r>
                        <a:rPr lang="en-US" sz="1400" dirty="0">
                          <a:solidFill>
                            <a:srgbClr val="1B2233"/>
                          </a:solidFill>
                          <a:latin typeface="Calibri" pitchFamily="34" charset="0"/>
                          <a:ea typeface="Calibri" pitchFamily="34" charset="-122"/>
                          <a:cs typeface="Calibri" pitchFamily="34" charset="-120"/>
                        </a:rPr>
                        <a:t>data usually collected up front</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r>
              <a:tr h="393741">
                <a:tc>
                  <a:txBody>
                    <a:bodyPr/>
                    <a:lstStyle/>
                    <a:p>
                      <a:pPr indent="0" marL="0">
                        <a:buNone/>
                      </a:pPr>
                      <a:r>
                        <a:rPr lang="en-US" sz="1400" b="1" dirty="0">
                          <a:solidFill>
                            <a:srgbClr val="1B2233"/>
                          </a:solidFill>
                          <a:latin typeface="Calibri" pitchFamily="34" charset="0"/>
                          <a:ea typeface="Calibri" pitchFamily="34" charset="-122"/>
                          <a:cs typeface="Calibri" pitchFamily="34" charset="-120"/>
                        </a:rPr>
                        <a:t>Best for</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indent="0" marL="0">
                        <a:buNone/>
                      </a:pPr>
                      <a:r>
                        <a:rPr lang="en-US" sz="1400" dirty="0">
                          <a:solidFill>
                            <a:srgbClr val="1B2233"/>
                          </a:solidFill>
                          <a:latin typeface="Calibri" pitchFamily="34" charset="0"/>
                          <a:ea typeface="Calibri" pitchFamily="34" charset="-122"/>
                          <a:cs typeface="Calibri" pitchFamily="34" charset="-120"/>
                        </a:rPr>
                        <a:t>diagnosis, identification</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indent="0" marL="0">
                        <a:buNone/>
                      </a:pPr>
                      <a:r>
                        <a:rPr lang="en-US" sz="1400" dirty="0">
                          <a:solidFill>
                            <a:srgbClr val="1B2233"/>
                          </a:solidFill>
                          <a:latin typeface="Calibri" pitchFamily="34" charset="0"/>
                          <a:ea typeface="Calibri" pitchFamily="34" charset="-122"/>
                          <a:cs typeface="Calibri" pitchFamily="34" charset="-120"/>
                        </a:rPr>
                        <a:t>configuration, monitoring, planning</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r>
              <a:tr h="393741">
                <a:tc>
                  <a:txBody>
                    <a:bodyPr/>
                    <a:lstStyle/>
                    <a:p>
                      <a:pPr indent="0" marL="0">
                        <a:buNone/>
                      </a:pPr>
                      <a:r>
                        <a:rPr lang="en-US" sz="1400" b="1" dirty="0">
                          <a:solidFill>
                            <a:srgbClr val="1B2233"/>
                          </a:solidFill>
                          <a:latin typeface="Calibri" pitchFamily="34" charset="0"/>
                          <a:ea typeface="Calibri" pitchFamily="34" charset="-122"/>
                          <a:cs typeface="Calibri" pitchFamily="34" charset="-120"/>
                        </a:rPr>
                        <a:t>Classic systems</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indent="0" marL="0">
                        <a:buNone/>
                      </a:pPr>
                      <a:r>
                        <a:rPr lang="en-US" sz="1400" dirty="0">
                          <a:solidFill>
                            <a:srgbClr val="1B2233"/>
                          </a:solidFill>
                          <a:latin typeface="Calibri" pitchFamily="34" charset="0"/>
                          <a:ea typeface="Calibri" pitchFamily="34" charset="-122"/>
                          <a:cs typeface="Calibri" pitchFamily="34" charset="-120"/>
                        </a:rPr>
                        <a:t>MYCIN; Prolog programs</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indent="0" marL="0">
                        <a:buNone/>
                      </a:pPr>
                      <a:r>
                        <a:rPr lang="en-US" sz="1400" dirty="0">
                          <a:solidFill>
                            <a:srgbClr val="1B2233"/>
                          </a:solidFill>
                          <a:latin typeface="Calibri" pitchFamily="34" charset="0"/>
                          <a:ea typeface="Calibri" pitchFamily="34" charset="-122"/>
                          <a:cs typeface="Calibri" pitchFamily="34" charset="-120"/>
                        </a:rPr>
                        <a:t>R1 / XCON (OPS5); CLIPS</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r>
              <a:tr h="393741">
                <a:tc>
                  <a:txBody>
                    <a:bodyPr/>
                    <a:lstStyle/>
                    <a:p>
                      <a:pPr indent="0" marL="0">
                        <a:buNone/>
                      </a:pPr>
                      <a:r>
                        <a:rPr lang="en-US" sz="1400" b="1" dirty="0">
                          <a:solidFill>
                            <a:srgbClr val="1B2233"/>
                          </a:solidFill>
                          <a:latin typeface="Calibri" pitchFamily="34" charset="0"/>
                          <a:ea typeface="Calibri" pitchFamily="34" charset="-122"/>
                          <a:cs typeface="Calibri" pitchFamily="34" charset="-120"/>
                        </a:rPr>
                        <a:t>In Prolog</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indent="0" marL="0">
                        <a:buNone/>
                      </a:pPr>
                      <a:r>
                        <a:rPr lang="en-US" sz="1400" dirty="0">
                          <a:solidFill>
                            <a:srgbClr val="1B2233"/>
                          </a:solidFill>
                          <a:latin typeface="Calibri" pitchFamily="34" charset="0"/>
                          <a:ea typeface="Calibri" pitchFamily="34" charset="-122"/>
                          <a:cs typeface="Calibri" pitchFamily="34" charset="-120"/>
                        </a:rPr>
                        <a:t>built in: it is how queries run</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indent="0" marL="0">
                        <a:buNone/>
                      </a:pPr>
                      <a:r>
                        <a:rPr lang="en-US" sz="1400" dirty="0">
                          <a:solidFill>
                            <a:srgbClr val="1B2233"/>
                          </a:solidFill>
                          <a:latin typeface="Calibri" pitchFamily="34" charset="0"/>
                          <a:ea typeface="Calibri" pitchFamily="34" charset="-122"/>
                          <a:cs typeface="Calibri" pitchFamily="34" charset="-120"/>
                        </a:rPr>
                        <a:t>a loop you write with assert/1</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r>
            </a:tbl>
          </a:graphicData>
        </a:graphic>
      </p:graphicFrame>
      <p:sp>
        <p:nvSpPr>
          <p:cNvPr id="8" name="Shape 4"/>
          <p:cNvSpPr/>
          <p:nvPr/>
        </p:nvSpPr>
        <p:spPr>
          <a:xfrm>
            <a:off x="812810" y="4775180"/>
            <a:ext cx="10566441" cy="698510"/>
          </a:xfrm>
          <a:prstGeom prst="roundRect">
            <a:avLst>
              <a:gd name="adj" fmla="val 10473"/>
            </a:avLst>
          </a:prstGeom>
          <a:solidFill>
            <a:srgbClr val="F6E9E1"/>
          </a:solidFill>
          <a:ln/>
        </p:spPr>
      </p:sp>
      <p:sp>
        <p:nvSpPr>
          <p:cNvPr id="9" name="Text 5"/>
          <p:cNvSpPr txBox="1"/>
          <p:nvPr/>
        </p:nvSpPr>
        <p:spPr>
          <a:xfrm>
            <a:off x="990570" y="4775180"/>
            <a:ext cx="10210830" cy="698510"/>
          </a:xfrm>
          <a:prstGeom prst="rect">
            <a:avLst/>
          </a:prstGeom>
          <a:noFill/>
          <a:ln/>
        </p:spPr>
        <p:txBody>
          <a:bodyPr wrap="square" lIns="0" tIns="0" rIns="0" bIns="0" rtlCol="0" anchor="ctr"/>
          <a:lstStyle/>
          <a:p>
            <a:pPr indent="0" marL="0">
              <a:lnSpc>
                <a:spcPct val="110000"/>
              </a:lnSpc>
              <a:buNone/>
            </a:pPr>
            <a:r>
              <a:rPr lang="en-US" sz="1400" b="1" dirty="0">
                <a:solidFill>
                  <a:srgbClr val="1B2233"/>
                </a:solidFill>
                <a:latin typeface="Calibri" pitchFamily="34" charset="0"/>
                <a:ea typeface="Calibri" pitchFamily="34" charset="-122"/>
                <a:cs typeface="Calibri" pitchFamily="34" charset="-120"/>
              </a:rPr>
              <a:t>Our choice:</a:t>
            </a:r>
            <a:pPr indent="0" marL="0">
              <a:lnSpc>
                <a:spcPct val="110000"/>
              </a:lnSpc>
              <a:buNone/>
            </a:pPr>
            <a:r>
              <a:rPr lang="en-US" sz="1400" dirty="0">
                <a:solidFill>
                  <a:srgbClr val="1B2233"/>
                </a:solidFill>
                <a:latin typeface="Calibri" pitchFamily="34" charset="0"/>
                <a:ea typeface="Calibri" pitchFamily="34" charset="-122"/>
                <a:cs typeface="Calibri" pitchFamily="34" charset="-120"/>
              </a:rPr>
              <a:t> backward chaining, because identifying an animal (or a disease) means testing hypotheses and asking only what each one needs.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02 · CORE CONCEPTS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Asking the user for missing facts</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Sources: Bratko (2012), Ch. 15; Durkin (1994)</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12</a:t>
            </a:r>
            <a:endParaRPr lang="en-US" sz="1200" dirty="0"/>
          </a:p>
        </p:txBody>
      </p:sp>
      <p:sp>
        <p:nvSpPr>
          <p:cNvPr id="7" name="Text 4"/>
          <p:cNvSpPr txBox="1"/>
          <p:nvPr/>
        </p:nvSpPr>
        <p:spPr>
          <a:xfrm>
            <a:off x="812810" y="1701790"/>
            <a:ext cx="3810030" cy="4063959"/>
          </a:xfrm>
          <a:prstGeom prst="rect">
            <a:avLst/>
          </a:prstGeom>
          <a:noFill/>
          <a:ln/>
        </p:spPr>
        <p:txBody>
          <a:bodyPr wrap="square" lIns="0" tIns="0" rIns="0" bIns="0" rtlCol="0" anchor="t"/>
          <a:lstStyle/>
          <a:p>
            <a:pPr marL="254000" indent="-254000">
              <a:lnSpc>
                <a:spcPct val="110000"/>
              </a:lnSpc>
              <a:spcAft>
                <a:spcPts val="1400"/>
              </a:spcAft>
              <a:buSzPct val="100000"/>
              <a:buChar char="•"/>
            </a:pPr>
            <a:r>
              <a:rPr lang="en-US" sz="1400" dirty="0">
                <a:solidFill>
                  <a:srgbClr val="4A5264"/>
                </a:solidFill>
                <a:latin typeface="Calibri" pitchFamily="34" charset="0"/>
                <a:ea typeface="Calibri" pitchFamily="34" charset="-122"/>
                <a:cs typeface="Calibri" pitchFamily="34" charset="-120"/>
              </a:rPr>
              <a:t>A consultation starts with almost no facts, so the system must ask.</a:t>
            </a:r>
            <a:endParaRPr lang="en-US" sz="1400" dirty="0"/>
          </a:p>
          <a:p>
            <a:pPr marL="254000" indent="-254000">
              <a:lnSpc>
                <a:spcPct val="110000"/>
              </a:lnSpc>
              <a:spcAft>
                <a:spcPts val="1400"/>
              </a:spcAft>
              <a:buSzPct val="100000"/>
              <a:buChar char="•"/>
            </a:pPr>
            <a:r>
              <a:rPr lang="en-US" sz="1400" dirty="0">
                <a:solidFill>
                  <a:srgbClr val="4A5264"/>
                </a:solidFill>
                <a:latin typeface="Calibri" pitchFamily="34" charset="0"/>
                <a:ea typeface="Calibri" pitchFamily="34" charset="-122"/>
                <a:cs typeface="Calibri" pitchFamily="34" charset="-120"/>
              </a:rPr>
              <a:t>Only leaf conditions are </a:t>
            </a:r>
            <a:pPr indent="0" marL="0">
              <a:lnSpc>
                <a:spcPct val="110000"/>
              </a:lnSpc>
              <a:buNone/>
            </a:pPr>
            <a:r>
              <a:rPr lang="en-US" sz="1400" b="1" dirty="0">
                <a:solidFill>
                  <a:srgbClr val="4A5264"/>
                </a:solidFill>
                <a:latin typeface="Calibri" pitchFamily="34" charset="0"/>
                <a:ea typeface="Calibri" pitchFamily="34" charset="-122"/>
                <a:cs typeface="Calibri" pitchFamily="34" charset="-120"/>
              </a:rPr>
              <a:t>askable</a:t>
            </a:r>
            <a:pPr indent="0" marL="0">
              <a:lnSpc>
                <a:spcPct val="110000"/>
              </a:lnSpc>
              <a:buNone/>
            </a:pPr>
            <a:r>
              <a:rPr lang="en-US" sz="1400" dirty="0">
                <a:solidFill>
                  <a:srgbClr val="4A5264"/>
                </a:solidFill>
                <a:latin typeface="Calibri" pitchFamily="34" charset="0"/>
                <a:ea typeface="Calibri" pitchFamily="34" charset="-122"/>
                <a:cs typeface="Calibri" pitchFamily="34" charset="-120"/>
              </a:rPr>
              <a:t>: facts that no rule can conclude.</a:t>
            </a:r>
            <a:endParaRPr lang="en-US" sz="1400" dirty="0"/>
          </a:p>
          <a:p>
            <a:pPr marL="254000" indent="-254000">
              <a:lnSpc>
                <a:spcPct val="110000"/>
              </a:lnSpc>
              <a:spcAft>
                <a:spcPts val="1400"/>
              </a:spcAft>
              <a:buSzPct val="100000"/>
              <a:buChar char="•"/>
            </a:pPr>
            <a:r>
              <a:rPr lang="en-US" sz="1400" b="1" dirty="0">
                <a:solidFill>
                  <a:srgbClr val="4A5264"/>
                </a:solidFill>
                <a:latin typeface="Calibri" pitchFamily="34" charset="0"/>
                <a:ea typeface="Calibri" pitchFamily="34" charset="-122"/>
                <a:cs typeface="Calibri" pitchFamily="34" charset="-120"/>
              </a:rPr>
              <a:t>Ask lazily</a:t>
            </a:r>
            <a:pPr indent="0" marL="0">
              <a:lnSpc>
                <a:spcPct val="110000"/>
              </a:lnSpc>
              <a:buNone/>
            </a:pPr>
            <a:r>
              <a:rPr lang="en-US" sz="1400" dirty="0">
                <a:solidFill>
                  <a:srgbClr val="4A5264"/>
                </a:solidFill>
                <a:latin typeface="Calibri" pitchFamily="34" charset="0"/>
                <a:ea typeface="Calibri" pitchFamily="34" charset="-122"/>
                <a:cs typeface="Calibri" pitchFamily="34" charset="-120"/>
              </a:rPr>
              <a:t>: only when the current rule needs the fact.</a:t>
            </a:r>
            <a:endParaRPr lang="en-US" sz="1400" dirty="0"/>
          </a:p>
          <a:p>
            <a:pPr marL="254000" indent="-254000">
              <a:lnSpc>
                <a:spcPct val="110000"/>
              </a:lnSpc>
              <a:spcAft>
                <a:spcPts val="1400"/>
              </a:spcAft>
              <a:buSzPct val="100000"/>
              <a:buChar char="•"/>
            </a:pPr>
            <a:r>
              <a:rPr lang="en-US" sz="1400" b="1" dirty="0">
                <a:solidFill>
                  <a:srgbClr val="4A5264"/>
                </a:solidFill>
                <a:latin typeface="Calibri" pitchFamily="34" charset="0"/>
                <a:ea typeface="Calibri" pitchFamily="34" charset="-122"/>
                <a:cs typeface="Calibri" pitchFamily="34" charset="-120"/>
              </a:rPr>
              <a:t>Ask once</a:t>
            </a:r>
            <a:pPr indent="0" marL="0">
              <a:lnSpc>
                <a:spcPct val="110000"/>
              </a:lnSpc>
              <a:buNone/>
            </a:pPr>
            <a:r>
              <a:rPr lang="en-US" sz="1400" dirty="0">
                <a:solidFill>
                  <a:srgbClr val="4A5264"/>
                </a:solidFill>
                <a:latin typeface="Calibri" pitchFamily="34" charset="0"/>
                <a:ea typeface="Calibri" pitchFamily="34" charset="-122"/>
                <a:cs typeface="Calibri" pitchFamily="34" charset="-120"/>
              </a:rPr>
              <a:t>: store every answer in working memory (known/2).</a:t>
            </a:r>
            <a:endParaRPr lang="en-US" sz="1400" dirty="0"/>
          </a:p>
          <a:p>
            <a:pPr marL="254000" indent="-254000">
              <a:lnSpc>
                <a:spcPct val="110000"/>
              </a:lnSpc>
              <a:spcAft>
                <a:spcPts val="1400"/>
              </a:spcAft>
              <a:buSzPct val="100000"/>
              <a:buChar char="•"/>
            </a:pPr>
            <a:r>
              <a:rPr lang="en-US" sz="1400" b="1" dirty="0">
                <a:solidFill>
                  <a:srgbClr val="4A5264"/>
                </a:solidFill>
                <a:latin typeface="Calibri" pitchFamily="34" charset="0"/>
                <a:ea typeface="Calibri" pitchFamily="34" charset="-122"/>
                <a:cs typeface="Calibri" pitchFamily="34" charset="-120"/>
              </a:rPr>
              <a:t>Stay transparent</a:t>
            </a:r>
            <a:pPr indent="0" marL="0">
              <a:lnSpc>
                <a:spcPct val="110000"/>
              </a:lnSpc>
              <a:buNone/>
            </a:pPr>
            <a:r>
              <a:rPr lang="en-US" sz="1400" dirty="0">
                <a:solidFill>
                  <a:srgbClr val="4A5264"/>
                </a:solidFill>
                <a:latin typeface="Calibri" pitchFamily="34" charset="0"/>
                <a:ea typeface="Calibri" pitchFamily="34" charset="-122"/>
                <a:cs typeface="Calibri" pitchFamily="34" charset="-120"/>
              </a:rPr>
              <a:t>: the user may reply why to see the reason.</a:t>
            </a:r>
            <a:endParaRPr lang="en-US" sz="1400" dirty="0"/>
          </a:p>
        </p:txBody>
      </p:sp>
      <p:sp>
        <p:nvSpPr>
          <p:cNvPr id="8" name="Shape 5"/>
          <p:cNvSpPr/>
          <p:nvPr/>
        </p:nvSpPr>
        <p:spPr>
          <a:xfrm>
            <a:off x="5029200" y="1701790"/>
            <a:ext cx="2794041" cy="634959"/>
          </a:xfrm>
          <a:prstGeom prst="roundRect">
            <a:avLst>
              <a:gd name="adj" fmla="val 14401"/>
            </a:avLst>
          </a:prstGeom>
          <a:solidFill>
            <a:srgbClr val="1E2433"/>
          </a:solidFill>
          <a:ln/>
        </p:spPr>
      </p:sp>
      <p:sp>
        <p:nvSpPr>
          <p:cNvPr id="9" name="Text 6"/>
          <p:cNvSpPr txBox="1"/>
          <p:nvPr/>
        </p:nvSpPr>
        <p:spPr>
          <a:xfrm>
            <a:off x="5156210" y="1701790"/>
            <a:ext cx="2540020" cy="634959"/>
          </a:xfrm>
          <a:prstGeom prst="rect">
            <a:avLst/>
          </a:prstGeom>
          <a:noFill/>
          <a:ln/>
        </p:spPr>
        <p:txBody>
          <a:bodyPr wrap="square" lIns="0" tIns="0" rIns="0" bIns="0" rtlCol="0" anchor="ctr"/>
          <a:lstStyle/>
          <a:p>
            <a:pPr indent="0" marL="0">
              <a:buNone/>
            </a:pPr>
            <a:r>
              <a:rPr lang="en-US" sz="1300" dirty="0">
                <a:solidFill>
                  <a:srgbClr val="F3EFE4"/>
                </a:solidFill>
                <a:latin typeface="Calibri" pitchFamily="34" charset="0"/>
                <a:ea typeface="Calibri" pitchFamily="34" charset="-122"/>
                <a:cs typeface="Calibri" pitchFamily="34" charset="-120"/>
              </a:rPr>
              <a:t>1 · Is the goal askable (a leaf fact)?</a:t>
            </a:r>
            <a:endParaRPr lang="en-US" sz="1300" dirty="0"/>
          </a:p>
        </p:txBody>
      </p:sp>
      <p:sp>
        <p:nvSpPr>
          <p:cNvPr id="10" name="Shape 7"/>
          <p:cNvSpPr/>
          <p:nvPr/>
        </p:nvSpPr>
        <p:spPr>
          <a:xfrm>
            <a:off x="5029200" y="2844790"/>
            <a:ext cx="2794041" cy="634959"/>
          </a:xfrm>
          <a:prstGeom prst="roundRect">
            <a:avLst>
              <a:gd name="adj" fmla="val 14401"/>
            </a:avLst>
          </a:prstGeom>
          <a:solidFill>
            <a:srgbClr val="1E2433"/>
          </a:solidFill>
          <a:ln/>
        </p:spPr>
      </p:sp>
      <p:sp>
        <p:nvSpPr>
          <p:cNvPr id="11" name="Text 8"/>
          <p:cNvSpPr txBox="1"/>
          <p:nvPr/>
        </p:nvSpPr>
        <p:spPr>
          <a:xfrm>
            <a:off x="5156210" y="2844790"/>
            <a:ext cx="2540020" cy="634959"/>
          </a:xfrm>
          <a:prstGeom prst="rect">
            <a:avLst/>
          </a:prstGeom>
          <a:noFill/>
          <a:ln/>
        </p:spPr>
        <p:txBody>
          <a:bodyPr wrap="square" lIns="0" tIns="0" rIns="0" bIns="0" rtlCol="0" anchor="ctr"/>
          <a:lstStyle/>
          <a:p>
            <a:pPr indent="0" marL="0">
              <a:buNone/>
            </a:pPr>
            <a:r>
              <a:rPr lang="en-US" sz="1300" dirty="0">
                <a:solidFill>
                  <a:srgbClr val="F3EFE4"/>
                </a:solidFill>
                <a:latin typeface="Calibri" pitchFamily="34" charset="0"/>
                <a:ea typeface="Calibri" pitchFamily="34" charset="-122"/>
                <a:cs typeface="Calibri" pitchFamily="34" charset="-120"/>
              </a:rPr>
              <a:t>2 · Already answered? Look it up in known/2</a:t>
            </a:r>
            <a:endParaRPr lang="en-US" sz="1300" dirty="0"/>
          </a:p>
        </p:txBody>
      </p:sp>
      <p:sp>
        <p:nvSpPr>
          <p:cNvPr id="12" name="Shape 9"/>
          <p:cNvSpPr/>
          <p:nvPr/>
        </p:nvSpPr>
        <p:spPr>
          <a:xfrm>
            <a:off x="5029200" y="3987790"/>
            <a:ext cx="2794041" cy="634959"/>
          </a:xfrm>
          <a:prstGeom prst="roundRect">
            <a:avLst>
              <a:gd name="adj" fmla="val 14401"/>
            </a:avLst>
          </a:prstGeom>
          <a:solidFill>
            <a:srgbClr val="1E2433"/>
          </a:solidFill>
          <a:ln/>
        </p:spPr>
      </p:sp>
      <p:sp>
        <p:nvSpPr>
          <p:cNvPr id="13" name="Text 10"/>
          <p:cNvSpPr txBox="1"/>
          <p:nvPr/>
        </p:nvSpPr>
        <p:spPr>
          <a:xfrm>
            <a:off x="5156210" y="3987790"/>
            <a:ext cx="2540020" cy="634959"/>
          </a:xfrm>
          <a:prstGeom prst="rect">
            <a:avLst/>
          </a:prstGeom>
          <a:noFill/>
          <a:ln/>
        </p:spPr>
        <p:txBody>
          <a:bodyPr wrap="square" lIns="0" tIns="0" rIns="0" bIns="0" rtlCol="0" anchor="ctr"/>
          <a:lstStyle/>
          <a:p>
            <a:pPr indent="0" marL="0">
              <a:buNone/>
            </a:pPr>
            <a:r>
              <a:rPr lang="en-US" sz="1300" dirty="0">
                <a:solidFill>
                  <a:srgbClr val="F3EFE4"/>
                </a:solidFill>
                <a:latin typeface="Calibri" pitchFamily="34" charset="0"/>
                <a:ea typeface="Calibri" pitchFamily="34" charset="-122"/>
                <a:cs typeface="Calibri" pitchFamily="34" charset="-120"/>
              </a:rPr>
              <a:t>3 · Ask: "Is it true: G ? (yes/no/why)"</a:t>
            </a:r>
            <a:endParaRPr lang="en-US" sz="1300" dirty="0"/>
          </a:p>
        </p:txBody>
      </p:sp>
      <p:sp>
        <p:nvSpPr>
          <p:cNvPr id="14" name="Shape 11"/>
          <p:cNvSpPr/>
          <p:nvPr/>
        </p:nvSpPr>
        <p:spPr>
          <a:xfrm>
            <a:off x="5029200" y="5130790"/>
            <a:ext cx="2794041" cy="634959"/>
          </a:xfrm>
          <a:prstGeom prst="roundRect">
            <a:avLst>
              <a:gd name="adj" fmla="val 14401"/>
            </a:avLst>
          </a:prstGeom>
          <a:solidFill>
            <a:srgbClr val="1E2433"/>
          </a:solidFill>
          <a:ln/>
        </p:spPr>
      </p:sp>
      <p:sp>
        <p:nvSpPr>
          <p:cNvPr id="15" name="Text 12"/>
          <p:cNvSpPr txBox="1"/>
          <p:nvPr/>
        </p:nvSpPr>
        <p:spPr>
          <a:xfrm>
            <a:off x="5156210" y="5130790"/>
            <a:ext cx="2540020" cy="634959"/>
          </a:xfrm>
          <a:prstGeom prst="rect">
            <a:avLst/>
          </a:prstGeom>
          <a:noFill/>
          <a:ln/>
        </p:spPr>
        <p:txBody>
          <a:bodyPr wrap="square" lIns="0" tIns="0" rIns="0" bIns="0" rtlCol="0" anchor="ctr"/>
          <a:lstStyle/>
          <a:p>
            <a:pPr indent="0" marL="0">
              <a:buNone/>
            </a:pPr>
            <a:r>
              <a:rPr lang="en-US" sz="1300" dirty="0">
                <a:solidFill>
                  <a:srgbClr val="F3EFE4"/>
                </a:solidFill>
                <a:latin typeface="Calibri" pitchFamily="34" charset="0"/>
                <a:ea typeface="Calibri" pitchFamily="34" charset="-122"/>
                <a:cs typeface="Calibri" pitchFamily="34" charset="-120"/>
              </a:rPr>
              <a:t>4 · Store the answer; succeed only if it is yes</a:t>
            </a:r>
            <a:endParaRPr lang="en-US" sz="1300" dirty="0"/>
          </a:p>
        </p:txBody>
      </p:sp>
      <p:sp>
        <p:nvSpPr>
          <p:cNvPr id="16" name="Shape 13"/>
          <p:cNvSpPr/>
          <p:nvPr/>
        </p:nvSpPr>
        <p:spPr>
          <a:xfrm>
            <a:off x="8585210" y="1701790"/>
            <a:ext cx="2794041" cy="634959"/>
          </a:xfrm>
          <a:prstGeom prst="roundRect">
            <a:avLst>
              <a:gd name="adj" fmla="val 14401"/>
            </a:avLst>
          </a:prstGeom>
          <a:solidFill>
            <a:srgbClr val="FFFFFF"/>
          </a:solidFill>
          <a:ln w="25400">
            <a:solidFill>
              <a:srgbClr val="4A5264"/>
            </a:solidFill>
            <a:prstDash val="solid"/>
          </a:ln>
        </p:spPr>
      </p:sp>
      <p:sp>
        <p:nvSpPr>
          <p:cNvPr id="17" name="Text 14"/>
          <p:cNvSpPr txBox="1"/>
          <p:nvPr/>
        </p:nvSpPr>
        <p:spPr>
          <a:xfrm>
            <a:off x="8712220" y="1701790"/>
            <a:ext cx="2540020" cy="634959"/>
          </a:xfrm>
          <a:prstGeom prst="rect">
            <a:avLst/>
          </a:prstGeom>
          <a:noFill/>
          <a:ln/>
        </p:spPr>
        <p:txBody>
          <a:bodyPr wrap="square" lIns="0" tIns="0" rIns="0" bIns="0" rtlCol="0" anchor="ctr"/>
          <a:lstStyle/>
          <a:p>
            <a:pPr indent="0" marL="0">
              <a:buNone/>
            </a:pPr>
            <a:r>
              <a:rPr lang="en-US" sz="1300" dirty="0">
                <a:solidFill>
                  <a:srgbClr val="1B2233"/>
                </a:solidFill>
                <a:latin typeface="Calibri" pitchFamily="34" charset="0"/>
                <a:ea typeface="Calibri" pitchFamily="34" charset="-122"/>
                <a:cs typeface="Calibri" pitchFamily="34" charset="-120"/>
              </a:rPr>
              <a:t>No: prove it with rules (backward chaining)</a:t>
            </a:r>
            <a:endParaRPr lang="en-US" sz="1300" dirty="0"/>
          </a:p>
        </p:txBody>
      </p:sp>
      <p:sp>
        <p:nvSpPr>
          <p:cNvPr id="18" name="Shape 15"/>
          <p:cNvSpPr/>
          <p:nvPr/>
        </p:nvSpPr>
        <p:spPr>
          <a:xfrm>
            <a:off x="8585210" y="2844790"/>
            <a:ext cx="2794041" cy="634959"/>
          </a:xfrm>
          <a:prstGeom prst="roundRect">
            <a:avLst>
              <a:gd name="adj" fmla="val 14401"/>
            </a:avLst>
          </a:prstGeom>
          <a:solidFill>
            <a:srgbClr val="FFFFFF"/>
          </a:solidFill>
          <a:ln w="25400">
            <a:solidFill>
              <a:srgbClr val="2F5DA8"/>
            </a:solidFill>
            <a:prstDash val="solid"/>
          </a:ln>
        </p:spPr>
      </p:sp>
      <p:sp>
        <p:nvSpPr>
          <p:cNvPr id="19" name="Text 16"/>
          <p:cNvSpPr txBox="1"/>
          <p:nvPr/>
        </p:nvSpPr>
        <p:spPr>
          <a:xfrm>
            <a:off x="8712220" y="2844790"/>
            <a:ext cx="2540020" cy="634959"/>
          </a:xfrm>
          <a:prstGeom prst="rect">
            <a:avLst/>
          </a:prstGeom>
          <a:noFill/>
          <a:ln/>
        </p:spPr>
        <p:txBody>
          <a:bodyPr wrap="square" lIns="0" tIns="0" rIns="0" bIns="0" rtlCol="0" anchor="ctr"/>
          <a:lstStyle/>
          <a:p>
            <a:pPr indent="0" marL="0">
              <a:buNone/>
            </a:pPr>
            <a:r>
              <a:rPr lang="en-US" sz="1300" dirty="0">
                <a:solidFill>
                  <a:srgbClr val="1B2233"/>
                </a:solidFill>
                <a:latin typeface="Calibri" pitchFamily="34" charset="0"/>
                <a:ea typeface="Calibri" pitchFamily="34" charset="-122"/>
                <a:cs typeface="Calibri" pitchFamily="34" charset="-120"/>
              </a:rPr>
              <a:t>Yes: reuse the stored answer, no new question</a:t>
            </a:r>
            <a:endParaRPr lang="en-US" sz="1300" dirty="0"/>
          </a:p>
        </p:txBody>
      </p:sp>
      <p:sp>
        <p:nvSpPr>
          <p:cNvPr id="20" name="Shape 17"/>
          <p:cNvSpPr/>
          <p:nvPr/>
        </p:nvSpPr>
        <p:spPr>
          <a:xfrm>
            <a:off x="8585210" y="3987790"/>
            <a:ext cx="2794041" cy="634959"/>
          </a:xfrm>
          <a:prstGeom prst="roundRect">
            <a:avLst>
              <a:gd name="adj" fmla="val 14401"/>
            </a:avLst>
          </a:prstGeom>
          <a:solidFill>
            <a:srgbClr val="FFFFFF"/>
          </a:solidFill>
          <a:ln w="25400">
            <a:solidFill>
              <a:srgbClr val="A8441A"/>
            </a:solidFill>
            <a:prstDash val="solid"/>
          </a:ln>
        </p:spPr>
      </p:sp>
      <p:sp>
        <p:nvSpPr>
          <p:cNvPr id="21" name="Text 18"/>
          <p:cNvSpPr txBox="1"/>
          <p:nvPr/>
        </p:nvSpPr>
        <p:spPr>
          <a:xfrm>
            <a:off x="8712220" y="3987790"/>
            <a:ext cx="2540020" cy="634959"/>
          </a:xfrm>
          <a:prstGeom prst="rect">
            <a:avLst/>
          </a:prstGeom>
          <a:noFill/>
          <a:ln/>
        </p:spPr>
        <p:txBody>
          <a:bodyPr wrap="square" lIns="0" tIns="0" rIns="0" bIns="0" rtlCol="0" anchor="ctr"/>
          <a:lstStyle/>
          <a:p>
            <a:pPr indent="0" marL="0">
              <a:buNone/>
            </a:pPr>
            <a:r>
              <a:rPr lang="en-US" sz="1300" dirty="0">
                <a:solidFill>
                  <a:srgbClr val="1B2233"/>
                </a:solidFill>
                <a:latin typeface="Calibri" pitchFamily="34" charset="0"/>
                <a:ea typeface="Calibri" pitchFamily="34" charset="-122"/>
                <a:cs typeface="Calibri" pitchFamily="34" charset="-120"/>
              </a:rPr>
              <a:t>why: print the rules that need G, then ask again</a:t>
            </a:r>
            <a:endParaRPr lang="en-US" sz="1300" dirty="0"/>
          </a:p>
        </p:txBody>
      </p:sp>
      <p:sp>
        <p:nvSpPr>
          <p:cNvPr id="22" name="Text 19"/>
          <p:cNvSpPr txBox="1"/>
          <p:nvPr/>
        </p:nvSpPr>
        <p:spPr>
          <a:xfrm>
            <a:off x="6527810" y="2476470"/>
            <a:ext cx="1015990" cy="228600"/>
          </a:xfrm>
          <a:prstGeom prst="rect">
            <a:avLst/>
          </a:prstGeom>
          <a:noFill/>
          <a:ln/>
        </p:spPr>
        <p:txBody>
          <a:bodyPr wrap="square" lIns="0" tIns="0" rIns="0" bIns="0" rtlCol="0" anchor="ctr"/>
          <a:lstStyle/>
          <a:p>
            <a:pPr indent="0" marL="0">
              <a:buNone/>
            </a:pPr>
            <a:r>
              <a:rPr lang="en-US" sz="1300" b="1" dirty="0">
                <a:solidFill>
                  <a:srgbClr val="1B2233"/>
                </a:solidFill>
                <a:latin typeface="Calibri" pitchFamily="34" charset="0"/>
                <a:ea typeface="Calibri" pitchFamily="34" charset="-122"/>
                <a:cs typeface="Calibri" pitchFamily="34" charset="-120"/>
              </a:rPr>
              <a:t>yes</a:t>
            </a:r>
            <a:endParaRPr lang="en-US" sz="1300" dirty="0"/>
          </a:p>
        </p:txBody>
      </p:sp>
      <p:sp>
        <p:nvSpPr>
          <p:cNvPr id="23" name="Text 20"/>
          <p:cNvSpPr txBox="1"/>
          <p:nvPr/>
        </p:nvSpPr>
        <p:spPr>
          <a:xfrm>
            <a:off x="6527810" y="3619470"/>
            <a:ext cx="1015990" cy="228600"/>
          </a:xfrm>
          <a:prstGeom prst="rect">
            <a:avLst/>
          </a:prstGeom>
          <a:noFill/>
          <a:ln/>
        </p:spPr>
        <p:txBody>
          <a:bodyPr wrap="square" lIns="0" tIns="0" rIns="0" bIns="0" rtlCol="0" anchor="ctr"/>
          <a:lstStyle/>
          <a:p>
            <a:pPr indent="0" marL="0">
              <a:buNone/>
            </a:pPr>
            <a:r>
              <a:rPr lang="en-US" sz="1300" b="1" dirty="0">
                <a:solidFill>
                  <a:srgbClr val="1B2233"/>
                </a:solidFill>
                <a:latin typeface="Calibri" pitchFamily="34" charset="0"/>
                <a:ea typeface="Calibri" pitchFamily="34" charset="-122"/>
                <a:cs typeface="Calibri" pitchFamily="34" charset="-120"/>
              </a:rPr>
              <a:t>no</a:t>
            </a:r>
            <a:endParaRPr lang="en-US" sz="1300" dirty="0"/>
          </a:p>
        </p:txBody>
      </p:sp>
      <p:sp>
        <p:nvSpPr>
          <p:cNvPr id="24" name="Text 21"/>
          <p:cNvSpPr txBox="1"/>
          <p:nvPr/>
        </p:nvSpPr>
        <p:spPr>
          <a:xfrm>
            <a:off x="6527810" y="4762470"/>
            <a:ext cx="1015990" cy="228600"/>
          </a:xfrm>
          <a:prstGeom prst="rect">
            <a:avLst/>
          </a:prstGeom>
          <a:noFill/>
          <a:ln/>
        </p:spPr>
        <p:txBody>
          <a:bodyPr wrap="square" lIns="0" tIns="0" rIns="0" bIns="0" rtlCol="0" anchor="ctr"/>
          <a:lstStyle/>
          <a:p>
            <a:pPr indent="0" marL="0">
              <a:buNone/>
            </a:pPr>
            <a:r>
              <a:rPr lang="en-US" sz="1300" b="1" dirty="0">
                <a:solidFill>
                  <a:srgbClr val="1B2233"/>
                </a:solidFill>
                <a:latin typeface="Calibri" pitchFamily="34" charset="0"/>
                <a:ea typeface="Calibri" pitchFamily="34" charset="-122"/>
                <a:cs typeface="Calibri" pitchFamily="34" charset="-120"/>
              </a:rPr>
              <a:t>yes / no</a:t>
            </a:r>
            <a:endParaRPr lang="en-US" sz="1300" dirty="0"/>
          </a:p>
        </p:txBody>
      </p:sp>
      <p:sp>
        <p:nvSpPr>
          <p:cNvPr id="25" name="Shape 22"/>
          <p:cNvSpPr/>
          <p:nvPr/>
        </p:nvSpPr>
        <p:spPr>
          <a:xfrm>
            <a:off x="6426220" y="2336841"/>
            <a:ext cx="0" cy="508041"/>
          </a:xfrm>
          <a:prstGeom prst="line">
            <a:avLst/>
          </a:prstGeom>
          <a:noFill/>
          <a:ln w="28575">
            <a:solidFill>
              <a:srgbClr val="4A5264"/>
            </a:solidFill>
            <a:prstDash val="solid"/>
            <a:tailEnd type="triangle"/>
          </a:ln>
        </p:spPr>
      </p:sp>
      <p:sp>
        <p:nvSpPr>
          <p:cNvPr id="26" name="Shape 23"/>
          <p:cNvSpPr/>
          <p:nvPr/>
        </p:nvSpPr>
        <p:spPr>
          <a:xfrm>
            <a:off x="6426220" y="3479841"/>
            <a:ext cx="0" cy="508041"/>
          </a:xfrm>
          <a:prstGeom prst="line">
            <a:avLst/>
          </a:prstGeom>
          <a:noFill/>
          <a:ln w="28575">
            <a:solidFill>
              <a:srgbClr val="4A5264"/>
            </a:solidFill>
            <a:prstDash val="solid"/>
            <a:tailEnd type="triangle"/>
          </a:ln>
        </p:spPr>
      </p:sp>
      <p:sp>
        <p:nvSpPr>
          <p:cNvPr id="27" name="Shape 24"/>
          <p:cNvSpPr/>
          <p:nvPr/>
        </p:nvSpPr>
        <p:spPr>
          <a:xfrm>
            <a:off x="6426220" y="4622841"/>
            <a:ext cx="0" cy="508041"/>
          </a:xfrm>
          <a:prstGeom prst="line">
            <a:avLst/>
          </a:prstGeom>
          <a:noFill/>
          <a:ln w="28575">
            <a:solidFill>
              <a:srgbClr val="4A5264"/>
            </a:solidFill>
            <a:prstDash val="solid"/>
            <a:tailEnd type="triangle"/>
          </a:ln>
        </p:spPr>
      </p:sp>
      <p:sp>
        <p:nvSpPr>
          <p:cNvPr id="28" name="Shape 25"/>
          <p:cNvSpPr/>
          <p:nvPr/>
        </p:nvSpPr>
        <p:spPr>
          <a:xfrm>
            <a:off x="7823241" y="2019270"/>
            <a:ext cx="761970" cy="0"/>
          </a:xfrm>
          <a:prstGeom prst="line">
            <a:avLst/>
          </a:prstGeom>
          <a:noFill/>
          <a:ln w="28575">
            <a:solidFill>
              <a:srgbClr val="4A5264"/>
            </a:solidFill>
            <a:prstDash val="solid"/>
            <a:tailEnd type="triangle"/>
          </a:ln>
        </p:spPr>
      </p:sp>
      <p:sp>
        <p:nvSpPr>
          <p:cNvPr id="29" name="Shape 26"/>
          <p:cNvSpPr/>
          <p:nvPr/>
        </p:nvSpPr>
        <p:spPr>
          <a:xfrm>
            <a:off x="7823241" y="3162270"/>
            <a:ext cx="761970" cy="0"/>
          </a:xfrm>
          <a:prstGeom prst="line">
            <a:avLst/>
          </a:prstGeom>
          <a:noFill/>
          <a:ln w="28575">
            <a:solidFill>
              <a:srgbClr val="2F5DA8"/>
            </a:solidFill>
            <a:prstDash val="solid"/>
            <a:tailEnd type="triangle"/>
          </a:ln>
        </p:spPr>
      </p:sp>
      <p:sp>
        <p:nvSpPr>
          <p:cNvPr id="30" name="Shape 27"/>
          <p:cNvSpPr/>
          <p:nvPr/>
        </p:nvSpPr>
        <p:spPr>
          <a:xfrm>
            <a:off x="7823241" y="4305270"/>
            <a:ext cx="761970" cy="0"/>
          </a:xfrm>
          <a:prstGeom prst="line">
            <a:avLst/>
          </a:prstGeom>
          <a:noFill/>
          <a:ln w="28575">
            <a:solidFill>
              <a:srgbClr val="A8441A"/>
            </a:solidFill>
            <a:prstDash val="solid"/>
            <a:headEnd type="triangle"/>
            <a:tailEnd type="triangle"/>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13A"/>
        </a:solidFill>
      </p:bgPr>
    </p:bg>
    <p:spTree>
      <p:nvGrpSpPr>
        <p:cNvPr id="1" name=""/>
        <p:cNvGrpSpPr/>
        <p:nvPr/>
      </p:nvGrpSpPr>
      <p:grpSpPr>
        <a:xfrm>
          <a:off x="0" y="0"/>
          <a:ext cx="0" cy="0"/>
          <a:chOff x="0" y="0"/>
          <a:chExt cx="0" cy="0"/>
        </a:xfrm>
      </p:grpSpPr>
      <p:sp>
        <p:nvSpPr>
          <p:cNvPr id="2" name="Text 0"/>
          <p:cNvSpPr txBox="1"/>
          <p:nvPr/>
        </p:nvSpPr>
        <p:spPr>
          <a:xfrm>
            <a:off x="812810" y="1587490"/>
            <a:ext cx="10159990" cy="254020"/>
          </a:xfrm>
          <a:prstGeom prst="rect">
            <a:avLst/>
          </a:prstGeom>
          <a:noFill/>
          <a:ln/>
        </p:spPr>
        <p:txBody>
          <a:bodyPr wrap="square" lIns="0" tIns="0" rIns="0" bIns="0" rtlCol="0" anchor="t"/>
          <a:lstStyle/>
          <a:p>
            <a:pPr indent="0" marL="0">
              <a:buNone/>
            </a:pPr>
            <a:r>
              <a:rPr lang="en-US" sz="1200" b="1" spc="300" kern="0" dirty="0">
                <a:solidFill>
                  <a:srgbClr val="F2A65A"/>
                </a:solidFill>
                <a:latin typeface="Calibri" pitchFamily="34" charset="0"/>
                <a:ea typeface="Calibri" pitchFamily="34" charset="-122"/>
                <a:cs typeface="Calibri" pitchFamily="34" charset="-120"/>
              </a:rPr>
              <a:t>03 · BUILDING THE SYSTEM</a:t>
            </a:r>
            <a:endParaRPr lang="en-US" sz="1200" dirty="0"/>
          </a:p>
        </p:txBody>
      </p:sp>
      <p:sp>
        <p:nvSpPr>
          <p:cNvPr id="3" name="Text 1"/>
          <p:cNvSpPr txBox="1"/>
          <p:nvPr/>
        </p:nvSpPr>
        <p:spPr>
          <a:xfrm>
            <a:off x="812810" y="1904970"/>
            <a:ext cx="10566441" cy="761970"/>
          </a:xfrm>
          <a:prstGeom prst="rect">
            <a:avLst/>
          </a:prstGeom>
          <a:noFill/>
          <a:ln/>
        </p:spPr>
        <p:txBody>
          <a:bodyPr wrap="square" lIns="0" tIns="0" rIns="0" bIns="0" rtlCol="0" anchor="ctr"/>
          <a:lstStyle/>
          <a:p>
            <a:pPr indent="0" marL="0">
              <a:buNone/>
            </a:pPr>
            <a:r>
              <a:rPr lang="en-US" sz="4000" b="1" dirty="0">
                <a:solidFill>
                  <a:srgbClr val="F3EFE4"/>
                </a:solidFill>
                <a:latin typeface="Cambria" pitchFamily="34" charset="0"/>
                <a:ea typeface="Cambria" pitchFamily="34" charset="-122"/>
                <a:cs typeface="Cambria" pitchFamily="34" charset="-120"/>
              </a:rPr>
              <a:t>Four pieces make an expert system</a:t>
            </a:r>
            <a:endParaRPr lang="en-US" sz="4000" dirty="0"/>
          </a:p>
        </p:txBody>
      </p:sp>
      <p:sp>
        <p:nvSpPr>
          <p:cNvPr id="4" name="Shape 2"/>
          <p:cNvSpPr/>
          <p:nvPr/>
        </p:nvSpPr>
        <p:spPr>
          <a:xfrm>
            <a:off x="812810" y="3047970"/>
            <a:ext cx="2222541" cy="888980"/>
          </a:xfrm>
          <a:prstGeom prst="roundRect">
            <a:avLst>
              <a:gd name="adj" fmla="val 12343"/>
            </a:avLst>
          </a:prstGeom>
          <a:solidFill>
            <a:srgbClr val="16213A"/>
          </a:solidFill>
          <a:ln w="25400">
            <a:solidFill>
              <a:srgbClr val="F2A65A"/>
            </a:solidFill>
            <a:prstDash val="solid"/>
          </a:ln>
        </p:spPr>
      </p:sp>
      <p:sp>
        <p:nvSpPr>
          <p:cNvPr id="5" name="Text 3"/>
          <p:cNvSpPr txBox="1"/>
          <p:nvPr/>
        </p:nvSpPr>
        <p:spPr>
          <a:xfrm>
            <a:off x="990570" y="3047970"/>
            <a:ext cx="1904970" cy="888980"/>
          </a:xfrm>
          <a:prstGeom prst="rect">
            <a:avLst/>
          </a:prstGeom>
          <a:noFill/>
          <a:ln/>
        </p:spPr>
        <p:txBody>
          <a:bodyPr wrap="square" lIns="0" tIns="0" rIns="0" bIns="0" rtlCol="0" anchor="ctr"/>
          <a:lstStyle/>
          <a:p>
            <a:pPr indent="0" marL="0">
              <a:lnSpc>
                <a:spcPct val="130000"/>
              </a:lnSpc>
              <a:buNone/>
            </a:pPr>
            <a:r>
              <a:rPr lang="en-US" sz="1600" b="1" dirty="0">
                <a:solidFill>
                  <a:srgbClr val="F3EFE4"/>
                </a:solidFill>
                <a:latin typeface="Calibri" pitchFamily="34" charset="0"/>
                <a:ea typeface="Calibri" pitchFamily="34" charset="-122"/>
                <a:cs typeface="Calibri" pitchFamily="34" charset="-120"/>
              </a:rPr>
              <a:t>Knowledge base</a:t>
            </a:r>
            <a:endParaRPr lang="en-US" sz="1300" dirty="0"/>
          </a:p>
          <a:p>
            <a:pPr indent="0" marL="0">
              <a:lnSpc>
                <a:spcPct val="130000"/>
              </a:lnSpc>
              <a:buNone/>
            </a:pPr>
            <a:r>
              <a:rPr lang="en-US" sz="1200" dirty="0">
                <a:solidFill>
                  <a:srgbClr val="F2A65A"/>
                </a:solidFill>
                <a:latin typeface="Consolas" pitchFamily="34" charset="0"/>
                <a:ea typeface="Consolas" pitchFamily="34" charset="-122"/>
                <a:cs typeface="Consolas" pitchFamily="34" charset="-120"/>
              </a:rPr>
              <a:t>Id :: if … then …</a:t>
            </a:r>
            <a:endParaRPr lang="en-US" sz="1300" dirty="0"/>
          </a:p>
        </p:txBody>
      </p:sp>
      <p:sp>
        <p:nvSpPr>
          <p:cNvPr id="6" name="Text 4"/>
          <p:cNvSpPr txBox="1"/>
          <p:nvPr/>
        </p:nvSpPr>
        <p:spPr>
          <a:xfrm>
            <a:off x="3035259" y="3047970"/>
            <a:ext cx="444490" cy="888980"/>
          </a:xfrm>
          <a:prstGeom prst="rect">
            <a:avLst/>
          </a:prstGeom>
          <a:noFill/>
          <a:ln/>
        </p:spPr>
        <p:txBody>
          <a:bodyPr wrap="square" lIns="0" tIns="0" rIns="0" bIns="0" rtlCol="0" anchor="ctr"/>
          <a:lstStyle/>
          <a:p>
            <a:pPr algn="ctr" indent="0" marL="0">
              <a:buNone/>
            </a:pPr>
            <a:r>
              <a:rPr lang="en-US" sz="2400" b="1" dirty="0">
                <a:solidFill>
                  <a:srgbClr val="C9D1E0"/>
                </a:solidFill>
                <a:latin typeface="Calibri" pitchFamily="34" charset="0"/>
                <a:ea typeface="Calibri" pitchFamily="34" charset="-122"/>
                <a:cs typeface="Calibri" pitchFamily="34" charset="-120"/>
              </a:rPr>
              <a:t>+</a:t>
            </a:r>
            <a:endParaRPr lang="en-US" sz="2400" dirty="0"/>
          </a:p>
        </p:txBody>
      </p:sp>
      <p:sp>
        <p:nvSpPr>
          <p:cNvPr id="7" name="Shape 5"/>
          <p:cNvSpPr/>
          <p:nvPr/>
        </p:nvSpPr>
        <p:spPr>
          <a:xfrm>
            <a:off x="3479841" y="3047970"/>
            <a:ext cx="2222541" cy="888980"/>
          </a:xfrm>
          <a:prstGeom prst="roundRect">
            <a:avLst>
              <a:gd name="adj" fmla="val 12343"/>
            </a:avLst>
          </a:prstGeom>
          <a:solidFill>
            <a:srgbClr val="16213A"/>
          </a:solidFill>
          <a:ln w="25400">
            <a:solidFill>
              <a:srgbClr val="F2A65A"/>
            </a:solidFill>
            <a:prstDash val="solid"/>
          </a:ln>
        </p:spPr>
      </p:sp>
      <p:sp>
        <p:nvSpPr>
          <p:cNvPr id="8" name="Text 6"/>
          <p:cNvSpPr txBox="1"/>
          <p:nvPr/>
        </p:nvSpPr>
        <p:spPr>
          <a:xfrm>
            <a:off x="3657600" y="3047970"/>
            <a:ext cx="1904970" cy="888980"/>
          </a:xfrm>
          <a:prstGeom prst="rect">
            <a:avLst/>
          </a:prstGeom>
          <a:noFill/>
          <a:ln/>
        </p:spPr>
        <p:txBody>
          <a:bodyPr wrap="square" lIns="0" tIns="0" rIns="0" bIns="0" rtlCol="0" anchor="ctr"/>
          <a:lstStyle/>
          <a:p>
            <a:pPr indent="0" marL="0">
              <a:lnSpc>
                <a:spcPct val="130000"/>
              </a:lnSpc>
              <a:buNone/>
            </a:pPr>
            <a:r>
              <a:rPr lang="en-US" sz="1600" b="1" dirty="0">
                <a:solidFill>
                  <a:srgbClr val="F3EFE4"/>
                </a:solidFill>
                <a:latin typeface="Calibri" pitchFamily="34" charset="0"/>
                <a:ea typeface="Calibri" pitchFamily="34" charset="-122"/>
                <a:cs typeface="Calibri" pitchFamily="34" charset="-120"/>
              </a:rPr>
              <a:t>Inference engine</a:t>
            </a:r>
            <a:endParaRPr lang="en-US" sz="1300" dirty="0"/>
          </a:p>
          <a:p>
            <a:pPr indent="0" marL="0">
              <a:lnSpc>
                <a:spcPct val="130000"/>
              </a:lnSpc>
              <a:buNone/>
            </a:pPr>
            <a:r>
              <a:rPr lang="en-US" sz="1200" dirty="0">
                <a:solidFill>
                  <a:srgbClr val="F2A65A"/>
                </a:solidFill>
                <a:latin typeface="Consolas" pitchFamily="34" charset="0"/>
                <a:ea typeface="Consolas" pitchFamily="34" charset="-122"/>
                <a:cs typeface="Consolas" pitchFamily="34" charset="-120"/>
              </a:rPr>
              <a:t>prove/3</a:t>
            </a:r>
            <a:endParaRPr lang="en-US" sz="1300" dirty="0"/>
          </a:p>
        </p:txBody>
      </p:sp>
      <p:sp>
        <p:nvSpPr>
          <p:cNvPr id="9" name="Text 7"/>
          <p:cNvSpPr txBox="1"/>
          <p:nvPr/>
        </p:nvSpPr>
        <p:spPr>
          <a:xfrm>
            <a:off x="5702290" y="3047970"/>
            <a:ext cx="444490" cy="888980"/>
          </a:xfrm>
          <a:prstGeom prst="rect">
            <a:avLst/>
          </a:prstGeom>
          <a:noFill/>
          <a:ln/>
        </p:spPr>
        <p:txBody>
          <a:bodyPr wrap="square" lIns="0" tIns="0" rIns="0" bIns="0" rtlCol="0" anchor="ctr"/>
          <a:lstStyle/>
          <a:p>
            <a:pPr algn="ctr" indent="0" marL="0">
              <a:buNone/>
            </a:pPr>
            <a:r>
              <a:rPr lang="en-US" sz="2400" b="1" dirty="0">
                <a:solidFill>
                  <a:srgbClr val="C9D1E0"/>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146780" y="3047970"/>
            <a:ext cx="2222541" cy="888980"/>
          </a:xfrm>
          <a:prstGeom prst="roundRect">
            <a:avLst>
              <a:gd name="adj" fmla="val 12343"/>
            </a:avLst>
          </a:prstGeom>
          <a:solidFill>
            <a:srgbClr val="16213A"/>
          </a:solidFill>
          <a:ln w="25400">
            <a:solidFill>
              <a:srgbClr val="F2A65A"/>
            </a:solidFill>
            <a:prstDash val="solid"/>
          </a:ln>
        </p:spPr>
      </p:sp>
      <p:sp>
        <p:nvSpPr>
          <p:cNvPr id="11" name="Text 9"/>
          <p:cNvSpPr txBox="1"/>
          <p:nvPr/>
        </p:nvSpPr>
        <p:spPr>
          <a:xfrm>
            <a:off x="6324630" y="3047970"/>
            <a:ext cx="1904970" cy="888980"/>
          </a:xfrm>
          <a:prstGeom prst="rect">
            <a:avLst/>
          </a:prstGeom>
          <a:noFill/>
          <a:ln/>
        </p:spPr>
        <p:txBody>
          <a:bodyPr wrap="square" lIns="0" tIns="0" rIns="0" bIns="0" rtlCol="0" anchor="ctr"/>
          <a:lstStyle/>
          <a:p>
            <a:pPr indent="0" marL="0">
              <a:lnSpc>
                <a:spcPct val="130000"/>
              </a:lnSpc>
              <a:buNone/>
            </a:pPr>
            <a:r>
              <a:rPr lang="en-US" sz="1600" b="1" dirty="0">
                <a:solidFill>
                  <a:srgbClr val="F3EFE4"/>
                </a:solidFill>
                <a:latin typeface="Calibri" pitchFamily="34" charset="0"/>
                <a:ea typeface="Calibri" pitchFamily="34" charset="-122"/>
                <a:cs typeface="Calibri" pitchFamily="34" charset="-120"/>
              </a:rPr>
              <a:t>Ask the user</a:t>
            </a:r>
            <a:endParaRPr lang="en-US" sz="1300" dirty="0"/>
          </a:p>
          <a:p>
            <a:pPr indent="0" marL="0">
              <a:lnSpc>
                <a:spcPct val="130000"/>
              </a:lnSpc>
              <a:buNone/>
            </a:pPr>
            <a:r>
              <a:rPr lang="en-US" sz="1200" dirty="0">
                <a:solidFill>
                  <a:srgbClr val="F2A65A"/>
                </a:solidFill>
                <a:latin typeface="Consolas" pitchFamily="34" charset="0"/>
                <a:ea typeface="Consolas" pitchFamily="34" charset="-122"/>
                <a:cs typeface="Consolas" pitchFamily="34" charset="-120"/>
              </a:rPr>
              <a:t>ask/2</a:t>
            </a:r>
            <a:endParaRPr lang="en-US" sz="1300" dirty="0"/>
          </a:p>
        </p:txBody>
      </p:sp>
      <p:sp>
        <p:nvSpPr>
          <p:cNvPr id="12" name="Text 10"/>
          <p:cNvSpPr txBox="1"/>
          <p:nvPr/>
        </p:nvSpPr>
        <p:spPr>
          <a:xfrm>
            <a:off x="8369320" y="3047970"/>
            <a:ext cx="444490" cy="888980"/>
          </a:xfrm>
          <a:prstGeom prst="rect">
            <a:avLst/>
          </a:prstGeom>
          <a:noFill/>
          <a:ln/>
        </p:spPr>
        <p:txBody>
          <a:bodyPr wrap="square" lIns="0" tIns="0" rIns="0" bIns="0" rtlCol="0" anchor="ctr"/>
          <a:lstStyle/>
          <a:p>
            <a:pPr algn="ctr" indent="0" marL="0">
              <a:buNone/>
            </a:pPr>
            <a:r>
              <a:rPr lang="en-US" sz="2400" b="1" dirty="0">
                <a:solidFill>
                  <a:srgbClr val="C9D1E0"/>
                </a:solidFill>
                <a:latin typeface="Calibri" pitchFamily="34" charset="0"/>
                <a:ea typeface="Calibri" pitchFamily="34" charset="-122"/>
                <a:cs typeface="Calibri" pitchFamily="34" charset="-120"/>
              </a:rPr>
              <a:t>+</a:t>
            </a:r>
            <a:endParaRPr lang="en-US" sz="2400" dirty="0"/>
          </a:p>
        </p:txBody>
      </p:sp>
      <p:sp>
        <p:nvSpPr>
          <p:cNvPr id="13" name="Shape 11"/>
          <p:cNvSpPr/>
          <p:nvPr/>
        </p:nvSpPr>
        <p:spPr>
          <a:xfrm>
            <a:off x="8813810" y="3047970"/>
            <a:ext cx="2222541" cy="888980"/>
          </a:xfrm>
          <a:prstGeom prst="roundRect">
            <a:avLst>
              <a:gd name="adj" fmla="val 12343"/>
            </a:avLst>
          </a:prstGeom>
          <a:solidFill>
            <a:srgbClr val="16213A"/>
          </a:solidFill>
          <a:ln w="25400">
            <a:solidFill>
              <a:srgbClr val="F2A65A"/>
            </a:solidFill>
            <a:prstDash val="solid"/>
          </a:ln>
        </p:spPr>
      </p:sp>
      <p:sp>
        <p:nvSpPr>
          <p:cNvPr id="14" name="Text 12"/>
          <p:cNvSpPr txBox="1"/>
          <p:nvPr/>
        </p:nvSpPr>
        <p:spPr>
          <a:xfrm>
            <a:off x="8991570" y="3047970"/>
            <a:ext cx="1904970" cy="888980"/>
          </a:xfrm>
          <a:prstGeom prst="rect">
            <a:avLst/>
          </a:prstGeom>
          <a:noFill/>
          <a:ln/>
        </p:spPr>
        <p:txBody>
          <a:bodyPr wrap="square" lIns="0" tIns="0" rIns="0" bIns="0" rtlCol="0" anchor="ctr"/>
          <a:lstStyle/>
          <a:p>
            <a:pPr indent="0" marL="0">
              <a:lnSpc>
                <a:spcPct val="130000"/>
              </a:lnSpc>
              <a:buNone/>
            </a:pPr>
            <a:r>
              <a:rPr lang="en-US" sz="1600" b="1" dirty="0">
                <a:solidFill>
                  <a:srgbClr val="F3EFE4"/>
                </a:solidFill>
                <a:latin typeface="Calibri" pitchFamily="34" charset="0"/>
                <a:ea typeface="Calibri" pitchFamily="34" charset="-122"/>
                <a:cs typeface="Calibri" pitchFamily="34" charset="-120"/>
              </a:rPr>
              <a:t>Explain</a:t>
            </a:r>
            <a:endParaRPr lang="en-US" sz="1300" dirty="0"/>
          </a:p>
          <a:p>
            <a:pPr indent="0" marL="0">
              <a:lnSpc>
                <a:spcPct val="130000"/>
              </a:lnSpc>
              <a:buNone/>
            </a:pPr>
            <a:r>
              <a:rPr lang="en-US" sz="1200" dirty="0">
                <a:solidFill>
                  <a:srgbClr val="F2A65A"/>
                </a:solidFill>
                <a:latin typeface="Consolas" pitchFamily="34" charset="0"/>
                <a:ea typeface="Consolas" pitchFamily="34" charset="-122"/>
                <a:cs typeface="Consolas" pitchFamily="34" charset="-120"/>
              </a:rPr>
              <a:t>why/1 · how/2</a:t>
            </a:r>
            <a:endParaRPr lang="en-US" sz="1300" dirty="0"/>
          </a:p>
        </p:txBody>
      </p:sp>
      <p:sp>
        <p:nvSpPr>
          <p:cNvPr id="15" name="Text 13"/>
          <p:cNvSpPr txBox="1"/>
          <p:nvPr/>
        </p:nvSpPr>
        <p:spPr>
          <a:xfrm>
            <a:off x="812810" y="4317980"/>
            <a:ext cx="8889980" cy="698510"/>
          </a:xfrm>
          <a:prstGeom prst="rect">
            <a:avLst/>
          </a:prstGeom>
          <a:noFill/>
          <a:ln/>
        </p:spPr>
        <p:txBody>
          <a:bodyPr wrap="square" lIns="0" tIns="0" rIns="0" bIns="0" rtlCol="0" anchor="t"/>
          <a:lstStyle/>
          <a:p>
            <a:pPr indent="0" marL="0">
              <a:lnSpc>
                <a:spcPct val="120000"/>
              </a:lnSpc>
              <a:buNone/>
            </a:pPr>
            <a:r>
              <a:rPr lang="en-US" sz="1600" dirty="0">
                <a:solidFill>
                  <a:srgbClr val="C9D1E0"/>
                </a:solidFill>
                <a:latin typeface="Calibri" pitchFamily="34" charset="0"/>
                <a:ea typeface="Calibri" pitchFamily="34" charset="-122"/>
                <a:cs typeface="Calibri" pitchFamily="34" charset="-120"/>
              </a:rPr>
              <a:t>Prolog supplies the hard part (unification and backtracking) for free. Our whole shell is about 60 lines; next we build it, then run it.</a:t>
            </a:r>
            <a:endParaRPr lang="en-US" sz="1600" dirty="0"/>
          </a:p>
        </p:txBody>
      </p:sp>
      <p:sp>
        <p:nvSpPr>
          <p:cNvPr id="16" name="Text 14"/>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C9D1E0"/>
                </a:solidFill>
                <a:latin typeface="Calibri" pitchFamily="34" charset="0"/>
                <a:ea typeface="Calibri" pitchFamily="34" charset="-122"/>
                <a:cs typeface="Calibri"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03 · BUILDING THE SYSTEM</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Design step: rules as data the engine can read</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 rule notation after Bratko (2012), Ch. 15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14</a:t>
            </a:r>
            <a:endParaRPr lang="en-US" sz="1200" dirty="0"/>
          </a:p>
        </p:txBody>
      </p:sp>
      <p:sp>
        <p:nvSpPr>
          <p:cNvPr id="7" name="Text 4"/>
          <p:cNvSpPr txBox="1"/>
          <p:nvPr/>
        </p:nvSpPr>
        <p:spPr>
          <a:xfrm>
            <a:off x="812810" y="1701790"/>
            <a:ext cx="4699010" cy="4063959"/>
          </a:xfrm>
          <a:prstGeom prst="rect">
            <a:avLst/>
          </a:prstGeom>
          <a:noFill/>
          <a:ln/>
        </p:spPr>
        <p:txBody>
          <a:bodyPr wrap="square" lIns="0" tIns="0" rIns="0" bIns="0" rtlCol="0" anchor="t"/>
          <a:lstStyle/>
          <a:p>
            <a:pPr marL="254000" indent="-254000">
              <a:lnSpc>
                <a:spcPct val="110000"/>
              </a:lnSpc>
              <a:spcAft>
                <a:spcPts val="1600"/>
              </a:spcAft>
              <a:buSzPct val="100000"/>
              <a:buChar char="•"/>
            </a:pPr>
            <a:r>
              <a:rPr lang="en-US" sz="1400" dirty="0">
                <a:solidFill>
                  <a:srgbClr val="4A5264"/>
                </a:solidFill>
                <a:latin typeface="Calibri" pitchFamily="34" charset="0"/>
                <a:ea typeface="Calibri" pitchFamily="34" charset="-122"/>
                <a:cs typeface="Calibri" pitchFamily="34" charset="-120"/>
              </a:rPr>
              <a:t>A native clause runs, but the program cannot see </a:t>
            </a:r>
            <a:pPr indent="0" marL="0">
              <a:lnSpc>
                <a:spcPct val="110000"/>
              </a:lnSpc>
              <a:buNone/>
            </a:pPr>
            <a:r>
              <a:rPr lang="en-US" sz="1400" b="1" dirty="0">
                <a:solidFill>
                  <a:srgbClr val="4A5264"/>
                </a:solidFill>
                <a:latin typeface="Calibri" pitchFamily="34" charset="0"/>
                <a:ea typeface="Calibri" pitchFamily="34" charset="-122"/>
                <a:cs typeface="Calibri" pitchFamily="34" charset="-120"/>
              </a:rPr>
              <a:t>which</a:t>
            </a:r>
            <a:pPr indent="0" marL="0">
              <a:lnSpc>
                <a:spcPct val="110000"/>
              </a:lnSpc>
              <a:buNone/>
            </a:pPr>
            <a:r>
              <a:rPr lang="en-US" sz="1400" dirty="0">
                <a:solidFill>
                  <a:srgbClr val="4A5264"/>
                </a:solidFill>
                <a:latin typeface="Calibri" pitchFamily="34" charset="0"/>
                <a:ea typeface="Calibri" pitchFamily="34" charset="-122"/>
                <a:cs typeface="Calibri" pitchFamily="34" charset="-120"/>
              </a:rPr>
              <a:t> rule fired, so it cannot explain.</a:t>
            </a:r>
            <a:endParaRPr lang="en-US" sz="1400" dirty="0"/>
          </a:p>
          <a:p>
            <a:pPr marL="254000" indent="-254000">
              <a:lnSpc>
                <a:spcPct val="110000"/>
              </a:lnSpc>
              <a:spcAft>
                <a:spcPts val="1600"/>
              </a:spcAft>
              <a:buSzPct val="100000"/>
              <a:buChar char="•"/>
            </a:pPr>
            <a:r>
              <a:rPr lang="en-US" sz="1400" dirty="0">
                <a:solidFill>
                  <a:srgbClr val="4A5264"/>
                </a:solidFill>
                <a:latin typeface="Calibri" pitchFamily="34" charset="0"/>
                <a:ea typeface="Calibri" pitchFamily="34" charset="-122"/>
                <a:cs typeface="Calibri" pitchFamily="34" charset="-120"/>
              </a:rPr>
              <a:t>Store each rule as a named fact: </a:t>
            </a:r>
            <a:pPr indent="0" marL="0">
              <a:lnSpc>
                <a:spcPct val="110000"/>
              </a:lnSpc>
              <a:buNone/>
            </a:pPr>
            <a:r>
              <a:rPr lang="en-US" sz="1400" b="1" dirty="0">
                <a:solidFill>
                  <a:srgbClr val="4A5264"/>
                </a:solidFill>
                <a:latin typeface="Calibri" pitchFamily="34" charset="0"/>
                <a:ea typeface="Calibri" pitchFamily="34" charset="-122"/>
                <a:cs typeface="Calibri" pitchFamily="34" charset="-120"/>
              </a:rPr>
              <a:t>Id :: if Conditions then Conclusion</a:t>
            </a:r>
            <a:pPr indent="0" marL="0">
              <a:lnSpc>
                <a:spcPct val="110000"/>
              </a:lnSpc>
              <a:buNone/>
            </a:pPr>
            <a:r>
              <a:rPr lang="en-US" sz="1400" dirty="0">
                <a:solidFill>
                  <a:srgbClr val="4A5264"/>
                </a:solidFill>
                <a:latin typeface="Calibri" pitchFamily="34" charset="0"/>
                <a:ea typeface="Calibri" pitchFamily="34" charset="-122"/>
                <a:cs typeface="Calibri" pitchFamily="34" charset="-120"/>
              </a:rPr>
              <a:t>.</a:t>
            </a:r>
            <a:endParaRPr lang="en-US" sz="1400" dirty="0"/>
          </a:p>
          <a:p>
            <a:pPr marL="254000" indent="-254000">
              <a:lnSpc>
                <a:spcPct val="110000"/>
              </a:lnSpc>
              <a:spcAft>
                <a:spcPts val="1600"/>
              </a:spcAft>
              <a:buSzPct val="100000"/>
              <a:buChar char="•"/>
            </a:pPr>
            <a:r>
              <a:rPr lang="en-US" sz="1400" dirty="0">
                <a:solidFill>
                  <a:srgbClr val="4A5264"/>
                </a:solidFill>
                <a:latin typeface="Calibri" pitchFamily="34" charset="0"/>
                <a:ea typeface="Calibri" pitchFamily="34" charset="-122"/>
                <a:cs typeface="Calibri" pitchFamily="34" charset="-120"/>
              </a:rPr>
              <a:t>The engine can then read a rule (to answer WHY) and record its Id in the proof (to answer HOW).</a:t>
            </a:r>
            <a:endParaRPr lang="en-US" sz="1400" dirty="0"/>
          </a:p>
          <a:p>
            <a:pPr marL="254000" indent="-254000">
              <a:lnSpc>
                <a:spcPct val="110000"/>
              </a:lnSpc>
              <a:spcAft>
                <a:spcPts val="1600"/>
              </a:spcAft>
              <a:buSzPct val="100000"/>
              <a:buChar char="•"/>
            </a:pPr>
            <a:r>
              <a:rPr lang="en-US" sz="1400" dirty="0">
                <a:solidFill>
                  <a:srgbClr val="4A5264"/>
                </a:solidFill>
                <a:latin typeface="Calibri" pitchFamily="34" charset="0"/>
                <a:ea typeface="Calibri" pitchFamily="34" charset="-122"/>
                <a:cs typeface="Calibri" pitchFamily="34" charset="-120"/>
              </a:rPr>
              <a:t>op/3 declares ::, if, then and and as operators, so rules stay readable, as in Bratko's shell.</a:t>
            </a:r>
            <a:endParaRPr lang="en-US" sz="1400" dirty="0"/>
          </a:p>
        </p:txBody>
      </p:sp>
      <p:sp>
        <p:nvSpPr>
          <p:cNvPr id="8" name="Shape 5"/>
          <p:cNvSpPr/>
          <p:nvPr/>
        </p:nvSpPr>
        <p:spPr>
          <a:xfrm>
            <a:off x="5791170" y="1701790"/>
            <a:ext cx="5587990" cy="3079791"/>
          </a:xfrm>
          <a:prstGeom prst="roundRect">
            <a:avLst>
              <a:gd name="adj" fmla="val 2969"/>
            </a:avLst>
          </a:prstGeom>
          <a:solidFill>
            <a:srgbClr val="1E2433"/>
          </a:solidFill>
          <a:ln/>
        </p:spPr>
      </p:sp>
      <p:sp>
        <p:nvSpPr>
          <p:cNvPr id="9" name="Text 6"/>
          <p:cNvSpPr txBox="1"/>
          <p:nvPr/>
        </p:nvSpPr>
        <p:spPr>
          <a:xfrm>
            <a:off x="5969020" y="1854220"/>
            <a:ext cx="5232380" cy="2774930"/>
          </a:xfrm>
          <a:prstGeom prst="rect">
            <a:avLst/>
          </a:prstGeom>
          <a:noFill/>
          <a:ln/>
        </p:spPr>
        <p:txBody>
          <a:bodyPr wrap="square" lIns="0" tIns="0" rIns="0" bIns="0" rtlCol="0" anchor="t"/>
          <a:lstStyle/>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operators make IF-THEN legal syntax</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op(900, xfx, ::).  </a:t>
            </a:r>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Id :: Rule</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op(800, fx,  if).</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op(700, xfx, then).</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op(200, xfy, and).</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native: carnivore :- mammal, eats(meat).</a:t>
            </a:r>
            <a:endParaRPr lang="en-US" sz="1200" dirty="0"/>
          </a:p>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the same rule, stored as data:</a:t>
            </a:r>
            <a:endParaRPr lang="en-US" sz="1200" dirty="0"/>
          </a:p>
          <a:p>
            <a:pPr indent="0" marL="0">
              <a:lnSpc>
                <a:spcPts val="1680"/>
              </a:lnSpc>
              <a:buNone/>
            </a:pPr>
            <a:r>
              <a:rPr lang="en-US" sz="1200" dirty="0">
                <a:solidFill>
                  <a:srgbClr val="F2A65A"/>
                </a:solidFill>
                <a:latin typeface="Consolas" pitchFamily="34" charset="0"/>
                <a:ea typeface="Consolas" pitchFamily="34" charset="-122"/>
                <a:cs typeface="Consolas" pitchFamily="34" charset="-120"/>
              </a:rPr>
              <a:t>r5</a:t>
            </a:r>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if mammal and eats(meat) then carnivore.</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the term Prolog actually stores:</a:t>
            </a:r>
            <a:endParaRPr lang="en-US" sz="1200" dirty="0"/>
          </a:p>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::(r5, if(then(and(mammal, eats(meat)),</a:t>
            </a:r>
            <a:endParaRPr lang="en-US" sz="1200" dirty="0"/>
          </a:p>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carnivore)))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03 · BUILDING THE SYSTEM</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The knowledge base at a glance: 15 rules</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 rule base adapted from Winston's ZOOKEEPER (1992), as used in Bratko (2012), Ch. 15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15</a:t>
            </a:r>
            <a:endParaRPr lang="en-US" sz="1200" dirty="0"/>
          </a:p>
        </p:txBody>
      </p:sp>
      <p:sp>
        <p:nvSpPr>
          <p:cNvPr id="7" name="Text 4"/>
          <p:cNvSpPr txBox="1"/>
          <p:nvPr/>
        </p:nvSpPr>
        <p:spPr>
          <a:xfrm>
            <a:off x="812810" y="1549359"/>
            <a:ext cx="10566441" cy="279441"/>
          </a:xfrm>
          <a:prstGeom prst="rect">
            <a:avLst/>
          </a:prstGeom>
          <a:noFill/>
          <a:ln/>
        </p:spPr>
        <p:txBody>
          <a:bodyPr wrap="square" lIns="0" tIns="0" rIns="0" bIns="0" rtlCol="0" anchor="ctr"/>
          <a:lstStyle/>
          <a:p>
            <a:pPr indent="0" marL="0">
              <a:buNone/>
            </a:pPr>
            <a:r>
              <a:rPr lang="en-US" sz="1400" dirty="0">
                <a:solidFill>
                  <a:srgbClr val="4A5264"/>
                </a:solidFill>
                <a:latin typeface="Calibri" pitchFamily="34" charset="0"/>
                <a:ea typeface="Calibri" pitchFamily="34" charset="-122"/>
                <a:cs typeface="Calibri" pitchFamily="34" charset="-120"/>
              </a:rPr>
              <a:t>Evidence flows left to right; each box lists the rules (r1–r15) that conclude it.</a:t>
            </a:r>
            <a:endParaRPr lang="en-US" sz="1400" dirty="0"/>
          </a:p>
        </p:txBody>
      </p:sp>
      <p:sp>
        <p:nvSpPr>
          <p:cNvPr id="8" name="Shape 5"/>
          <p:cNvSpPr/>
          <p:nvPr/>
        </p:nvSpPr>
        <p:spPr>
          <a:xfrm>
            <a:off x="3352830" y="3003530"/>
            <a:ext cx="508041" cy="0"/>
          </a:xfrm>
          <a:prstGeom prst="line">
            <a:avLst/>
          </a:prstGeom>
          <a:noFill/>
          <a:ln w="28575">
            <a:solidFill>
              <a:srgbClr val="4A5264"/>
            </a:solidFill>
            <a:prstDash val="solid"/>
          </a:ln>
        </p:spPr>
      </p:sp>
      <p:sp>
        <p:nvSpPr>
          <p:cNvPr id="9" name="Shape 6"/>
          <p:cNvSpPr/>
          <p:nvPr/>
        </p:nvSpPr>
        <p:spPr>
          <a:xfrm flipV="1">
            <a:off x="3860780" y="2432030"/>
            <a:ext cx="0" cy="571500"/>
          </a:xfrm>
          <a:prstGeom prst="line">
            <a:avLst/>
          </a:prstGeom>
          <a:noFill/>
          <a:ln w="28575">
            <a:solidFill>
              <a:srgbClr val="4A5264"/>
            </a:solidFill>
            <a:prstDash val="solid"/>
          </a:ln>
        </p:spPr>
      </p:sp>
      <p:sp>
        <p:nvSpPr>
          <p:cNvPr id="10" name="Shape 7"/>
          <p:cNvSpPr/>
          <p:nvPr/>
        </p:nvSpPr>
        <p:spPr>
          <a:xfrm>
            <a:off x="3860780" y="2432030"/>
            <a:ext cx="508041" cy="0"/>
          </a:xfrm>
          <a:prstGeom prst="line">
            <a:avLst/>
          </a:prstGeom>
          <a:noFill/>
          <a:ln w="28575">
            <a:solidFill>
              <a:srgbClr val="4A5264"/>
            </a:solidFill>
            <a:prstDash val="solid"/>
            <a:tailEnd type="triangle"/>
          </a:ln>
        </p:spPr>
      </p:sp>
      <p:sp>
        <p:nvSpPr>
          <p:cNvPr id="11" name="Shape 8"/>
          <p:cNvSpPr/>
          <p:nvPr/>
        </p:nvSpPr>
        <p:spPr>
          <a:xfrm>
            <a:off x="3352830" y="3003530"/>
            <a:ext cx="508041" cy="0"/>
          </a:xfrm>
          <a:prstGeom prst="line">
            <a:avLst/>
          </a:prstGeom>
          <a:noFill/>
          <a:ln w="28575">
            <a:solidFill>
              <a:srgbClr val="4A5264"/>
            </a:solidFill>
            <a:prstDash val="solid"/>
          </a:ln>
        </p:spPr>
      </p:sp>
      <p:sp>
        <p:nvSpPr>
          <p:cNvPr id="12" name="Shape 9"/>
          <p:cNvSpPr/>
          <p:nvPr/>
        </p:nvSpPr>
        <p:spPr>
          <a:xfrm>
            <a:off x="3860780" y="3003530"/>
            <a:ext cx="0" cy="571500"/>
          </a:xfrm>
          <a:prstGeom prst="line">
            <a:avLst/>
          </a:prstGeom>
          <a:noFill/>
          <a:ln w="28575">
            <a:solidFill>
              <a:srgbClr val="4A5264"/>
            </a:solidFill>
            <a:prstDash val="solid"/>
          </a:ln>
        </p:spPr>
      </p:sp>
      <p:sp>
        <p:nvSpPr>
          <p:cNvPr id="13" name="Shape 10"/>
          <p:cNvSpPr/>
          <p:nvPr/>
        </p:nvSpPr>
        <p:spPr>
          <a:xfrm>
            <a:off x="3860780" y="3575030"/>
            <a:ext cx="508041" cy="0"/>
          </a:xfrm>
          <a:prstGeom prst="line">
            <a:avLst/>
          </a:prstGeom>
          <a:noFill/>
          <a:ln w="28575">
            <a:solidFill>
              <a:srgbClr val="4A5264"/>
            </a:solidFill>
            <a:prstDash val="solid"/>
            <a:tailEnd type="triangle"/>
          </a:ln>
        </p:spPr>
      </p:sp>
      <p:sp>
        <p:nvSpPr>
          <p:cNvPr id="14" name="Shape 11"/>
          <p:cNvSpPr/>
          <p:nvPr/>
        </p:nvSpPr>
        <p:spPr>
          <a:xfrm>
            <a:off x="6908841" y="2432030"/>
            <a:ext cx="508041" cy="0"/>
          </a:xfrm>
          <a:prstGeom prst="line">
            <a:avLst/>
          </a:prstGeom>
          <a:noFill/>
          <a:ln w="28575">
            <a:solidFill>
              <a:srgbClr val="4A5264"/>
            </a:solidFill>
            <a:prstDash val="solid"/>
          </a:ln>
        </p:spPr>
      </p:sp>
      <p:sp>
        <p:nvSpPr>
          <p:cNvPr id="15" name="Shape 12"/>
          <p:cNvSpPr/>
          <p:nvPr/>
        </p:nvSpPr>
        <p:spPr>
          <a:xfrm flipV="1">
            <a:off x="7416790" y="2146280"/>
            <a:ext cx="0" cy="285750"/>
          </a:xfrm>
          <a:prstGeom prst="line">
            <a:avLst/>
          </a:prstGeom>
          <a:noFill/>
          <a:ln w="28575">
            <a:solidFill>
              <a:srgbClr val="4A5264"/>
            </a:solidFill>
            <a:prstDash val="solid"/>
          </a:ln>
        </p:spPr>
      </p:sp>
      <p:sp>
        <p:nvSpPr>
          <p:cNvPr id="16" name="Shape 13"/>
          <p:cNvSpPr/>
          <p:nvPr/>
        </p:nvSpPr>
        <p:spPr>
          <a:xfrm>
            <a:off x="7416790" y="2146280"/>
            <a:ext cx="508041" cy="0"/>
          </a:xfrm>
          <a:prstGeom prst="line">
            <a:avLst/>
          </a:prstGeom>
          <a:noFill/>
          <a:ln w="28575">
            <a:solidFill>
              <a:srgbClr val="4A5264"/>
            </a:solidFill>
            <a:prstDash val="solid"/>
            <a:tailEnd type="triangle"/>
          </a:ln>
        </p:spPr>
      </p:sp>
      <p:sp>
        <p:nvSpPr>
          <p:cNvPr id="17" name="Shape 14"/>
          <p:cNvSpPr/>
          <p:nvPr/>
        </p:nvSpPr>
        <p:spPr>
          <a:xfrm>
            <a:off x="6908841" y="2432030"/>
            <a:ext cx="508041" cy="0"/>
          </a:xfrm>
          <a:prstGeom prst="line">
            <a:avLst/>
          </a:prstGeom>
          <a:noFill/>
          <a:ln w="28575">
            <a:solidFill>
              <a:srgbClr val="4A5264"/>
            </a:solidFill>
            <a:prstDash val="solid"/>
          </a:ln>
        </p:spPr>
      </p:sp>
      <p:sp>
        <p:nvSpPr>
          <p:cNvPr id="18" name="Shape 15"/>
          <p:cNvSpPr/>
          <p:nvPr/>
        </p:nvSpPr>
        <p:spPr>
          <a:xfrm>
            <a:off x="7416790" y="2432030"/>
            <a:ext cx="0" cy="285750"/>
          </a:xfrm>
          <a:prstGeom prst="line">
            <a:avLst/>
          </a:prstGeom>
          <a:noFill/>
          <a:ln w="28575">
            <a:solidFill>
              <a:srgbClr val="4A5264"/>
            </a:solidFill>
            <a:prstDash val="solid"/>
          </a:ln>
        </p:spPr>
      </p:sp>
      <p:sp>
        <p:nvSpPr>
          <p:cNvPr id="19" name="Shape 16"/>
          <p:cNvSpPr/>
          <p:nvPr/>
        </p:nvSpPr>
        <p:spPr>
          <a:xfrm>
            <a:off x="7416790" y="2717780"/>
            <a:ext cx="508041" cy="0"/>
          </a:xfrm>
          <a:prstGeom prst="line">
            <a:avLst/>
          </a:prstGeom>
          <a:noFill/>
          <a:ln w="28575">
            <a:solidFill>
              <a:srgbClr val="4A5264"/>
            </a:solidFill>
            <a:prstDash val="solid"/>
            <a:tailEnd type="triangle"/>
          </a:ln>
        </p:spPr>
      </p:sp>
      <p:sp>
        <p:nvSpPr>
          <p:cNvPr id="20" name="Shape 17"/>
          <p:cNvSpPr/>
          <p:nvPr/>
        </p:nvSpPr>
        <p:spPr>
          <a:xfrm>
            <a:off x="6908841" y="3575030"/>
            <a:ext cx="508041" cy="0"/>
          </a:xfrm>
          <a:prstGeom prst="line">
            <a:avLst/>
          </a:prstGeom>
          <a:noFill/>
          <a:ln w="28575">
            <a:solidFill>
              <a:srgbClr val="4A5264"/>
            </a:solidFill>
            <a:prstDash val="solid"/>
          </a:ln>
        </p:spPr>
      </p:sp>
      <p:sp>
        <p:nvSpPr>
          <p:cNvPr id="21" name="Shape 18"/>
          <p:cNvSpPr/>
          <p:nvPr/>
        </p:nvSpPr>
        <p:spPr>
          <a:xfrm flipV="1">
            <a:off x="7416790" y="3289280"/>
            <a:ext cx="0" cy="285750"/>
          </a:xfrm>
          <a:prstGeom prst="line">
            <a:avLst/>
          </a:prstGeom>
          <a:noFill/>
          <a:ln w="28575">
            <a:solidFill>
              <a:srgbClr val="4A5264"/>
            </a:solidFill>
            <a:prstDash val="solid"/>
          </a:ln>
        </p:spPr>
      </p:sp>
      <p:sp>
        <p:nvSpPr>
          <p:cNvPr id="22" name="Shape 19"/>
          <p:cNvSpPr/>
          <p:nvPr/>
        </p:nvSpPr>
        <p:spPr>
          <a:xfrm>
            <a:off x="7416790" y="3289280"/>
            <a:ext cx="508041" cy="0"/>
          </a:xfrm>
          <a:prstGeom prst="line">
            <a:avLst/>
          </a:prstGeom>
          <a:noFill/>
          <a:ln w="28575">
            <a:solidFill>
              <a:srgbClr val="4A5264"/>
            </a:solidFill>
            <a:prstDash val="solid"/>
            <a:tailEnd type="triangle"/>
          </a:ln>
        </p:spPr>
      </p:sp>
      <p:sp>
        <p:nvSpPr>
          <p:cNvPr id="23" name="Shape 20"/>
          <p:cNvSpPr/>
          <p:nvPr/>
        </p:nvSpPr>
        <p:spPr>
          <a:xfrm>
            <a:off x="6908841" y="3575030"/>
            <a:ext cx="508041" cy="0"/>
          </a:xfrm>
          <a:prstGeom prst="line">
            <a:avLst/>
          </a:prstGeom>
          <a:noFill/>
          <a:ln w="28575">
            <a:solidFill>
              <a:srgbClr val="4A5264"/>
            </a:solidFill>
            <a:prstDash val="solid"/>
          </a:ln>
        </p:spPr>
      </p:sp>
      <p:sp>
        <p:nvSpPr>
          <p:cNvPr id="24" name="Shape 21"/>
          <p:cNvSpPr/>
          <p:nvPr/>
        </p:nvSpPr>
        <p:spPr>
          <a:xfrm>
            <a:off x="7416790" y="3575030"/>
            <a:ext cx="0" cy="285750"/>
          </a:xfrm>
          <a:prstGeom prst="line">
            <a:avLst/>
          </a:prstGeom>
          <a:noFill/>
          <a:ln w="28575">
            <a:solidFill>
              <a:srgbClr val="4A5264"/>
            </a:solidFill>
            <a:prstDash val="solid"/>
          </a:ln>
        </p:spPr>
      </p:sp>
      <p:sp>
        <p:nvSpPr>
          <p:cNvPr id="25" name="Shape 22"/>
          <p:cNvSpPr/>
          <p:nvPr/>
        </p:nvSpPr>
        <p:spPr>
          <a:xfrm>
            <a:off x="7416790" y="3860780"/>
            <a:ext cx="508041" cy="0"/>
          </a:xfrm>
          <a:prstGeom prst="line">
            <a:avLst/>
          </a:prstGeom>
          <a:noFill/>
          <a:ln w="28575">
            <a:solidFill>
              <a:srgbClr val="4A5264"/>
            </a:solidFill>
            <a:prstDash val="solid"/>
            <a:tailEnd type="triangle"/>
          </a:ln>
        </p:spPr>
      </p:sp>
      <p:sp>
        <p:nvSpPr>
          <p:cNvPr id="26" name="Shape 23"/>
          <p:cNvSpPr/>
          <p:nvPr/>
        </p:nvSpPr>
        <p:spPr>
          <a:xfrm>
            <a:off x="3352830" y="5003780"/>
            <a:ext cx="4063959" cy="0"/>
          </a:xfrm>
          <a:prstGeom prst="line">
            <a:avLst/>
          </a:prstGeom>
          <a:noFill/>
          <a:ln w="28575">
            <a:solidFill>
              <a:srgbClr val="4A5264"/>
            </a:solidFill>
            <a:prstDash val="solid"/>
          </a:ln>
        </p:spPr>
      </p:sp>
      <p:sp>
        <p:nvSpPr>
          <p:cNvPr id="27" name="Shape 24"/>
          <p:cNvSpPr/>
          <p:nvPr/>
        </p:nvSpPr>
        <p:spPr>
          <a:xfrm flipV="1">
            <a:off x="7416790" y="4432280"/>
            <a:ext cx="0" cy="571500"/>
          </a:xfrm>
          <a:prstGeom prst="line">
            <a:avLst/>
          </a:prstGeom>
          <a:noFill/>
          <a:ln w="28575">
            <a:solidFill>
              <a:srgbClr val="4A5264"/>
            </a:solidFill>
            <a:prstDash val="solid"/>
          </a:ln>
        </p:spPr>
      </p:sp>
      <p:sp>
        <p:nvSpPr>
          <p:cNvPr id="28" name="Shape 25"/>
          <p:cNvSpPr/>
          <p:nvPr/>
        </p:nvSpPr>
        <p:spPr>
          <a:xfrm>
            <a:off x="7416790" y="4432280"/>
            <a:ext cx="508041" cy="0"/>
          </a:xfrm>
          <a:prstGeom prst="line">
            <a:avLst/>
          </a:prstGeom>
          <a:noFill/>
          <a:ln w="28575">
            <a:solidFill>
              <a:srgbClr val="4A5264"/>
            </a:solidFill>
            <a:prstDash val="solid"/>
            <a:tailEnd type="triangle"/>
          </a:ln>
        </p:spPr>
      </p:sp>
      <p:sp>
        <p:nvSpPr>
          <p:cNvPr id="29" name="Shape 26"/>
          <p:cNvSpPr/>
          <p:nvPr/>
        </p:nvSpPr>
        <p:spPr>
          <a:xfrm>
            <a:off x="3352830" y="5003780"/>
            <a:ext cx="4572000" cy="0"/>
          </a:xfrm>
          <a:prstGeom prst="line">
            <a:avLst/>
          </a:prstGeom>
          <a:noFill/>
          <a:ln w="28575">
            <a:solidFill>
              <a:srgbClr val="4A5264"/>
            </a:solidFill>
            <a:prstDash val="solid"/>
            <a:tailEnd type="triangle"/>
          </a:ln>
        </p:spPr>
      </p:sp>
      <p:sp>
        <p:nvSpPr>
          <p:cNvPr id="30" name="Shape 27"/>
          <p:cNvSpPr/>
          <p:nvPr/>
        </p:nvSpPr>
        <p:spPr>
          <a:xfrm>
            <a:off x="3352830" y="5003780"/>
            <a:ext cx="4063959" cy="0"/>
          </a:xfrm>
          <a:prstGeom prst="line">
            <a:avLst/>
          </a:prstGeom>
          <a:noFill/>
          <a:ln w="28575">
            <a:solidFill>
              <a:srgbClr val="4A5264"/>
            </a:solidFill>
            <a:prstDash val="solid"/>
          </a:ln>
        </p:spPr>
      </p:sp>
      <p:sp>
        <p:nvSpPr>
          <p:cNvPr id="31" name="Shape 28"/>
          <p:cNvSpPr/>
          <p:nvPr/>
        </p:nvSpPr>
        <p:spPr>
          <a:xfrm>
            <a:off x="7416790" y="5003780"/>
            <a:ext cx="0" cy="571500"/>
          </a:xfrm>
          <a:prstGeom prst="line">
            <a:avLst/>
          </a:prstGeom>
          <a:noFill/>
          <a:ln w="28575">
            <a:solidFill>
              <a:srgbClr val="4A5264"/>
            </a:solidFill>
            <a:prstDash val="solid"/>
          </a:ln>
        </p:spPr>
      </p:sp>
      <p:sp>
        <p:nvSpPr>
          <p:cNvPr id="32" name="Shape 29"/>
          <p:cNvSpPr/>
          <p:nvPr/>
        </p:nvSpPr>
        <p:spPr>
          <a:xfrm>
            <a:off x="7416790" y="5575280"/>
            <a:ext cx="508041" cy="0"/>
          </a:xfrm>
          <a:prstGeom prst="line">
            <a:avLst/>
          </a:prstGeom>
          <a:noFill/>
          <a:ln w="28575">
            <a:solidFill>
              <a:srgbClr val="4A5264"/>
            </a:solidFill>
            <a:prstDash val="solid"/>
            <a:tailEnd type="triangle"/>
          </a:ln>
        </p:spPr>
      </p:sp>
      <p:sp>
        <p:nvSpPr>
          <p:cNvPr id="33" name="Shape 30"/>
          <p:cNvSpPr/>
          <p:nvPr/>
        </p:nvSpPr>
        <p:spPr>
          <a:xfrm>
            <a:off x="812810" y="2527310"/>
            <a:ext cx="2540020" cy="952530"/>
          </a:xfrm>
          <a:prstGeom prst="roundRect">
            <a:avLst>
              <a:gd name="adj" fmla="val 9600"/>
            </a:avLst>
          </a:prstGeom>
          <a:solidFill>
            <a:srgbClr val="1E2433"/>
          </a:solidFill>
          <a:ln/>
        </p:spPr>
      </p:sp>
      <p:sp>
        <p:nvSpPr>
          <p:cNvPr id="34" name="Text 31"/>
          <p:cNvSpPr txBox="1"/>
          <p:nvPr/>
        </p:nvSpPr>
        <p:spPr>
          <a:xfrm>
            <a:off x="965241" y="2527310"/>
            <a:ext cx="2235159" cy="952530"/>
          </a:xfrm>
          <a:prstGeom prst="rect">
            <a:avLst/>
          </a:prstGeom>
          <a:noFill/>
          <a:ln/>
        </p:spPr>
        <p:txBody>
          <a:bodyPr wrap="square" lIns="0" tIns="0" rIns="0" bIns="0" rtlCol="0" anchor="ctr"/>
          <a:lstStyle/>
          <a:p>
            <a:pPr indent="0" marL="0">
              <a:lnSpc>
                <a:spcPct val="115000"/>
              </a:lnSpc>
              <a:buNone/>
            </a:pPr>
            <a:r>
              <a:rPr lang="en-US" sz="1500" b="1" dirty="0">
                <a:solidFill>
                  <a:srgbClr val="F3EFE4"/>
                </a:solidFill>
                <a:latin typeface="Calibri" pitchFamily="34" charset="0"/>
                <a:ea typeface="Calibri" pitchFamily="34" charset="-122"/>
                <a:cs typeface="Calibri" pitchFamily="34" charset="-120"/>
              </a:rPr>
              <a:t>mammal</a:t>
            </a:r>
            <a:endParaRPr lang="en-US" sz="1300" dirty="0"/>
          </a:p>
          <a:p>
            <a:pPr indent="0" marL="0">
              <a:lnSpc>
                <a:spcPct val="115000"/>
              </a:lnSpc>
              <a:buNone/>
            </a:pPr>
            <a:r>
              <a:rPr lang="en-US" sz="1200" dirty="0">
                <a:solidFill>
                  <a:srgbClr val="C9D1E0"/>
                </a:solidFill>
                <a:latin typeface="Calibri" pitchFamily="34" charset="0"/>
                <a:ea typeface="Calibri" pitchFamily="34" charset="-122"/>
                <a:cs typeface="Calibri" pitchFamily="34" charset="-120"/>
              </a:rPr>
              <a:t>r1: has hair</a:t>
            </a:r>
            <a:endParaRPr lang="en-US" sz="1300" dirty="0"/>
          </a:p>
          <a:p>
            <a:pPr indent="0" marL="0">
              <a:lnSpc>
                <a:spcPct val="115000"/>
              </a:lnSpc>
              <a:buNone/>
            </a:pPr>
            <a:r>
              <a:rPr lang="en-US" sz="1200" dirty="0">
                <a:solidFill>
                  <a:srgbClr val="C9D1E0"/>
                </a:solidFill>
                <a:latin typeface="Calibri" pitchFamily="34" charset="0"/>
                <a:ea typeface="Calibri" pitchFamily="34" charset="-122"/>
                <a:cs typeface="Calibri" pitchFamily="34" charset="-120"/>
              </a:rPr>
              <a:t>r2: gives milk</a:t>
            </a:r>
            <a:endParaRPr lang="en-US" sz="1300" dirty="0"/>
          </a:p>
        </p:txBody>
      </p:sp>
      <p:sp>
        <p:nvSpPr>
          <p:cNvPr id="35" name="Shape 32"/>
          <p:cNvSpPr/>
          <p:nvPr/>
        </p:nvSpPr>
        <p:spPr>
          <a:xfrm>
            <a:off x="812810" y="4527560"/>
            <a:ext cx="2540020" cy="952530"/>
          </a:xfrm>
          <a:prstGeom prst="roundRect">
            <a:avLst>
              <a:gd name="adj" fmla="val 9600"/>
            </a:avLst>
          </a:prstGeom>
          <a:solidFill>
            <a:srgbClr val="1E2433"/>
          </a:solidFill>
          <a:ln/>
        </p:spPr>
      </p:sp>
      <p:sp>
        <p:nvSpPr>
          <p:cNvPr id="36" name="Text 33"/>
          <p:cNvSpPr txBox="1"/>
          <p:nvPr/>
        </p:nvSpPr>
        <p:spPr>
          <a:xfrm>
            <a:off x="965241" y="4527560"/>
            <a:ext cx="2235159" cy="952530"/>
          </a:xfrm>
          <a:prstGeom prst="rect">
            <a:avLst/>
          </a:prstGeom>
          <a:noFill/>
          <a:ln/>
        </p:spPr>
        <p:txBody>
          <a:bodyPr wrap="square" lIns="0" tIns="0" rIns="0" bIns="0" rtlCol="0" anchor="ctr"/>
          <a:lstStyle/>
          <a:p>
            <a:pPr indent="0" marL="0">
              <a:lnSpc>
                <a:spcPct val="115000"/>
              </a:lnSpc>
              <a:buNone/>
            </a:pPr>
            <a:r>
              <a:rPr lang="en-US" sz="1500" b="1" dirty="0">
                <a:solidFill>
                  <a:srgbClr val="F3EFE4"/>
                </a:solidFill>
                <a:latin typeface="Calibri" pitchFamily="34" charset="0"/>
                <a:ea typeface="Calibri" pitchFamily="34" charset="-122"/>
                <a:cs typeface="Calibri" pitchFamily="34" charset="-120"/>
              </a:rPr>
              <a:t>bird</a:t>
            </a:r>
            <a:endParaRPr lang="en-US" sz="1300" dirty="0"/>
          </a:p>
          <a:p>
            <a:pPr indent="0" marL="0">
              <a:lnSpc>
                <a:spcPct val="115000"/>
              </a:lnSpc>
              <a:buNone/>
            </a:pPr>
            <a:r>
              <a:rPr lang="en-US" sz="1200" dirty="0">
                <a:solidFill>
                  <a:srgbClr val="C9D1E0"/>
                </a:solidFill>
                <a:latin typeface="Calibri" pitchFamily="34" charset="0"/>
                <a:ea typeface="Calibri" pitchFamily="34" charset="-122"/>
                <a:cs typeface="Calibri" pitchFamily="34" charset="-120"/>
              </a:rPr>
              <a:t>r3: has feathers</a:t>
            </a:r>
            <a:endParaRPr lang="en-US" sz="1300" dirty="0"/>
          </a:p>
          <a:p>
            <a:pPr indent="0" marL="0">
              <a:lnSpc>
                <a:spcPct val="115000"/>
              </a:lnSpc>
              <a:buNone/>
            </a:pPr>
            <a:r>
              <a:rPr lang="en-US" sz="1200" dirty="0">
                <a:solidFill>
                  <a:srgbClr val="C9D1E0"/>
                </a:solidFill>
                <a:latin typeface="Calibri" pitchFamily="34" charset="0"/>
                <a:ea typeface="Calibri" pitchFamily="34" charset="-122"/>
                <a:cs typeface="Calibri" pitchFamily="34" charset="-120"/>
              </a:rPr>
              <a:t>r4: flies + lays eggs</a:t>
            </a:r>
            <a:endParaRPr lang="en-US" sz="1300" dirty="0"/>
          </a:p>
        </p:txBody>
      </p:sp>
      <p:sp>
        <p:nvSpPr>
          <p:cNvPr id="37" name="Shape 34"/>
          <p:cNvSpPr/>
          <p:nvPr/>
        </p:nvSpPr>
        <p:spPr>
          <a:xfrm>
            <a:off x="4368820" y="1955810"/>
            <a:ext cx="2540020" cy="952530"/>
          </a:xfrm>
          <a:prstGeom prst="roundRect">
            <a:avLst>
              <a:gd name="adj" fmla="val 9600"/>
            </a:avLst>
          </a:prstGeom>
          <a:solidFill>
            <a:srgbClr val="1E2433"/>
          </a:solidFill>
          <a:ln/>
        </p:spPr>
      </p:sp>
      <p:sp>
        <p:nvSpPr>
          <p:cNvPr id="38" name="Text 35"/>
          <p:cNvSpPr txBox="1"/>
          <p:nvPr/>
        </p:nvSpPr>
        <p:spPr>
          <a:xfrm>
            <a:off x="4521159" y="1955810"/>
            <a:ext cx="2235159" cy="952530"/>
          </a:xfrm>
          <a:prstGeom prst="rect">
            <a:avLst/>
          </a:prstGeom>
          <a:noFill/>
          <a:ln/>
        </p:spPr>
        <p:txBody>
          <a:bodyPr wrap="square" lIns="0" tIns="0" rIns="0" bIns="0" rtlCol="0" anchor="ctr"/>
          <a:lstStyle/>
          <a:p>
            <a:pPr indent="0" marL="0">
              <a:lnSpc>
                <a:spcPct val="115000"/>
              </a:lnSpc>
              <a:buNone/>
            </a:pPr>
            <a:r>
              <a:rPr lang="en-US" sz="1500" b="1" dirty="0">
                <a:solidFill>
                  <a:srgbClr val="F3EFE4"/>
                </a:solidFill>
                <a:latin typeface="Calibri" pitchFamily="34" charset="0"/>
                <a:ea typeface="Calibri" pitchFamily="34" charset="-122"/>
                <a:cs typeface="Calibri" pitchFamily="34" charset="-120"/>
              </a:rPr>
              <a:t>carnivore</a:t>
            </a:r>
            <a:endParaRPr lang="en-US" sz="1300" dirty="0"/>
          </a:p>
          <a:p>
            <a:pPr indent="0" marL="0">
              <a:lnSpc>
                <a:spcPct val="115000"/>
              </a:lnSpc>
              <a:buNone/>
            </a:pPr>
            <a:r>
              <a:rPr lang="en-US" sz="1200" dirty="0">
                <a:solidFill>
                  <a:srgbClr val="C9D1E0"/>
                </a:solidFill>
                <a:latin typeface="Calibri" pitchFamily="34" charset="0"/>
                <a:ea typeface="Calibri" pitchFamily="34" charset="-122"/>
                <a:cs typeface="Calibri" pitchFamily="34" charset="-120"/>
              </a:rPr>
              <a:t>r5: mammal + eats meat</a:t>
            </a:r>
            <a:endParaRPr lang="en-US" sz="1300" dirty="0"/>
          </a:p>
          <a:p>
            <a:pPr indent="0" marL="0">
              <a:lnSpc>
                <a:spcPct val="115000"/>
              </a:lnSpc>
              <a:buNone/>
            </a:pPr>
            <a:r>
              <a:rPr lang="en-US" sz="1200" dirty="0">
                <a:solidFill>
                  <a:srgbClr val="C9D1E0"/>
                </a:solidFill>
                <a:latin typeface="Calibri" pitchFamily="34" charset="0"/>
                <a:ea typeface="Calibri" pitchFamily="34" charset="-122"/>
                <a:cs typeface="Calibri" pitchFamily="34" charset="-120"/>
              </a:rPr>
              <a:t>r6: + teeth, claws, eyes</a:t>
            </a:r>
            <a:endParaRPr lang="en-US" sz="1300" dirty="0"/>
          </a:p>
        </p:txBody>
      </p:sp>
      <p:sp>
        <p:nvSpPr>
          <p:cNvPr id="39" name="Shape 36"/>
          <p:cNvSpPr/>
          <p:nvPr/>
        </p:nvSpPr>
        <p:spPr>
          <a:xfrm>
            <a:off x="4368820" y="3098810"/>
            <a:ext cx="2540020" cy="952530"/>
          </a:xfrm>
          <a:prstGeom prst="roundRect">
            <a:avLst>
              <a:gd name="adj" fmla="val 9600"/>
            </a:avLst>
          </a:prstGeom>
          <a:solidFill>
            <a:srgbClr val="1E2433"/>
          </a:solidFill>
          <a:ln/>
        </p:spPr>
      </p:sp>
      <p:sp>
        <p:nvSpPr>
          <p:cNvPr id="40" name="Text 37"/>
          <p:cNvSpPr txBox="1"/>
          <p:nvPr/>
        </p:nvSpPr>
        <p:spPr>
          <a:xfrm>
            <a:off x="4521159" y="3098810"/>
            <a:ext cx="2235159" cy="952530"/>
          </a:xfrm>
          <a:prstGeom prst="rect">
            <a:avLst/>
          </a:prstGeom>
          <a:noFill/>
          <a:ln/>
        </p:spPr>
        <p:txBody>
          <a:bodyPr wrap="square" lIns="0" tIns="0" rIns="0" bIns="0" rtlCol="0" anchor="ctr"/>
          <a:lstStyle/>
          <a:p>
            <a:pPr indent="0" marL="0">
              <a:lnSpc>
                <a:spcPct val="115000"/>
              </a:lnSpc>
              <a:buNone/>
            </a:pPr>
            <a:r>
              <a:rPr lang="en-US" sz="1500" b="1" dirty="0">
                <a:solidFill>
                  <a:srgbClr val="F3EFE4"/>
                </a:solidFill>
                <a:latin typeface="Calibri" pitchFamily="34" charset="0"/>
                <a:ea typeface="Calibri" pitchFamily="34" charset="-122"/>
                <a:cs typeface="Calibri" pitchFamily="34" charset="-120"/>
              </a:rPr>
              <a:t>ungulate</a:t>
            </a:r>
            <a:endParaRPr lang="en-US" sz="1300" dirty="0"/>
          </a:p>
          <a:p>
            <a:pPr indent="0" marL="0">
              <a:lnSpc>
                <a:spcPct val="115000"/>
              </a:lnSpc>
              <a:buNone/>
            </a:pPr>
            <a:r>
              <a:rPr lang="en-US" sz="1200" dirty="0">
                <a:solidFill>
                  <a:srgbClr val="C9D1E0"/>
                </a:solidFill>
                <a:latin typeface="Calibri" pitchFamily="34" charset="0"/>
                <a:ea typeface="Calibri" pitchFamily="34" charset="-122"/>
                <a:cs typeface="Calibri" pitchFamily="34" charset="-120"/>
              </a:rPr>
              <a:t>r7: mammal + hoofs</a:t>
            </a:r>
            <a:endParaRPr lang="en-US" sz="1300" dirty="0"/>
          </a:p>
          <a:p>
            <a:pPr indent="0" marL="0">
              <a:lnSpc>
                <a:spcPct val="115000"/>
              </a:lnSpc>
              <a:buNone/>
            </a:pPr>
            <a:r>
              <a:rPr lang="en-US" sz="1200" dirty="0">
                <a:solidFill>
                  <a:srgbClr val="C9D1E0"/>
                </a:solidFill>
                <a:latin typeface="Calibri" pitchFamily="34" charset="0"/>
                <a:ea typeface="Calibri" pitchFamily="34" charset="-122"/>
                <a:cs typeface="Calibri" pitchFamily="34" charset="-120"/>
              </a:rPr>
              <a:t>r8: mammal + chews cud</a:t>
            </a:r>
            <a:endParaRPr lang="en-US" sz="1300" dirty="0"/>
          </a:p>
        </p:txBody>
      </p:sp>
      <p:sp>
        <p:nvSpPr>
          <p:cNvPr id="41" name="Shape 38"/>
          <p:cNvSpPr/>
          <p:nvPr/>
        </p:nvSpPr>
        <p:spPr>
          <a:xfrm>
            <a:off x="7924830" y="1955810"/>
            <a:ext cx="3454420" cy="381030"/>
          </a:xfrm>
          <a:prstGeom prst="roundRect">
            <a:avLst>
              <a:gd name="adj" fmla="val 23998"/>
            </a:avLst>
          </a:prstGeom>
          <a:solidFill>
            <a:srgbClr val="FFFFFF"/>
          </a:solidFill>
          <a:ln w="25400">
            <a:solidFill>
              <a:srgbClr val="2F5DA8"/>
            </a:solidFill>
            <a:prstDash val="solid"/>
          </a:ln>
        </p:spPr>
      </p:sp>
      <p:sp>
        <p:nvSpPr>
          <p:cNvPr id="42" name="Text 39"/>
          <p:cNvSpPr txBox="1"/>
          <p:nvPr/>
        </p:nvSpPr>
        <p:spPr>
          <a:xfrm>
            <a:off x="8077170" y="1955810"/>
            <a:ext cx="3174980" cy="381030"/>
          </a:xfrm>
          <a:prstGeom prst="rect">
            <a:avLst/>
          </a:prstGeom>
          <a:noFill/>
          <a:ln/>
        </p:spPr>
        <p:txBody>
          <a:bodyPr wrap="square" lIns="0" tIns="0" rIns="0" bIns="0" rtlCol="0" anchor="ctr"/>
          <a:lstStyle/>
          <a:p>
            <a:pPr indent="0" marL="0">
              <a:buNone/>
            </a:pPr>
            <a:r>
              <a:rPr lang="en-US" sz="1200" b="1" dirty="0">
                <a:solidFill>
                  <a:srgbClr val="1B2233"/>
                </a:solidFill>
                <a:latin typeface="Calibri" pitchFamily="34" charset="0"/>
                <a:ea typeface="Calibri" pitchFamily="34" charset="-122"/>
                <a:cs typeface="Calibri" pitchFamily="34" charset="-120"/>
              </a:rPr>
              <a:t>cheetah</a:t>
            </a:r>
            <a:pPr indent="0" marL="0">
              <a:buNone/>
            </a:pPr>
            <a:r>
              <a:rPr lang="en-US" sz="1200" dirty="0">
                <a:solidFill>
                  <a:srgbClr val="1B2233"/>
                </a:solidFill>
                <a:latin typeface="Calibri" pitchFamily="34" charset="0"/>
                <a:ea typeface="Calibri" pitchFamily="34" charset="-122"/>
                <a:cs typeface="Calibri" pitchFamily="34" charset="-120"/>
              </a:rPr>
              <a:t> · r9: tawny + dark spots</a:t>
            </a:r>
            <a:endParaRPr lang="en-US" sz="1200" dirty="0"/>
          </a:p>
        </p:txBody>
      </p:sp>
      <p:sp>
        <p:nvSpPr>
          <p:cNvPr id="43" name="Shape 40"/>
          <p:cNvSpPr/>
          <p:nvPr/>
        </p:nvSpPr>
        <p:spPr>
          <a:xfrm>
            <a:off x="7924830" y="2527310"/>
            <a:ext cx="3454420" cy="381030"/>
          </a:xfrm>
          <a:prstGeom prst="roundRect">
            <a:avLst>
              <a:gd name="adj" fmla="val 23998"/>
            </a:avLst>
          </a:prstGeom>
          <a:solidFill>
            <a:srgbClr val="FFFFFF"/>
          </a:solidFill>
          <a:ln w="25400">
            <a:solidFill>
              <a:srgbClr val="2F5DA8"/>
            </a:solidFill>
            <a:prstDash val="solid"/>
          </a:ln>
        </p:spPr>
      </p:sp>
      <p:sp>
        <p:nvSpPr>
          <p:cNvPr id="44" name="Text 41"/>
          <p:cNvSpPr txBox="1"/>
          <p:nvPr/>
        </p:nvSpPr>
        <p:spPr>
          <a:xfrm>
            <a:off x="8077170" y="2527310"/>
            <a:ext cx="3174980" cy="381030"/>
          </a:xfrm>
          <a:prstGeom prst="rect">
            <a:avLst/>
          </a:prstGeom>
          <a:noFill/>
          <a:ln/>
        </p:spPr>
        <p:txBody>
          <a:bodyPr wrap="square" lIns="0" tIns="0" rIns="0" bIns="0" rtlCol="0" anchor="ctr"/>
          <a:lstStyle/>
          <a:p>
            <a:pPr indent="0" marL="0">
              <a:buNone/>
            </a:pPr>
            <a:r>
              <a:rPr lang="en-US" sz="1200" b="1" dirty="0">
                <a:solidFill>
                  <a:srgbClr val="1B2233"/>
                </a:solidFill>
                <a:latin typeface="Calibri" pitchFamily="34" charset="0"/>
                <a:ea typeface="Calibri" pitchFamily="34" charset="-122"/>
                <a:cs typeface="Calibri" pitchFamily="34" charset="-120"/>
              </a:rPr>
              <a:t>tiger</a:t>
            </a:r>
            <a:pPr indent="0" marL="0">
              <a:buNone/>
            </a:pPr>
            <a:r>
              <a:rPr lang="en-US" sz="1200" dirty="0">
                <a:solidFill>
                  <a:srgbClr val="1B2233"/>
                </a:solidFill>
                <a:latin typeface="Calibri" pitchFamily="34" charset="0"/>
                <a:ea typeface="Calibri" pitchFamily="34" charset="-122"/>
                <a:cs typeface="Calibri" pitchFamily="34" charset="-120"/>
              </a:rPr>
              <a:t> · r10: tawny + black stripes</a:t>
            </a:r>
            <a:endParaRPr lang="en-US" sz="1200" dirty="0"/>
          </a:p>
        </p:txBody>
      </p:sp>
      <p:sp>
        <p:nvSpPr>
          <p:cNvPr id="45" name="Shape 42"/>
          <p:cNvSpPr/>
          <p:nvPr/>
        </p:nvSpPr>
        <p:spPr>
          <a:xfrm>
            <a:off x="7924830" y="3098810"/>
            <a:ext cx="3454420" cy="381030"/>
          </a:xfrm>
          <a:prstGeom prst="roundRect">
            <a:avLst>
              <a:gd name="adj" fmla="val 23998"/>
            </a:avLst>
          </a:prstGeom>
          <a:solidFill>
            <a:srgbClr val="FFFFFF"/>
          </a:solidFill>
          <a:ln w="25400">
            <a:solidFill>
              <a:srgbClr val="2F5DA8"/>
            </a:solidFill>
            <a:prstDash val="solid"/>
          </a:ln>
        </p:spPr>
      </p:sp>
      <p:sp>
        <p:nvSpPr>
          <p:cNvPr id="46" name="Text 43"/>
          <p:cNvSpPr txBox="1"/>
          <p:nvPr/>
        </p:nvSpPr>
        <p:spPr>
          <a:xfrm>
            <a:off x="8077170" y="3098810"/>
            <a:ext cx="3174980" cy="381030"/>
          </a:xfrm>
          <a:prstGeom prst="rect">
            <a:avLst/>
          </a:prstGeom>
          <a:noFill/>
          <a:ln/>
        </p:spPr>
        <p:txBody>
          <a:bodyPr wrap="square" lIns="0" tIns="0" rIns="0" bIns="0" rtlCol="0" anchor="ctr"/>
          <a:lstStyle/>
          <a:p>
            <a:pPr indent="0" marL="0">
              <a:buNone/>
            </a:pPr>
            <a:r>
              <a:rPr lang="en-US" sz="1200" b="1" dirty="0">
                <a:solidFill>
                  <a:srgbClr val="1B2233"/>
                </a:solidFill>
                <a:latin typeface="Calibri" pitchFamily="34" charset="0"/>
                <a:ea typeface="Calibri" pitchFamily="34" charset="-122"/>
                <a:cs typeface="Calibri" pitchFamily="34" charset="-120"/>
              </a:rPr>
              <a:t>giraffe</a:t>
            </a:r>
            <a:pPr indent="0" marL="0">
              <a:buNone/>
            </a:pPr>
            <a:r>
              <a:rPr lang="en-US" sz="1200" dirty="0">
                <a:solidFill>
                  <a:srgbClr val="1B2233"/>
                </a:solidFill>
                <a:latin typeface="Calibri" pitchFamily="34" charset="0"/>
                <a:ea typeface="Calibri" pitchFamily="34" charset="-122"/>
                <a:cs typeface="Calibri" pitchFamily="34" charset="-120"/>
              </a:rPr>
              <a:t> · r11: long neck &amp; legs, spots</a:t>
            </a:r>
            <a:endParaRPr lang="en-US" sz="1200" dirty="0"/>
          </a:p>
        </p:txBody>
      </p:sp>
      <p:sp>
        <p:nvSpPr>
          <p:cNvPr id="47" name="Shape 44"/>
          <p:cNvSpPr/>
          <p:nvPr/>
        </p:nvSpPr>
        <p:spPr>
          <a:xfrm>
            <a:off x="7924830" y="3670310"/>
            <a:ext cx="3454420" cy="381030"/>
          </a:xfrm>
          <a:prstGeom prst="roundRect">
            <a:avLst>
              <a:gd name="adj" fmla="val 23998"/>
            </a:avLst>
          </a:prstGeom>
          <a:solidFill>
            <a:srgbClr val="FFFFFF"/>
          </a:solidFill>
          <a:ln w="25400">
            <a:solidFill>
              <a:srgbClr val="2F5DA8"/>
            </a:solidFill>
            <a:prstDash val="solid"/>
          </a:ln>
        </p:spPr>
      </p:sp>
      <p:sp>
        <p:nvSpPr>
          <p:cNvPr id="48" name="Text 45"/>
          <p:cNvSpPr txBox="1"/>
          <p:nvPr/>
        </p:nvSpPr>
        <p:spPr>
          <a:xfrm>
            <a:off x="8077170" y="3670310"/>
            <a:ext cx="3174980" cy="381030"/>
          </a:xfrm>
          <a:prstGeom prst="rect">
            <a:avLst/>
          </a:prstGeom>
          <a:noFill/>
          <a:ln/>
        </p:spPr>
        <p:txBody>
          <a:bodyPr wrap="square" lIns="0" tIns="0" rIns="0" bIns="0" rtlCol="0" anchor="ctr"/>
          <a:lstStyle/>
          <a:p>
            <a:pPr indent="0" marL="0">
              <a:buNone/>
            </a:pPr>
            <a:r>
              <a:rPr lang="en-US" sz="1200" b="1" dirty="0">
                <a:solidFill>
                  <a:srgbClr val="1B2233"/>
                </a:solidFill>
                <a:latin typeface="Calibri" pitchFamily="34" charset="0"/>
                <a:ea typeface="Calibri" pitchFamily="34" charset="-122"/>
                <a:cs typeface="Calibri" pitchFamily="34" charset="-120"/>
              </a:rPr>
              <a:t>zebra</a:t>
            </a:r>
            <a:pPr indent="0" marL="0">
              <a:buNone/>
            </a:pPr>
            <a:r>
              <a:rPr lang="en-US" sz="1200" dirty="0">
                <a:solidFill>
                  <a:srgbClr val="1B2233"/>
                </a:solidFill>
                <a:latin typeface="Calibri" pitchFamily="34" charset="0"/>
                <a:ea typeface="Calibri" pitchFamily="34" charset="-122"/>
                <a:cs typeface="Calibri" pitchFamily="34" charset="-120"/>
              </a:rPr>
              <a:t> · r12: black stripes</a:t>
            </a:r>
            <a:endParaRPr lang="en-US" sz="1200" dirty="0"/>
          </a:p>
        </p:txBody>
      </p:sp>
      <p:sp>
        <p:nvSpPr>
          <p:cNvPr id="49" name="Shape 46"/>
          <p:cNvSpPr/>
          <p:nvPr/>
        </p:nvSpPr>
        <p:spPr>
          <a:xfrm>
            <a:off x="7924830" y="4241810"/>
            <a:ext cx="3454420" cy="381030"/>
          </a:xfrm>
          <a:prstGeom prst="roundRect">
            <a:avLst>
              <a:gd name="adj" fmla="val 23998"/>
            </a:avLst>
          </a:prstGeom>
          <a:solidFill>
            <a:srgbClr val="FFFFFF"/>
          </a:solidFill>
          <a:ln w="25400">
            <a:solidFill>
              <a:srgbClr val="2F5DA8"/>
            </a:solidFill>
            <a:prstDash val="solid"/>
          </a:ln>
        </p:spPr>
      </p:sp>
      <p:sp>
        <p:nvSpPr>
          <p:cNvPr id="50" name="Text 47"/>
          <p:cNvSpPr txBox="1"/>
          <p:nvPr/>
        </p:nvSpPr>
        <p:spPr>
          <a:xfrm>
            <a:off x="8077170" y="4241810"/>
            <a:ext cx="3174980" cy="381030"/>
          </a:xfrm>
          <a:prstGeom prst="rect">
            <a:avLst/>
          </a:prstGeom>
          <a:noFill/>
          <a:ln/>
        </p:spPr>
        <p:txBody>
          <a:bodyPr wrap="square" lIns="0" tIns="0" rIns="0" bIns="0" rtlCol="0" anchor="ctr"/>
          <a:lstStyle/>
          <a:p>
            <a:pPr indent="0" marL="0">
              <a:buNone/>
            </a:pPr>
            <a:r>
              <a:rPr lang="en-US" sz="1200" b="1" dirty="0">
                <a:solidFill>
                  <a:srgbClr val="1B2233"/>
                </a:solidFill>
                <a:latin typeface="Calibri" pitchFamily="34" charset="0"/>
                <a:ea typeface="Calibri" pitchFamily="34" charset="-122"/>
                <a:cs typeface="Calibri" pitchFamily="34" charset="-120"/>
              </a:rPr>
              <a:t>ostrich</a:t>
            </a:r>
            <a:pPr indent="0" marL="0">
              <a:buNone/>
            </a:pPr>
            <a:r>
              <a:rPr lang="en-US" sz="1200" dirty="0">
                <a:solidFill>
                  <a:srgbClr val="1B2233"/>
                </a:solidFill>
                <a:latin typeface="Calibri" pitchFamily="34" charset="0"/>
                <a:ea typeface="Calibri" pitchFamily="34" charset="-122"/>
                <a:cs typeface="Calibri" pitchFamily="34" charset="-120"/>
              </a:rPr>
              <a:t> · r13: no flight, long neck</a:t>
            </a:r>
            <a:endParaRPr lang="en-US" sz="1200" dirty="0"/>
          </a:p>
        </p:txBody>
      </p:sp>
      <p:sp>
        <p:nvSpPr>
          <p:cNvPr id="51" name="Shape 48"/>
          <p:cNvSpPr/>
          <p:nvPr/>
        </p:nvSpPr>
        <p:spPr>
          <a:xfrm>
            <a:off x="7924830" y="4813310"/>
            <a:ext cx="3454420" cy="381030"/>
          </a:xfrm>
          <a:prstGeom prst="roundRect">
            <a:avLst>
              <a:gd name="adj" fmla="val 23998"/>
            </a:avLst>
          </a:prstGeom>
          <a:solidFill>
            <a:srgbClr val="FFFFFF"/>
          </a:solidFill>
          <a:ln w="25400">
            <a:solidFill>
              <a:srgbClr val="2F5DA8"/>
            </a:solidFill>
            <a:prstDash val="solid"/>
          </a:ln>
        </p:spPr>
      </p:sp>
      <p:sp>
        <p:nvSpPr>
          <p:cNvPr id="52" name="Text 49"/>
          <p:cNvSpPr txBox="1"/>
          <p:nvPr/>
        </p:nvSpPr>
        <p:spPr>
          <a:xfrm>
            <a:off x="8077170" y="4813310"/>
            <a:ext cx="3174980" cy="381030"/>
          </a:xfrm>
          <a:prstGeom prst="rect">
            <a:avLst/>
          </a:prstGeom>
          <a:noFill/>
          <a:ln/>
        </p:spPr>
        <p:txBody>
          <a:bodyPr wrap="square" lIns="0" tIns="0" rIns="0" bIns="0" rtlCol="0" anchor="ctr"/>
          <a:lstStyle/>
          <a:p>
            <a:pPr indent="0" marL="0">
              <a:buNone/>
            </a:pPr>
            <a:r>
              <a:rPr lang="en-US" sz="1200" b="1" dirty="0">
                <a:solidFill>
                  <a:srgbClr val="1B2233"/>
                </a:solidFill>
                <a:latin typeface="Calibri" pitchFamily="34" charset="0"/>
                <a:ea typeface="Calibri" pitchFamily="34" charset="-122"/>
                <a:cs typeface="Calibri" pitchFamily="34" charset="-120"/>
              </a:rPr>
              <a:t>penguin</a:t>
            </a:r>
            <a:pPr indent="0" marL="0">
              <a:buNone/>
            </a:pPr>
            <a:r>
              <a:rPr lang="en-US" sz="1200" dirty="0">
                <a:solidFill>
                  <a:srgbClr val="1B2233"/>
                </a:solidFill>
                <a:latin typeface="Calibri" pitchFamily="34" charset="0"/>
                <a:ea typeface="Calibri" pitchFamily="34" charset="-122"/>
                <a:cs typeface="Calibri" pitchFamily="34" charset="-120"/>
              </a:rPr>
              <a:t> · r14: swims, black &amp; white</a:t>
            </a:r>
            <a:endParaRPr lang="en-US" sz="1200" dirty="0"/>
          </a:p>
        </p:txBody>
      </p:sp>
      <p:sp>
        <p:nvSpPr>
          <p:cNvPr id="53" name="Shape 50"/>
          <p:cNvSpPr/>
          <p:nvPr/>
        </p:nvSpPr>
        <p:spPr>
          <a:xfrm>
            <a:off x="7924830" y="5384810"/>
            <a:ext cx="3454420" cy="381030"/>
          </a:xfrm>
          <a:prstGeom prst="roundRect">
            <a:avLst>
              <a:gd name="adj" fmla="val 23998"/>
            </a:avLst>
          </a:prstGeom>
          <a:solidFill>
            <a:srgbClr val="FFFFFF"/>
          </a:solidFill>
          <a:ln w="25400">
            <a:solidFill>
              <a:srgbClr val="2F5DA8"/>
            </a:solidFill>
            <a:prstDash val="solid"/>
          </a:ln>
        </p:spPr>
      </p:sp>
      <p:sp>
        <p:nvSpPr>
          <p:cNvPr id="54" name="Text 51"/>
          <p:cNvSpPr txBox="1"/>
          <p:nvPr/>
        </p:nvSpPr>
        <p:spPr>
          <a:xfrm>
            <a:off x="8077170" y="5384810"/>
            <a:ext cx="3174980" cy="381030"/>
          </a:xfrm>
          <a:prstGeom prst="rect">
            <a:avLst/>
          </a:prstGeom>
          <a:noFill/>
          <a:ln/>
        </p:spPr>
        <p:txBody>
          <a:bodyPr wrap="square" lIns="0" tIns="0" rIns="0" bIns="0" rtlCol="0" anchor="ctr"/>
          <a:lstStyle/>
          <a:p>
            <a:pPr indent="0" marL="0">
              <a:buNone/>
            </a:pPr>
            <a:r>
              <a:rPr lang="en-US" sz="1200" b="1" dirty="0">
                <a:solidFill>
                  <a:srgbClr val="1B2233"/>
                </a:solidFill>
                <a:latin typeface="Calibri" pitchFamily="34" charset="0"/>
                <a:ea typeface="Calibri" pitchFamily="34" charset="-122"/>
                <a:cs typeface="Calibri" pitchFamily="34" charset="-120"/>
              </a:rPr>
              <a:t>albatross</a:t>
            </a:r>
            <a:pPr indent="0" marL="0">
              <a:buNone/>
            </a:pPr>
            <a:r>
              <a:rPr lang="en-US" sz="1200" dirty="0">
                <a:solidFill>
                  <a:srgbClr val="1B2233"/>
                </a:solidFill>
                <a:latin typeface="Calibri" pitchFamily="34" charset="0"/>
                <a:ea typeface="Calibri" pitchFamily="34" charset="-122"/>
                <a:cs typeface="Calibri" pitchFamily="34" charset="-120"/>
              </a:rPr>
              <a:t> · r15: flies well</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03 · BUILDING THE SYSTEM</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Knowledge base (1/2): classification rules</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 adapted from Winston (1992) and Bratko (2012), Ch. 15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16</a:t>
            </a:r>
            <a:endParaRPr lang="en-US" sz="1200" dirty="0"/>
          </a:p>
        </p:txBody>
      </p:sp>
      <p:sp>
        <p:nvSpPr>
          <p:cNvPr id="7" name="Shape 4"/>
          <p:cNvSpPr/>
          <p:nvPr/>
        </p:nvSpPr>
        <p:spPr>
          <a:xfrm>
            <a:off x="812810" y="1701790"/>
            <a:ext cx="6096030" cy="3289280"/>
          </a:xfrm>
          <a:prstGeom prst="roundRect">
            <a:avLst>
              <a:gd name="adj" fmla="val 2780"/>
            </a:avLst>
          </a:prstGeom>
          <a:solidFill>
            <a:srgbClr val="1E2433"/>
          </a:solidFill>
          <a:ln/>
        </p:spPr>
      </p:sp>
      <p:sp>
        <p:nvSpPr>
          <p:cNvPr id="8" name="Text 5"/>
          <p:cNvSpPr txBox="1"/>
          <p:nvPr/>
        </p:nvSpPr>
        <p:spPr>
          <a:xfrm>
            <a:off x="990570" y="1854220"/>
            <a:ext cx="5740420" cy="2984510"/>
          </a:xfrm>
          <a:prstGeom prst="rect">
            <a:avLst/>
          </a:prstGeom>
          <a:noFill/>
          <a:ln/>
        </p:spPr>
        <p:txBody>
          <a:bodyPr wrap="square" lIns="0" tIns="0" rIns="0" bIns="0" rtlCol="0" anchor="t"/>
          <a:lstStyle/>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zoo_kb.pl - animal identification rule base</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ensure_loaded(engine).  </a:t>
            </a:r>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ops + engine</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top_goal(animal(_)).  </a:t>
            </a:r>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what to prove</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680"/>
              </a:lnSpc>
              <a:buNone/>
            </a:pPr>
            <a:r>
              <a:rPr lang="en-US" sz="1200" dirty="0">
                <a:solidFill>
                  <a:srgbClr val="F2A65A"/>
                </a:solidFill>
                <a:latin typeface="Consolas" pitchFamily="34" charset="0"/>
                <a:ea typeface="Consolas" pitchFamily="34" charset="-122"/>
                <a:cs typeface="Consolas" pitchFamily="34" charset="-120"/>
              </a:rPr>
              <a:t>r1</a:t>
            </a:r>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if has(hair) then mammal.</a:t>
            </a:r>
            <a:endParaRPr lang="en-US" sz="1200" dirty="0"/>
          </a:p>
          <a:p>
            <a:pPr indent="0" marL="0">
              <a:lnSpc>
                <a:spcPts val="1680"/>
              </a:lnSpc>
              <a:buNone/>
            </a:pPr>
            <a:r>
              <a:rPr lang="en-US" sz="1200" dirty="0">
                <a:solidFill>
                  <a:srgbClr val="F2A65A"/>
                </a:solidFill>
                <a:latin typeface="Consolas" pitchFamily="34" charset="0"/>
                <a:ea typeface="Consolas" pitchFamily="34" charset="-122"/>
                <a:cs typeface="Consolas" pitchFamily="34" charset="-120"/>
              </a:rPr>
              <a:t>r2</a:t>
            </a:r>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if gives(milk) then mammal.</a:t>
            </a:r>
            <a:endParaRPr lang="en-US" sz="1200" dirty="0"/>
          </a:p>
          <a:p>
            <a:pPr indent="0" marL="0">
              <a:lnSpc>
                <a:spcPts val="1680"/>
              </a:lnSpc>
              <a:buNone/>
            </a:pPr>
            <a:r>
              <a:rPr lang="en-US" sz="1200" dirty="0">
                <a:solidFill>
                  <a:srgbClr val="F2A65A"/>
                </a:solidFill>
                <a:latin typeface="Consolas" pitchFamily="34" charset="0"/>
                <a:ea typeface="Consolas" pitchFamily="34" charset="-122"/>
                <a:cs typeface="Consolas" pitchFamily="34" charset="-120"/>
              </a:rPr>
              <a:t>r3</a:t>
            </a:r>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if has(feathers) then bird.</a:t>
            </a:r>
            <a:endParaRPr lang="en-US" sz="1200" dirty="0"/>
          </a:p>
          <a:p>
            <a:pPr indent="0" marL="0">
              <a:lnSpc>
                <a:spcPts val="1680"/>
              </a:lnSpc>
              <a:buNone/>
            </a:pPr>
            <a:r>
              <a:rPr lang="en-US" sz="1200" dirty="0">
                <a:solidFill>
                  <a:srgbClr val="F2A65A"/>
                </a:solidFill>
                <a:latin typeface="Consolas" pitchFamily="34" charset="0"/>
                <a:ea typeface="Consolas" pitchFamily="34" charset="-122"/>
                <a:cs typeface="Consolas" pitchFamily="34" charset="-120"/>
              </a:rPr>
              <a:t>r4</a:t>
            </a:r>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if flies and lays(eggs) then bird.</a:t>
            </a:r>
            <a:endParaRPr lang="en-US" sz="1200" dirty="0"/>
          </a:p>
          <a:p>
            <a:pPr indent="0" marL="0">
              <a:lnSpc>
                <a:spcPts val="1680"/>
              </a:lnSpc>
              <a:buNone/>
            </a:pPr>
            <a:r>
              <a:rPr lang="en-US" sz="1200" dirty="0">
                <a:solidFill>
                  <a:srgbClr val="F2A65A"/>
                </a:solidFill>
                <a:latin typeface="Consolas" pitchFamily="34" charset="0"/>
                <a:ea typeface="Consolas" pitchFamily="34" charset="-122"/>
                <a:cs typeface="Consolas" pitchFamily="34" charset="-120"/>
              </a:rPr>
              <a:t>r5</a:t>
            </a:r>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if mammal and eats(meat) then carnivore.</a:t>
            </a:r>
            <a:endParaRPr lang="en-US" sz="1200" dirty="0"/>
          </a:p>
          <a:p>
            <a:pPr indent="0" marL="0">
              <a:lnSpc>
                <a:spcPts val="1680"/>
              </a:lnSpc>
              <a:buNone/>
            </a:pPr>
            <a:r>
              <a:rPr lang="en-US" sz="1200" dirty="0">
                <a:solidFill>
                  <a:srgbClr val="F2A65A"/>
                </a:solidFill>
                <a:latin typeface="Consolas" pitchFamily="34" charset="0"/>
                <a:ea typeface="Consolas" pitchFamily="34" charset="-122"/>
                <a:cs typeface="Consolas" pitchFamily="34" charset="-120"/>
              </a:rPr>
              <a:t>r6</a:t>
            </a:r>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if mammal and has(pointed_teeth) and has(claws)</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and has(forward_eyes) then carnivore.</a:t>
            </a:r>
            <a:endParaRPr lang="en-US" sz="1200" dirty="0"/>
          </a:p>
          <a:p>
            <a:pPr indent="0" marL="0">
              <a:lnSpc>
                <a:spcPts val="1680"/>
              </a:lnSpc>
              <a:buNone/>
            </a:pPr>
            <a:r>
              <a:rPr lang="en-US" sz="1200" dirty="0">
                <a:solidFill>
                  <a:srgbClr val="F2A65A"/>
                </a:solidFill>
                <a:latin typeface="Consolas" pitchFamily="34" charset="0"/>
                <a:ea typeface="Consolas" pitchFamily="34" charset="-122"/>
                <a:cs typeface="Consolas" pitchFamily="34" charset="-120"/>
              </a:rPr>
              <a:t>r7</a:t>
            </a:r>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if mammal and has(hoofs) then ungulate.</a:t>
            </a:r>
            <a:endParaRPr lang="en-US" sz="1200" dirty="0"/>
          </a:p>
          <a:p>
            <a:pPr indent="0" marL="0">
              <a:lnSpc>
                <a:spcPts val="1680"/>
              </a:lnSpc>
              <a:buNone/>
            </a:pPr>
            <a:r>
              <a:rPr lang="en-US" sz="1200" dirty="0">
                <a:solidFill>
                  <a:srgbClr val="F2A65A"/>
                </a:solidFill>
                <a:latin typeface="Consolas" pitchFamily="34" charset="0"/>
                <a:ea typeface="Consolas" pitchFamily="34" charset="-122"/>
                <a:cs typeface="Consolas" pitchFamily="34" charset="-120"/>
              </a:rPr>
              <a:t>r8</a:t>
            </a:r>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if mammal and chews(cud) then ungulate.</a:t>
            </a:r>
            <a:endParaRPr lang="en-US" sz="1200" dirty="0"/>
          </a:p>
        </p:txBody>
      </p:sp>
      <p:sp>
        <p:nvSpPr>
          <p:cNvPr id="9" name="Shape 6"/>
          <p:cNvSpPr/>
          <p:nvPr/>
        </p:nvSpPr>
        <p:spPr>
          <a:xfrm>
            <a:off x="7162770" y="1701790"/>
            <a:ext cx="4216390" cy="1015990"/>
          </a:xfrm>
          <a:prstGeom prst="roundRect">
            <a:avLst>
              <a:gd name="adj" fmla="val 9000"/>
            </a:avLst>
          </a:prstGeom>
          <a:solidFill>
            <a:srgbClr val="FFFFFF"/>
          </a:solidFill>
          <a:ln w="12700">
            <a:solidFill>
              <a:srgbClr val="E3E1DA"/>
            </a:solidFill>
            <a:prstDash val="solid"/>
          </a:ln>
        </p:spPr>
      </p:sp>
      <p:sp>
        <p:nvSpPr>
          <p:cNvPr id="10" name="Text 7"/>
          <p:cNvSpPr txBox="1"/>
          <p:nvPr/>
        </p:nvSpPr>
        <p:spPr>
          <a:xfrm>
            <a:off x="7340620" y="1854220"/>
            <a:ext cx="3886200" cy="304770"/>
          </a:xfrm>
          <a:prstGeom prst="rect">
            <a:avLst/>
          </a:prstGeom>
          <a:noFill/>
          <a:ln/>
        </p:spPr>
        <p:txBody>
          <a:bodyPr wrap="square" lIns="0" tIns="0" rIns="0" bIns="0" rtlCol="0" anchor="t"/>
          <a:lstStyle/>
          <a:p>
            <a:pPr indent="0" marL="0">
              <a:buNone/>
            </a:pPr>
            <a:r>
              <a:rPr lang="en-US" sz="1500" b="1" dirty="0">
                <a:solidFill>
                  <a:srgbClr val="1B2233"/>
                </a:solidFill>
                <a:latin typeface="Calibri" pitchFamily="34" charset="0"/>
                <a:ea typeface="Calibri" pitchFamily="34" charset="-122"/>
                <a:cs typeface="Calibri" pitchFamily="34" charset="-120"/>
              </a:rPr>
              <a:t>OR = two rules</a:t>
            </a:r>
            <a:endParaRPr lang="en-US" sz="1500" dirty="0"/>
          </a:p>
        </p:txBody>
      </p:sp>
      <p:sp>
        <p:nvSpPr>
          <p:cNvPr id="11" name="Text 8"/>
          <p:cNvSpPr txBox="1"/>
          <p:nvPr/>
        </p:nvSpPr>
        <p:spPr>
          <a:xfrm>
            <a:off x="7340620" y="2158990"/>
            <a:ext cx="3860780" cy="457200"/>
          </a:xfrm>
          <a:prstGeom prst="rect">
            <a:avLst/>
          </a:prstGeom>
          <a:noFill/>
          <a:ln/>
        </p:spPr>
        <p:txBody>
          <a:bodyPr wrap="square" lIns="0" tIns="0" rIns="0" bIns="0" rtlCol="0" anchor="t"/>
          <a:lstStyle/>
          <a:p>
            <a:pPr indent="0" marL="0">
              <a:lnSpc>
                <a:spcPct val="110000"/>
              </a:lnSpc>
              <a:buNone/>
            </a:pPr>
            <a:r>
              <a:rPr lang="en-US" sz="1200" dirty="0">
                <a:solidFill>
                  <a:srgbClr val="4A5264"/>
                </a:solidFill>
                <a:latin typeface="Calibri" pitchFamily="34" charset="0"/>
                <a:ea typeface="Calibri" pitchFamily="34" charset="-122"/>
                <a:cs typeface="Calibri" pitchFamily="34" charset="-120"/>
              </a:rPr>
              <a:t>r1 and r2 both conclude mammal. If r1 fails, Prolog backtracks and tries r2.</a:t>
            </a:r>
            <a:endParaRPr lang="en-US" sz="1200" dirty="0"/>
          </a:p>
        </p:txBody>
      </p:sp>
      <p:sp>
        <p:nvSpPr>
          <p:cNvPr id="12" name="Shape 9"/>
          <p:cNvSpPr/>
          <p:nvPr/>
        </p:nvSpPr>
        <p:spPr>
          <a:xfrm>
            <a:off x="7162770" y="2844790"/>
            <a:ext cx="4216390" cy="1015990"/>
          </a:xfrm>
          <a:prstGeom prst="roundRect">
            <a:avLst>
              <a:gd name="adj" fmla="val 9000"/>
            </a:avLst>
          </a:prstGeom>
          <a:solidFill>
            <a:srgbClr val="FFFFFF"/>
          </a:solidFill>
          <a:ln w="12700">
            <a:solidFill>
              <a:srgbClr val="E3E1DA"/>
            </a:solidFill>
            <a:prstDash val="solid"/>
          </a:ln>
        </p:spPr>
      </p:sp>
      <p:sp>
        <p:nvSpPr>
          <p:cNvPr id="13" name="Text 10"/>
          <p:cNvSpPr txBox="1"/>
          <p:nvPr/>
        </p:nvSpPr>
        <p:spPr>
          <a:xfrm>
            <a:off x="7340620" y="2997220"/>
            <a:ext cx="3886200" cy="304770"/>
          </a:xfrm>
          <a:prstGeom prst="rect">
            <a:avLst/>
          </a:prstGeom>
          <a:noFill/>
          <a:ln/>
        </p:spPr>
        <p:txBody>
          <a:bodyPr wrap="square" lIns="0" tIns="0" rIns="0" bIns="0" rtlCol="0" anchor="t"/>
          <a:lstStyle/>
          <a:p>
            <a:pPr indent="0" marL="0">
              <a:buNone/>
            </a:pPr>
            <a:r>
              <a:rPr lang="en-US" sz="1500" b="1" dirty="0">
                <a:solidFill>
                  <a:srgbClr val="1B2233"/>
                </a:solidFill>
                <a:latin typeface="Calibri" pitchFamily="34" charset="0"/>
                <a:ea typeface="Calibri" pitchFamily="34" charset="-122"/>
                <a:cs typeface="Calibri" pitchFamily="34" charset="-120"/>
              </a:rPr>
              <a:t>AND inside one rule</a:t>
            </a:r>
            <a:endParaRPr lang="en-US" sz="1500" dirty="0"/>
          </a:p>
        </p:txBody>
      </p:sp>
      <p:sp>
        <p:nvSpPr>
          <p:cNvPr id="14" name="Text 11"/>
          <p:cNvSpPr txBox="1"/>
          <p:nvPr/>
        </p:nvSpPr>
        <p:spPr>
          <a:xfrm>
            <a:off x="7340620" y="3301990"/>
            <a:ext cx="3860780" cy="457200"/>
          </a:xfrm>
          <a:prstGeom prst="rect">
            <a:avLst/>
          </a:prstGeom>
          <a:noFill/>
          <a:ln/>
        </p:spPr>
        <p:txBody>
          <a:bodyPr wrap="square" lIns="0" tIns="0" rIns="0" bIns="0" rtlCol="0" anchor="t"/>
          <a:lstStyle/>
          <a:p>
            <a:pPr indent="0" marL="0">
              <a:lnSpc>
                <a:spcPct val="110000"/>
              </a:lnSpc>
              <a:buNone/>
            </a:pPr>
            <a:r>
              <a:rPr lang="en-US" sz="1200" dirty="0">
                <a:solidFill>
                  <a:srgbClr val="4A5264"/>
                </a:solidFill>
                <a:latin typeface="Calibri" pitchFamily="34" charset="0"/>
                <a:ea typeface="Calibri" pitchFamily="34" charset="-122"/>
                <a:cs typeface="Calibri" pitchFamily="34" charset="-120"/>
              </a:rPr>
              <a:t>r6 fires only if all four of its conditions hold.</a:t>
            </a:r>
            <a:endParaRPr lang="en-US" sz="1200" dirty="0"/>
          </a:p>
        </p:txBody>
      </p:sp>
      <p:sp>
        <p:nvSpPr>
          <p:cNvPr id="15" name="Shape 12"/>
          <p:cNvSpPr/>
          <p:nvPr/>
        </p:nvSpPr>
        <p:spPr>
          <a:xfrm>
            <a:off x="7162770" y="3987790"/>
            <a:ext cx="4216390" cy="1015990"/>
          </a:xfrm>
          <a:prstGeom prst="roundRect">
            <a:avLst>
              <a:gd name="adj" fmla="val 9000"/>
            </a:avLst>
          </a:prstGeom>
          <a:solidFill>
            <a:srgbClr val="FFFFFF"/>
          </a:solidFill>
          <a:ln w="12700">
            <a:solidFill>
              <a:srgbClr val="E3E1DA"/>
            </a:solidFill>
            <a:prstDash val="solid"/>
          </a:ln>
        </p:spPr>
      </p:sp>
      <p:sp>
        <p:nvSpPr>
          <p:cNvPr id="16" name="Text 13"/>
          <p:cNvSpPr txBox="1"/>
          <p:nvPr/>
        </p:nvSpPr>
        <p:spPr>
          <a:xfrm>
            <a:off x="7340620" y="4140220"/>
            <a:ext cx="3886200" cy="304770"/>
          </a:xfrm>
          <a:prstGeom prst="rect">
            <a:avLst/>
          </a:prstGeom>
          <a:noFill/>
          <a:ln/>
        </p:spPr>
        <p:txBody>
          <a:bodyPr wrap="square" lIns="0" tIns="0" rIns="0" bIns="0" rtlCol="0" anchor="t"/>
          <a:lstStyle/>
          <a:p>
            <a:pPr indent="0" marL="0">
              <a:buNone/>
            </a:pPr>
            <a:r>
              <a:rPr lang="en-US" sz="1500" b="1" dirty="0">
                <a:solidFill>
                  <a:srgbClr val="1B2233"/>
                </a:solidFill>
                <a:latin typeface="Calibri" pitchFamily="34" charset="0"/>
                <a:ea typeface="Calibri" pitchFamily="34" charset="-122"/>
                <a:cs typeface="Calibri" pitchFamily="34" charset="-120"/>
              </a:rPr>
              <a:t>Intermediate conclusions</a:t>
            </a:r>
            <a:endParaRPr lang="en-US" sz="1500" dirty="0"/>
          </a:p>
        </p:txBody>
      </p:sp>
      <p:sp>
        <p:nvSpPr>
          <p:cNvPr id="17" name="Text 14"/>
          <p:cNvSpPr txBox="1"/>
          <p:nvPr/>
        </p:nvSpPr>
        <p:spPr>
          <a:xfrm>
            <a:off x="7340620" y="4444990"/>
            <a:ext cx="3860780" cy="457200"/>
          </a:xfrm>
          <a:prstGeom prst="rect">
            <a:avLst/>
          </a:prstGeom>
          <a:noFill/>
          <a:ln/>
        </p:spPr>
        <p:txBody>
          <a:bodyPr wrap="square" lIns="0" tIns="0" rIns="0" bIns="0" rtlCol="0" anchor="t"/>
          <a:lstStyle/>
          <a:p>
            <a:pPr indent="0" marL="0">
              <a:lnSpc>
                <a:spcPct val="110000"/>
              </a:lnSpc>
              <a:buNone/>
            </a:pPr>
            <a:r>
              <a:rPr lang="en-US" sz="1200" dirty="0">
                <a:solidFill>
                  <a:srgbClr val="4A5264"/>
                </a:solidFill>
                <a:latin typeface="Calibri" pitchFamily="34" charset="0"/>
                <a:ea typeface="Calibri" pitchFamily="34" charset="-122"/>
                <a:cs typeface="Calibri" pitchFamily="34" charset="-120"/>
              </a:rPr>
              <a:t>mammal, bird, carnivore and ungulate are reused by the animal rules on the next slide.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03 · BUILDING THE SYSTEM</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Knowledge base (2/2): identification rules</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 adapted from Winston (1992) and Bratko (2012), Ch. 15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17</a:t>
            </a:r>
            <a:endParaRPr lang="en-US" sz="1200" dirty="0"/>
          </a:p>
        </p:txBody>
      </p:sp>
      <p:sp>
        <p:nvSpPr>
          <p:cNvPr id="7" name="Shape 4"/>
          <p:cNvSpPr/>
          <p:nvPr/>
        </p:nvSpPr>
        <p:spPr>
          <a:xfrm>
            <a:off x="812810" y="1701790"/>
            <a:ext cx="6349959" cy="3079791"/>
          </a:xfrm>
          <a:prstGeom prst="roundRect">
            <a:avLst>
              <a:gd name="adj" fmla="val 2969"/>
            </a:avLst>
          </a:prstGeom>
          <a:solidFill>
            <a:srgbClr val="1E2433"/>
          </a:solidFill>
          <a:ln/>
        </p:spPr>
      </p:sp>
      <p:sp>
        <p:nvSpPr>
          <p:cNvPr id="8" name="Text 5"/>
          <p:cNvSpPr txBox="1"/>
          <p:nvPr/>
        </p:nvSpPr>
        <p:spPr>
          <a:xfrm>
            <a:off x="990570" y="1854220"/>
            <a:ext cx="5994441" cy="2774930"/>
          </a:xfrm>
          <a:prstGeom prst="rect">
            <a:avLst/>
          </a:prstGeom>
          <a:noFill/>
          <a:ln/>
        </p:spPr>
        <p:txBody>
          <a:bodyPr wrap="square" lIns="0" tIns="0" rIns="0" bIns="0" rtlCol="0" anchor="t"/>
          <a:lstStyle/>
          <a:p>
            <a:pPr indent="0" marL="0">
              <a:lnSpc>
                <a:spcPts val="1680"/>
              </a:lnSpc>
              <a:buNone/>
            </a:pPr>
            <a:r>
              <a:rPr lang="en-US" sz="1200" dirty="0">
                <a:solidFill>
                  <a:srgbClr val="F2A65A"/>
                </a:solidFill>
                <a:latin typeface="Consolas" pitchFamily="34" charset="0"/>
                <a:ea typeface="Consolas" pitchFamily="34" charset="-122"/>
                <a:cs typeface="Consolas" pitchFamily="34" charset="-120"/>
              </a:rPr>
              <a:t>r9</a:t>
            </a:r>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if carnivore and has(tawny_colour)</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and has(dark_spots) then animal(cheetah).</a:t>
            </a:r>
            <a:endParaRPr lang="en-US" sz="1200" dirty="0"/>
          </a:p>
          <a:p>
            <a:pPr indent="0" marL="0">
              <a:lnSpc>
                <a:spcPts val="1680"/>
              </a:lnSpc>
              <a:buNone/>
            </a:pPr>
            <a:r>
              <a:rPr lang="en-US" sz="1200" dirty="0">
                <a:solidFill>
                  <a:srgbClr val="F2A65A"/>
                </a:solidFill>
                <a:latin typeface="Consolas" pitchFamily="34" charset="0"/>
                <a:ea typeface="Consolas" pitchFamily="34" charset="-122"/>
                <a:cs typeface="Consolas" pitchFamily="34" charset="-120"/>
              </a:rPr>
              <a:t>r10</a:t>
            </a:r>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if carnivore and has(tawny_colour)</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and has(black_stripes) then animal(tiger).</a:t>
            </a:r>
            <a:endParaRPr lang="en-US" sz="1200" dirty="0"/>
          </a:p>
          <a:p>
            <a:pPr indent="0" marL="0">
              <a:lnSpc>
                <a:spcPts val="1680"/>
              </a:lnSpc>
              <a:buNone/>
            </a:pPr>
            <a:r>
              <a:rPr lang="en-US" sz="1200" dirty="0">
                <a:solidFill>
                  <a:srgbClr val="F2A65A"/>
                </a:solidFill>
                <a:latin typeface="Consolas" pitchFamily="34" charset="0"/>
                <a:ea typeface="Consolas" pitchFamily="34" charset="-122"/>
                <a:cs typeface="Consolas" pitchFamily="34" charset="-120"/>
              </a:rPr>
              <a:t>r11</a:t>
            </a:r>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if ungulate and has(long_neck) and has(long_legs)</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and has(dark_spots) then animal(giraffe).</a:t>
            </a:r>
            <a:endParaRPr lang="en-US" sz="1200" dirty="0"/>
          </a:p>
          <a:p>
            <a:pPr indent="0" marL="0">
              <a:lnSpc>
                <a:spcPts val="1680"/>
              </a:lnSpc>
              <a:buNone/>
            </a:pPr>
            <a:r>
              <a:rPr lang="en-US" sz="1200" dirty="0">
                <a:solidFill>
                  <a:srgbClr val="F2A65A"/>
                </a:solidFill>
                <a:latin typeface="Consolas" pitchFamily="34" charset="0"/>
                <a:ea typeface="Consolas" pitchFamily="34" charset="-122"/>
                <a:cs typeface="Consolas" pitchFamily="34" charset="-120"/>
              </a:rPr>
              <a:t>r12</a:t>
            </a:r>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if ungulate and has(black_stripes)</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then animal(zebra).</a:t>
            </a:r>
            <a:endParaRPr lang="en-US" sz="1200" dirty="0"/>
          </a:p>
          <a:p>
            <a:pPr indent="0" marL="0">
              <a:lnSpc>
                <a:spcPts val="1680"/>
              </a:lnSpc>
              <a:buNone/>
            </a:pPr>
            <a:r>
              <a:rPr lang="en-US" sz="1200" dirty="0">
                <a:solidFill>
                  <a:srgbClr val="F2A65A"/>
                </a:solidFill>
                <a:latin typeface="Consolas" pitchFamily="34" charset="0"/>
                <a:ea typeface="Consolas" pitchFamily="34" charset="-122"/>
                <a:cs typeface="Consolas" pitchFamily="34" charset="-120"/>
              </a:rPr>
              <a:t>r13</a:t>
            </a:r>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if bird and not(flies) and has(long_neck)</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and has(long_legs) then animal(ostrich).</a:t>
            </a:r>
            <a:endParaRPr lang="en-US" sz="1200" dirty="0"/>
          </a:p>
          <a:p>
            <a:pPr indent="0" marL="0">
              <a:lnSpc>
                <a:spcPts val="1680"/>
              </a:lnSpc>
              <a:buNone/>
            </a:pPr>
            <a:r>
              <a:rPr lang="en-US" sz="1200" dirty="0">
                <a:solidFill>
                  <a:srgbClr val="F2A65A"/>
                </a:solidFill>
                <a:latin typeface="Consolas" pitchFamily="34" charset="0"/>
                <a:ea typeface="Consolas" pitchFamily="34" charset="-122"/>
                <a:cs typeface="Consolas" pitchFamily="34" charset="-120"/>
              </a:rPr>
              <a:t>r14</a:t>
            </a:r>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if bird and not(flies) and swims</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and has(black_white_colour) then animal(penguin).</a:t>
            </a:r>
            <a:endParaRPr lang="en-US" sz="1200" dirty="0"/>
          </a:p>
          <a:p>
            <a:pPr indent="0" marL="0">
              <a:lnSpc>
                <a:spcPts val="1680"/>
              </a:lnSpc>
              <a:buNone/>
            </a:pPr>
            <a:r>
              <a:rPr lang="en-US" sz="1200" dirty="0">
                <a:solidFill>
                  <a:srgbClr val="F2A65A"/>
                </a:solidFill>
                <a:latin typeface="Consolas" pitchFamily="34" charset="0"/>
                <a:ea typeface="Consolas" pitchFamily="34" charset="-122"/>
                <a:cs typeface="Consolas" pitchFamily="34" charset="-120"/>
              </a:rPr>
              <a:t>r15</a:t>
            </a:r>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if bird and flies_well then animal(albatross).</a:t>
            </a:r>
            <a:endParaRPr lang="en-US" sz="1200" dirty="0"/>
          </a:p>
        </p:txBody>
      </p:sp>
      <p:sp>
        <p:nvSpPr>
          <p:cNvPr id="9" name="Shape 6"/>
          <p:cNvSpPr/>
          <p:nvPr/>
        </p:nvSpPr>
        <p:spPr>
          <a:xfrm>
            <a:off x="7416790" y="1701790"/>
            <a:ext cx="3962370" cy="2222541"/>
          </a:xfrm>
          <a:prstGeom prst="roundRect">
            <a:avLst>
              <a:gd name="adj" fmla="val 4114"/>
            </a:avLst>
          </a:prstGeom>
          <a:solidFill>
            <a:srgbClr val="1E2433"/>
          </a:solidFill>
          <a:ln/>
        </p:spPr>
      </p:sp>
      <p:sp>
        <p:nvSpPr>
          <p:cNvPr id="10" name="Text 7"/>
          <p:cNvSpPr txBox="1"/>
          <p:nvPr/>
        </p:nvSpPr>
        <p:spPr>
          <a:xfrm>
            <a:off x="7594641" y="1854220"/>
            <a:ext cx="3606759" cy="1917680"/>
          </a:xfrm>
          <a:prstGeom prst="rect">
            <a:avLst/>
          </a:prstGeom>
          <a:noFill/>
          <a:ln/>
        </p:spPr>
        <p:txBody>
          <a:bodyPr wrap="square" lIns="0" tIns="0" rIns="0" bIns="0" rtlCol="0" anchor="t"/>
          <a:lstStyle/>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leaf facts: ASK the user</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askable(has(_)).</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askable(gives(_)).</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askable(eats(_)).</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askable(lays(_)).</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askable(chews(_)).</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askable(flies).</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askable(flies_well).</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askable(swims).</a:t>
            </a:r>
            <a:endParaRPr lang="en-US" sz="1200" dirty="0"/>
          </a:p>
        </p:txBody>
      </p:sp>
      <p:sp>
        <p:nvSpPr>
          <p:cNvPr id="11" name="Shape 8"/>
          <p:cNvSpPr/>
          <p:nvPr/>
        </p:nvSpPr>
        <p:spPr>
          <a:xfrm>
            <a:off x="7416790" y="4076670"/>
            <a:ext cx="3962370" cy="952530"/>
          </a:xfrm>
          <a:prstGeom prst="roundRect">
            <a:avLst>
              <a:gd name="adj" fmla="val 7680"/>
            </a:avLst>
          </a:prstGeom>
          <a:solidFill>
            <a:srgbClr val="F6E9E1"/>
          </a:solidFill>
          <a:ln/>
        </p:spPr>
      </p:sp>
      <p:sp>
        <p:nvSpPr>
          <p:cNvPr id="12" name="Text 9"/>
          <p:cNvSpPr txBox="1"/>
          <p:nvPr/>
        </p:nvSpPr>
        <p:spPr>
          <a:xfrm>
            <a:off x="7594641" y="4076670"/>
            <a:ext cx="3606759" cy="952530"/>
          </a:xfrm>
          <a:prstGeom prst="rect">
            <a:avLst/>
          </a:prstGeom>
          <a:noFill/>
          <a:ln/>
        </p:spPr>
        <p:txBody>
          <a:bodyPr wrap="square" lIns="0" tIns="0" rIns="0" bIns="0" rtlCol="0" anchor="ctr"/>
          <a:lstStyle/>
          <a:p>
            <a:pPr indent="0" marL="0">
              <a:lnSpc>
                <a:spcPct val="110000"/>
              </a:lnSpc>
              <a:buNone/>
            </a:pPr>
            <a:r>
              <a:rPr lang="en-US" sz="1300" b="1" dirty="0">
                <a:solidFill>
                  <a:srgbClr val="1B2233"/>
                </a:solidFill>
                <a:latin typeface="Calibri" pitchFamily="34" charset="0"/>
                <a:ea typeface="Calibri" pitchFamily="34" charset="-122"/>
                <a:cs typeface="Calibri" pitchFamily="34" charset="-120"/>
              </a:rPr>
              <a:t>not(flies)</a:t>
            </a:r>
            <a:pPr indent="0" marL="0">
              <a:lnSpc>
                <a:spcPct val="110000"/>
              </a:lnSpc>
              <a:buNone/>
            </a:pPr>
            <a:r>
              <a:rPr lang="en-US" sz="1300" dirty="0">
                <a:solidFill>
                  <a:srgbClr val="1B2233"/>
                </a:solidFill>
                <a:latin typeface="Calibri" pitchFamily="34" charset="0"/>
                <a:ea typeface="Calibri" pitchFamily="34" charset="-122"/>
                <a:cs typeface="Calibri" pitchFamily="34" charset="-120"/>
              </a:rPr>
              <a:t> is negation as failure: it holds when flies cannot be proved, i.e. the user said no.</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03 · BUILDING THE SYSTEM</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Inference engine: backward chaining with a proof</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 meta-interpreter design after Bratko (2012), Ch. 15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18</a:t>
            </a:r>
            <a:endParaRPr lang="en-US" sz="1200" dirty="0"/>
          </a:p>
        </p:txBody>
      </p:sp>
      <p:sp>
        <p:nvSpPr>
          <p:cNvPr id="7" name="Text 4"/>
          <p:cNvSpPr txBox="1"/>
          <p:nvPr/>
        </p:nvSpPr>
        <p:spPr>
          <a:xfrm>
            <a:off x="812810" y="1676370"/>
            <a:ext cx="5080041" cy="279441"/>
          </a:xfrm>
          <a:prstGeom prst="rect">
            <a:avLst/>
          </a:prstGeom>
          <a:noFill/>
          <a:ln/>
        </p:spPr>
        <p:txBody>
          <a:bodyPr wrap="square" lIns="0" tIns="0" rIns="0" bIns="0" rtlCol="0" anchor="t"/>
          <a:lstStyle/>
          <a:p>
            <a:pPr indent="0" marL="0">
              <a:buNone/>
            </a:pPr>
            <a:r>
              <a:rPr lang="en-US" sz="1500" b="1" dirty="0">
                <a:solidFill>
                  <a:srgbClr val="1B2233"/>
                </a:solidFill>
                <a:latin typeface="Calibri" pitchFamily="34" charset="0"/>
                <a:ea typeface="Calibri" pitchFamily="34" charset="-122"/>
                <a:cs typeface="Calibri" pitchFamily="34" charset="-120"/>
              </a:rPr>
              <a:t>prove/3: the engine</a:t>
            </a:r>
            <a:endParaRPr lang="en-US" sz="1500" dirty="0"/>
          </a:p>
        </p:txBody>
      </p:sp>
      <p:sp>
        <p:nvSpPr>
          <p:cNvPr id="8" name="Shape 5"/>
          <p:cNvSpPr/>
          <p:nvPr/>
        </p:nvSpPr>
        <p:spPr>
          <a:xfrm>
            <a:off x="812810" y="2006559"/>
            <a:ext cx="5080041" cy="3079791"/>
          </a:xfrm>
          <a:prstGeom prst="roundRect">
            <a:avLst>
              <a:gd name="adj" fmla="val 2969"/>
            </a:avLst>
          </a:prstGeom>
          <a:solidFill>
            <a:srgbClr val="1E2433"/>
          </a:solidFill>
          <a:ln/>
        </p:spPr>
      </p:sp>
      <p:sp>
        <p:nvSpPr>
          <p:cNvPr id="9" name="Text 6"/>
          <p:cNvSpPr txBox="1"/>
          <p:nvPr/>
        </p:nvSpPr>
        <p:spPr>
          <a:xfrm>
            <a:off x="990570" y="2158990"/>
            <a:ext cx="4724430" cy="2774930"/>
          </a:xfrm>
          <a:prstGeom prst="rect">
            <a:avLst/>
          </a:prstGeom>
          <a:noFill/>
          <a:ln/>
        </p:spPr>
        <p:txBody>
          <a:bodyPr wrap="square" lIns="0" tIns="0" rIns="0" bIns="0" rtlCol="0" anchor="t"/>
          <a:lstStyle/>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prove(+Goal, -Proof, +Trace)</a:t>
            </a:r>
            <a:endParaRPr lang="en-US" sz="1200" dirty="0"/>
          </a:p>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Trace = ids of rules being tried (WHY)</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prove(A and B, PA and PB, T) :- !,  </a:t>
            </a:r>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AND</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prove(A, PA, T),</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prove(B, PB, T).</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prove(not(A), not(A), T) :- !,  </a:t>
            </a:r>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NOT as failure</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prove(A, _, T).</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prove(F, told(F), T) :-  </a:t>
            </a:r>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leaf fact: ask</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askable(F), !,</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ask(F, T).</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prove(G, by(G, Id, P), T) :-  </a:t>
            </a:r>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derived: rule</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Id :: if C then G,</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prove(C, P, [Id|T]), !.</a:t>
            </a:r>
            <a:endParaRPr lang="en-US" sz="1200" dirty="0"/>
          </a:p>
        </p:txBody>
      </p:sp>
      <p:sp>
        <p:nvSpPr>
          <p:cNvPr id="10" name="Text 7"/>
          <p:cNvSpPr txBox="1"/>
          <p:nvPr/>
        </p:nvSpPr>
        <p:spPr>
          <a:xfrm>
            <a:off x="812810" y="5187940"/>
            <a:ext cx="5080041" cy="508041"/>
          </a:xfrm>
          <a:prstGeom prst="rect">
            <a:avLst/>
          </a:prstGeom>
          <a:noFill/>
          <a:ln/>
        </p:spPr>
        <p:txBody>
          <a:bodyPr wrap="square" lIns="0" tIns="0" rIns="0" bIns="0" rtlCol="0" anchor="t"/>
          <a:lstStyle/>
          <a:p>
            <a:pPr indent="0" marL="0">
              <a:lnSpc>
                <a:spcPct val="110000"/>
              </a:lnSpc>
              <a:buNone/>
            </a:pPr>
            <a:r>
              <a:rPr lang="en-US" sz="1200" dirty="0">
                <a:solidFill>
                  <a:srgbClr val="4A5264"/>
                </a:solidFill>
                <a:latin typeface="Calibri" pitchFamily="34" charset="0"/>
                <a:ea typeface="Calibri" pitchFamily="34" charset="-122"/>
                <a:cs typeface="Calibri" pitchFamily="34" charset="-120"/>
              </a:rPr>
              <a:t>Proof terms: told(F) = the user said yes; by(G, Id, P) = G concluded by rule Id, with P proving its IF part.</a:t>
            </a:r>
            <a:endParaRPr lang="en-US" sz="1200" dirty="0"/>
          </a:p>
        </p:txBody>
      </p:sp>
      <p:sp>
        <p:nvSpPr>
          <p:cNvPr id="11" name="Text 8"/>
          <p:cNvSpPr txBox="1"/>
          <p:nvPr/>
        </p:nvSpPr>
        <p:spPr>
          <a:xfrm>
            <a:off x="6146780" y="1676370"/>
            <a:ext cx="5232380" cy="279441"/>
          </a:xfrm>
          <a:prstGeom prst="rect">
            <a:avLst/>
          </a:prstGeom>
          <a:noFill/>
          <a:ln/>
        </p:spPr>
        <p:txBody>
          <a:bodyPr wrap="square" lIns="0" tIns="0" rIns="0" bIns="0" rtlCol="0" anchor="t"/>
          <a:lstStyle/>
          <a:p>
            <a:pPr indent="0" marL="0">
              <a:buNone/>
            </a:pPr>
            <a:r>
              <a:rPr lang="en-US" sz="1500" b="1" dirty="0">
                <a:solidFill>
                  <a:srgbClr val="1B2233"/>
                </a:solidFill>
                <a:latin typeface="Calibri" pitchFamily="34" charset="0"/>
                <a:ea typeface="Calibri" pitchFamily="34" charset="-122"/>
                <a:cs typeface="Calibri" pitchFamily="34" charset="-120"/>
              </a:rPr>
              <a:t>go/0: one consultation</a:t>
            </a:r>
            <a:endParaRPr lang="en-US" sz="1500" dirty="0"/>
          </a:p>
        </p:txBody>
      </p:sp>
      <p:sp>
        <p:nvSpPr>
          <p:cNvPr id="12" name="Shape 9"/>
          <p:cNvSpPr/>
          <p:nvPr/>
        </p:nvSpPr>
        <p:spPr>
          <a:xfrm>
            <a:off x="6146780" y="2006559"/>
            <a:ext cx="5232380" cy="2654320"/>
          </a:xfrm>
          <a:prstGeom prst="roundRect">
            <a:avLst>
              <a:gd name="adj" fmla="val 3445"/>
            </a:avLst>
          </a:prstGeom>
          <a:solidFill>
            <a:srgbClr val="1E2433"/>
          </a:solidFill>
          <a:ln/>
        </p:spPr>
      </p:sp>
      <p:sp>
        <p:nvSpPr>
          <p:cNvPr id="13" name="Text 10"/>
          <p:cNvSpPr txBox="1"/>
          <p:nvPr/>
        </p:nvSpPr>
        <p:spPr>
          <a:xfrm>
            <a:off x="6324630" y="2158990"/>
            <a:ext cx="4876770" cy="2349459"/>
          </a:xfrm>
          <a:prstGeom prst="rect">
            <a:avLst/>
          </a:prstGeom>
          <a:noFill/>
          <a:ln/>
        </p:spPr>
        <p:txBody>
          <a:bodyPr wrap="square" lIns="0" tIns="0" rIns="0" bIns="0" rtlCol="0" anchor="t"/>
          <a:lstStyle/>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go :-</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retractall(known(_, _)),</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prompt(Old, ''),</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top_goal(Goal),</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prove(Goal, Proof, [])</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-&gt;  format("~nConclusion: ~w~n", [Goal]),</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format("~nHOW did I conclude this?~n"),</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how(Proof, 0)</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format("~nSorry, no rule matches.~n")</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prompt(_, Old).</a:t>
            </a:r>
            <a:endParaRPr lang="en-US" sz="1200" dirty="0"/>
          </a:p>
        </p:txBody>
      </p:sp>
      <p:sp>
        <p:nvSpPr>
          <p:cNvPr id="14" name="Text 11"/>
          <p:cNvSpPr txBox="1"/>
          <p:nvPr/>
        </p:nvSpPr>
        <p:spPr>
          <a:xfrm>
            <a:off x="6146780" y="4762470"/>
            <a:ext cx="5232380" cy="508041"/>
          </a:xfrm>
          <a:prstGeom prst="rect">
            <a:avLst/>
          </a:prstGeom>
          <a:noFill/>
          <a:ln/>
        </p:spPr>
        <p:txBody>
          <a:bodyPr wrap="square" lIns="0" tIns="0" rIns="0" bIns="0" rtlCol="0" anchor="t"/>
          <a:lstStyle/>
          <a:p>
            <a:pPr indent="0" marL="0">
              <a:lnSpc>
                <a:spcPct val="110000"/>
              </a:lnSpc>
              <a:buNone/>
            </a:pPr>
            <a:r>
              <a:rPr lang="en-US" sz="1200" dirty="0">
                <a:solidFill>
                  <a:srgbClr val="4A5264"/>
                </a:solidFill>
                <a:latin typeface="Calibri" pitchFamily="34" charset="0"/>
                <a:ea typeface="Calibri" pitchFamily="34" charset="-122"/>
                <a:cs typeface="Calibri" pitchFamily="34" charset="-120"/>
              </a:rPr>
              <a:t>retractall/1 wipes the last consultation; prompt/2 hides SWI-Prolog's |: input prompt.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03 · BUILDING THE SYSTEM</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Asking the user: ask/2 with memory and WHY</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 after the querying shell in Bratko (2012), Ch. 15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19</a:t>
            </a:r>
            <a:endParaRPr lang="en-US" sz="1200" dirty="0"/>
          </a:p>
        </p:txBody>
      </p:sp>
      <p:sp>
        <p:nvSpPr>
          <p:cNvPr id="7" name="Shape 4"/>
          <p:cNvSpPr/>
          <p:nvPr/>
        </p:nvSpPr>
        <p:spPr>
          <a:xfrm>
            <a:off x="812810" y="1701790"/>
            <a:ext cx="5333970" cy="3079791"/>
          </a:xfrm>
          <a:prstGeom prst="roundRect">
            <a:avLst>
              <a:gd name="adj" fmla="val 2969"/>
            </a:avLst>
          </a:prstGeom>
          <a:solidFill>
            <a:srgbClr val="1E2433"/>
          </a:solidFill>
          <a:ln/>
        </p:spPr>
      </p:sp>
      <p:sp>
        <p:nvSpPr>
          <p:cNvPr id="8" name="Text 5"/>
          <p:cNvSpPr txBox="1"/>
          <p:nvPr/>
        </p:nvSpPr>
        <p:spPr>
          <a:xfrm>
            <a:off x="990570" y="1854220"/>
            <a:ext cx="4978359" cy="2774930"/>
          </a:xfrm>
          <a:prstGeom prst="rect">
            <a:avLst/>
          </a:prstGeom>
          <a:noFill/>
          <a:ln/>
        </p:spPr>
        <p:txBody>
          <a:bodyPr wrap="square" lIns="0" tIns="0" rIns="0" bIns="0" rtlCol="0" anchor="t"/>
          <a:lstStyle/>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dynamic known/2.  </a:t>
            </a:r>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known(Fact, yes/no)</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ask(F, _) :-</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known(F, Ans), !,  </a:t>
            </a:r>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asked before?</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Ans == yes.  </a:t>
            </a:r>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reuse the answer</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ask(F, T) :-</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format("Is it true: ~w ? (yes/no/why) ", [F]),</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read(Ans),</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Ans == why</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-&gt;  why(T), ask(F, T)  </a:t>
            </a:r>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explain, ask again</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assertz(known(F, Ans)),  </a:t>
            </a:r>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remember</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Ans == yes  </a:t>
            </a:r>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succeed only on yes</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p:txBody>
      </p:sp>
      <p:sp>
        <p:nvSpPr>
          <p:cNvPr id="9" name="Shape 6"/>
          <p:cNvSpPr/>
          <p:nvPr/>
        </p:nvSpPr>
        <p:spPr>
          <a:xfrm>
            <a:off x="6400800" y="1701790"/>
            <a:ext cx="4978359" cy="939820"/>
          </a:xfrm>
          <a:prstGeom prst="roundRect">
            <a:avLst>
              <a:gd name="adj" fmla="val 9730"/>
            </a:avLst>
          </a:prstGeom>
          <a:solidFill>
            <a:srgbClr val="FFFFFF"/>
          </a:solidFill>
          <a:ln w="12700">
            <a:solidFill>
              <a:srgbClr val="E3E1DA"/>
            </a:solidFill>
            <a:prstDash val="solid"/>
          </a:ln>
        </p:spPr>
      </p:sp>
      <p:sp>
        <p:nvSpPr>
          <p:cNvPr id="10" name="Text 7"/>
          <p:cNvSpPr txBox="1"/>
          <p:nvPr/>
        </p:nvSpPr>
        <p:spPr>
          <a:xfrm>
            <a:off x="6578559" y="1854220"/>
            <a:ext cx="4648170" cy="304770"/>
          </a:xfrm>
          <a:prstGeom prst="rect">
            <a:avLst/>
          </a:prstGeom>
          <a:noFill/>
          <a:ln/>
        </p:spPr>
        <p:txBody>
          <a:bodyPr wrap="square" lIns="0" tIns="0" rIns="0" bIns="0" rtlCol="0" anchor="t"/>
          <a:lstStyle/>
          <a:p>
            <a:pPr indent="0" marL="0">
              <a:buNone/>
            </a:pPr>
            <a:r>
              <a:rPr lang="en-US" sz="1500" b="1" dirty="0">
                <a:solidFill>
                  <a:srgbClr val="1B2233"/>
                </a:solidFill>
                <a:latin typeface="Calibri" pitchFamily="34" charset="0"/>
                <a:ea typeface="Calibri" pitchFamily="34" charset="-122"/>
                <a:cs typeface="Calibri" pitchFamily="34" charset="-120"/>
              </a:rPr>
              <a:t>1 · Ask lazily</a:t>
            </a:r>
            <a:endParaRPr lang="en-US" sz="1500" dirty="0"/>
          </a:p>
        </p:txBody>
      </p:sp>
      <p:sp>
        <p:nvSpPr>
          <p:cNvPr id="11" name="Text 8"/>
          <p:cNvSpPr txBox="1"/>
          <p:nvPr/>
        </p:nvSpPr>
        <p:spPr>
          <a:xfrm>
            <a:off x="6578559" y="2158990"/>
            <a:ext cx="4622841" cy="381030"/>
          </a:xfrm>
          <a:prstGeom prst="rect">
            <a:avLst/>
          </a:prstGeom>
          <a:noFill/>
          <a:ln/>
        </p:spPr>
        <p:txBody>
          <a:bodyPr wrap="square" lIns="0" tIns="0" rIns="0" bIns="0" rtlCol="0" anchor="t"/>
          <a:lstStyle/>
          <a:p>
            <a:pPr indent="0" marL="0">
              <a:lnSpc>
                <a:spcPct val="110000"/>
              </a:lnSpc>
              <a:buNone/>
            </a:pPr>
            <a:r>
              <a:rPr lang="en-US" sz="1200" dirty="0">
                <a:solidFill>
                  <a:srgbClr val="4A5264"/>
                </a:solidFill>
                <a:latin typeface="Calibri" pitchFamily="34" charset="0"/>
                <a:ea typeface="Calibri" pitchFamily="34" charset="-122"/>
                <a:cs typeface="Calibri" pitchFamily="34" charset="-120"/>
              </a:rPr>
              <a:t>A question appears only when a rule being tried needs that fact.</a:t>
            </a:r>
            <a:endParaRPr lang="en-US" sz="1200" dirty="0"/>
          </a:p>
        </p:txBody>
      </p:sp>
      <p:sp>
        <p:nvSpPr>
          <p:cNvPr id="12" name="Shape 9"/>
          <p:cNvSpPr/>
          <p:nvPr/>
        </p:nvSpPr>
        <p:spPr>
          <a:xfrm>
            <a:off x="6400800" y="2768620"/>
            <a:ext cx="4978359" cy="939820"/>
          </a:xfrm>
          <a:prstGeom prst="roundRect">
            <a:avLst>
              <a:gd name="adj" fmla="val 9730"/>
            </a:avLst>
          </a:prstGeom>
          <a:solidFill>
            <a:srgbClr val="FFFFFF"/>
          </a:solidFill>
          <a:ln w="12700">
            <a:solidFill>
              <a:srgbClr val="E3E1DA"/>
            </a:solidFill>
            <a:prstDash val="solid"/>
          </a:ln>
        </p:spPr>
      </p:sp>
      <p:sp>
        <p:nvSpPr>
          <p:cNvPr id="13" name="Text 10"/>
          <p:cNvSpPr txBox="1"/>
          <p:nvPr/>
        </p:nvSpPr>
        <p:spPr>
          <a:xfrm>
            <a:off x="6578559" y="2920959"/>
            <a:ext cx="4648170" cy="304770"/>
          </a:xfrm>
          <a:prstGeom prst="rect">
            <a:avLst/>
          </a:prstGeom>
          <a:noFill/>
          <a:ln/>
        </p:spPr>
        <p:txBody>
          <a:bodyPr wrap="square" lIns="0" tIns="0" rIns="0" bIns="0" rtlCol="0" anchor="t"/>
          <a:lstStyle/>
          <a:p>
            <a:pPr indent="0" marL="0">
              <a:buNone/>
            </a:pPr>
            <a:r>
              <a:rPr lang="en-US" sz="1500" b="1" dirty="0">
                <a:solidFill>
                  <a:srgbClr val="1B2233"/>
                </a:solidFill>
                <a:latin typeface="Calibri" pitchFamily="34" charset="0"/>
                <a:ea typeface="Calibri" pitchFamily="34" charset="-122"/>
                <a:cs typeface="Calibri" pitchFamily="34" charset="-120"/>
              </a:rPr>
              <a:t>2 · Ask once</a:t>
            </a:r>
            <a:endParaRPr lang="en-US" sz="1500" dirty="0"/>
          </a:p>
        </p:txBody>
      </p:sp>
      <p:sp>
        <p:nvSpPr>
          <p:cNvPr id="14" name="Text 11"/>
          <p:cNvSpPr txBox="1"/>
          <p:nvPr/>
        </p:nvSpPr>
        <p:spPr>
          <a:xfrm>
            <a:off x="6578559" y="3225820"/>
            <a:ext cx="4622841" cy="381030"/>
          </a:xfrm>
          <a:prstGeom prst="rect">
            <a:avLst/>
          </a:prstGeom>
          <a:noFill/>
          <a:ln/>
        </p:spPr>
        <p:txBody>
          <a:bodyPr wrap="square" lIns="0" tIns="0" rIns="0" bIns="0" rtlCol="0" anchor="t"/>
          <a:lstStyle/>
          <a:p>
            <a:pPr indent="0" marL="0">
              <a:lnSpc>
                <a:spcPct val="110000"/>
              </a:lnSpc>
              <a:buNone/>
            </a:pPr>
            <a:r>
              <a:rPr lang="en-US" sz="1200" dirty="0">
                <a:solidFill>
                  <a:srgbClr val="4A5264"/>
                </a:solidFill>
                <a:latin typeface="Calibri" pitchFamily="34" charset="0"/>
                <a:ea typeface="Calibri" pitchFamily="34" charset="-122"/>
                <a:cs typeface="Calibri" pitchFamily="34" charset="-120"/>
              </a:rPr>
              <a:t>assertz stores each answer in known/2; later rules reuse it.</a:t>
            </a:r>
            <a:endParaRPr lang="en-US" sz="1200" dirty="0"/>
          </a:p>
        </p:txBody>
      </p:sp>
      <p:sp>
        <p:nvSpPr>
          <p:cNvPr id="15" name="Shape 12"/>
          <p:cNvSpPr/>
          <p:nvPr/>
        </p:nvSpPr>
        <p:spPr>
          <a:xfrm>
            <a:off x="6400800" y="3835359"/>
            <a:ext cx="4978359" cy="939820"/>
          </a:xfrm>
          <a:prstGeom prst="roundRect">
            <a:avLst>
              <a:gd name="adj" fmla="val 9730"/>
            </a:avLst>
          </a:prstGeom>
          <a:solidFill>
            <a:srgbClr val="FFFFFF"/>
          </a:solidFill>
          <a:ln w="12700">
            <a:solidFill>
              <a:srgbClr val="E3E1DA"/>
            </a:solidFill>
            <a:prstDash val="solid"/>
          </a:ln>
        </p:spPr>
      </p:sp>
      <p:sp>
        <p:nvSpPr>
          <p:cNvPr id="16" name="Text 13"/>
          <p:cNvSpPr txBox="1"/>
          <p:nvPr/>
        </p:nvSpPr>
        <p:spPr>
          <a:xfrm>
            <a:off x="6578559" y="3987790"/>
            <a:ext cx="4648170" cy="304770"/>
          </a:xfrm>
          <a:prstGeom prst="rect">
            <a:avLst/>
          </a:prstGeom>
          <a:noFill/>
          <a:ln/>
        </p:spPr>
        <p:txBody>
          <a:bodyPr wrap="square" lIns="0" tIns="0" rIns="0" bIns="0" rtlCol="0" anchor="t"/>
          <a:lstStyle/>
          <a:p>
            <a:pPr indent="0" marL="0">
              <a:buNone/>
            </a:pPr>
            <a:r>
              <a:rPr lang="en-US" sz="1500" b="1" dirty="0">
                <a:solidFill>
                  <a:srgbClr val="1B2233"/>
                </a:solidFill>
                <a:latin typeface="Calibri" pitchFamily="34" charset="0"/>
                <a:ea typeface="Calibri" pitchFamily="34" charset="-122"/>
                <a:cs typeface="Calibri" pitchFamily="34" charset="-120"/>
              </a:rPr>
              <a:t>3 · Explain on demand</a:t>
            </a:r>
            <a:endParaRPr lang="en-US" sz="1500" dirty="0"/>
          </a:p>
        </p:txBody>
      </p:sp>
      <p:sp>
        <p:nvSpPr>
          <p:cNvPr id="17" name="Text 14"/>
          <p:cNvSpPr txBox="1"/>
          <p:nvPr/>
        </p:nvSpPr>
        <p:spPr>
          <a:xfrm>
            <a:off x="6578559" y="4292559"/>
            <a:ext cx="4622841" cy="381030"/>
          </a:xfrm>
          <a:prstGeom prst="rect">
            <a:avLst/>
          </a:prstGeom>
          <a:noFill/>
          <a:ln/>
        </p:spPr>
        <p:txBody>
          <a:bodyPr wrap="square" lIns="0" tIns="0" rIns="0" bIns="0" rtlCol="0" anchor="t"/>
          <a:lstStyle/>
          <a:p>
            <a:pPr indent="0" marL="0">
              <a:lnSpc>
                <a:spcPct val="110000"/>
              </a:lnSpc>
              <a:buNone/>
            </a:pPr>
            <a:r>
              <a:rPr lang="en-US" sz="1200" dirty="0">
                <a:solidFill>
                  <a:srgbClr val="4A5264"/>
                </a:solidFill>
                <a:latin typeface="Calibri" pitchFamily="34" charset="0"/>
                <a:ea typeface="Calibri" pitchFamily="34" charset="-122"/>
                <a:cs typeface="Calibri" pitchFamily="34" charset="-120"/>
              </a:rPr>
              <a:t>Typing why. prints the waiting rules, then repeats the question.</a:t>
            </a:r>
            <a:endParaRPr lang="en-US" sz="1200" dirty="0"/>
          </a:p>
        </p:txBody>
      </p:sp>
      <p:sp>
        <p:nvSpPr>
          <p:cNvPr id="18" name="Text 15"/>
          <p:cNvSpPr txBox="1"/>
          <p:nvPr/>
        </p:nvSpPr>
        <p:spPr>
          <a:xfrm>
            <a:off x="6400800" y="4953030"/>
            <a:ext cx="4978359" cy="444490"/>
          </a:xfrm>
          <a:prstGeom prst="rect">
            <a:avLst/>
          </a:prstGeom>
          <a:noFill/>
          <a:ln/>
        </p:spPr>
        <p:txBody>
          <a:bodyPr wrap="square" lIns="0" tIns="0" rIns="0" bIns="0" rtlCol="0" anchor="t"/>
          <a:lstStyle/>
          <a:p>
            <a:pPr indent="0" marL="0">
              <a:lnSpc>
                <a:spcPct val="110000"/>
              </a:lnSpc>
              <a:buNone/>
            </a:pPr>
            <a:r>
              <a:rPr lang="en-US" sz="1200" dirty="0">
                <a:solidFill>
                  <a:srgbClr val="5F6573"/>
                </a:solidFill>
                <a:latin typeface="Calibri" pitchFamily="34" charset="0"/>
                <a:ea typeface="Calibri" pitchFamily="34" charset="-122"/>
                <a:cs typeface="Calibri" pitchFamily="34" charset="-120"/>
              </a:rPr>
              <a:t>Answers are Prolog terms: type yes. no. or why. with the full stop.</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03 · BUILDING THE SYSTEM</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Explanation facility: WHY and HOW</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Sources: Bratko (2012), Ch. 15; Durkin (1994)</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20</a:t>
            </a:r>
            <a:endParaRPr lang="en-US" sz="1200" dirty="0"/>
          </a:p>
        </p:txBody>
      </p:sp>
      <p:sp>
        <p:nvSpPr>
          <p:cNvPr id="7" name="Shape 4"/>
          <p:cNvSpPr/>
          <p:nvPr/>
        </p:nvSpPr>
        <p:spPr>
          <a:xfrm>
            <a:off x="812810" y="1701790"/>
            <a:ext cx="5181630" cy="1015990"/>
          </a:xfrm>
          <a:prstGeom prst="roundRect">
            <a:avLst>
              <a:gd name="adj" fmla="val 9000"/>
            </a:avLst>
          </a:prstGeom>
          <a:solidFill>
            <a:srgbClr val="F6E9E1"/>
          </a:solidFill>
          <a:ln/>
        </p:spPr>
      </p:sp>
      <p:sp>
        <p:nvSpPr>
          <p:cNvPr id="8" name="Text 5"/>
          <p:cNvSpPr txBox="1"/>
          <p:nvPr/>
        </p:nvSpPr>
        <p:spPr>
          <a:xfrm>
            <a:off x="990570" y="1854220"/>
            <a:ext cx="4851441" cy="304770"/>
          </a:xfrm>
          <a:prstGeom prst="rect">
            <a:avLst/>
          </a:prstGeom>
          <a:noFill/>
          <a:ln/>
        </p:spPr>
        <p:txBody>
          <a:bodyPr wrap="square" lIns="0" tIns="0" rIns="0" bIns="0" rtlCol="0" anchor="t"/>
          <a:lstStyle/>
          <a:p>
            <a:pPr indent="0" marL="0">
              <a:buNone/>
            </a:pPr>
            <a:r>
              <a:rPr lang="en-US" sz="1500" b="1" dirty="0">
                <a:solidFill>
                  <a:srgbClr val="1B2233"/>
                </a:solidFill>
                <a:latin typeface="Calibri" pitchFamily="34" charset="0"/>
                <a:ea typeface="Calibri" pitchFamily="34" charset="-122"/>
                <a:cs typeface="Calibri" pitchFamily="34" charset="-120"/>
              </a:rPr>
              <a:t>WHY? (during a question)</a:t>
            </a:r>
            <a:endParaRPr lang="en-US" sz="1500" dirty="0"/>
          </a:p>
        </p:txBody>
      </p:sp>
      <p:sp>
        <p:nvSpPr>
          <p:cNvPr id="9" name="Text 6"/>
          <p:cNvSpPr txBox="1"/>
          <p:nvPr/>
        </p:nvSpPr>
        <p:spPr>
          <a:xfrm>
            <a:off x="990570" y="2158990"/>
            <a:ext cx="4826020" cy="457200"/>
          </a:xfrm>
          <a:prstGeom prst="rect">
            <a:avLst/>
          </a:prstGeom>
          <a:noFill/>
          <a:ln/>
        </p:spPr>
        <p:txBody>
          <a:bodyPr wrap="square" lIns="0" tIns="0" rIns="0" bIns="0" rtlCol="0" anchor="t"/>
          <a:lstStyle/>
          <a:p>
            <a:pPr indent="0" marL="0">
              <a:lnSpc>
                <a:spcPct val="110000"/>
              </a:lnSpc>
              <a:buNone/>
            </a:pPr>
            <a:r>
              <a:rPr lang="en-US" sz="1200" dirty="0">
                <a:solidFill>
                  <a:srgbClr val="4A5264"/>
                </a:solidFill>
                <a:latin typeface="Calibri" pitchFamily="34" charset="0"/>
                <a:ea typeface="Calibri" pitchFamily="34" charset="-122"/>
                <a:cs typeface="Calibri" pitchFamily="34" charset="-120"/>
              </a:rPr>
              <a:t>"Why do you need this fact?" Show the rules waiting for it, innermost first: the Trace list.</a:t>
            </a:r>
            <a:endParaRPr lang="en-US" sz="1200" dirty="0"/>
          </a:p>
        </p:txBody>
      </p:sp>
      <p:sp>
        <p:nvSpPr>
          <p:cNvPr id="10" name="Shape 7"/>
          <p:cNvSpPr/>
          <p:nvPr/>
        </p:nvSpPr>
        <p:spPr>
          <a:xfrm>
            <a:off x="6197620" y="1701790"/>
            <a:ext cx="5181630" cy="1015990"/>
          </a:xfrm>
          <a:prstGeom prst="roundRect">
            <a:avLst>
              <a:gd name="adj" fmla="val 9000"/>
            </a:avLst>
          </a:prstGeom>
          <a:solidFill>
            <a:srgbClr val="E6EDF7"/>
          </a:solidFill>
          <a:ln/>
        </p:spPr>
      </p:sp>
      <p:sp>
        <p:nvSpPr>
          <p:cNvPr id="11" name="Text 8"/>
          <p:cNvSpPr txBox="1"/>
          <p:nvPr/>
        </p:nvSpPr>
        <p:spPr>
          <a:xfrm>
            <a:off x="6375380" y="1854220"/>
            <a:ext cx="4851441" cy="304770"/>
          </a:xfrm>
          <a:prstGeom prst="rect">
            <a:avLst/>
          </a:prstGeom>
          <a:noFill/>
          <a:ln/>
        </p:spPr>
        <p:txBody>
          <a:bodyPr wrap="square" lIns="0" tIns="0" rIns="0" bIns="0" rtlCol="0" anchor="t"/>
          <a:lstStyle/>
          <a:p>
            <a:pPr indent="0" marL="0">
              <a:buNone/>
            </a:pPr>
            <a:r>
              <a:rPr lang="en-US" sz="1500" b="1" dirty="0">
                <a:solidFill>
                  <a:srgbClr val="1B2233"/>
                </a:solidFill>
                <a:latin typeface="Calibri" pitchFamily="34" charset="0"/>
                <a:ea typeface="Calibri" pitchFamily="34" charset="-122"/>
                <a:cs typeface="Calibri" pitchFamily="34" charset="-120"/>
              </a:rPr>
              <a:t>HOW? (after a conclusion)</a:t>
            </a:r>
            <a:endParaRPr lang="en-US" sz="1500" dirty="0"/>
          </a:p>
        </p:txBody>
      </p:sp>
      <p:sp>
        <p:nvSpPr>
          <p:cNvPr id="12" name="Text 9"/>
          <p:cNvSpPr txBox="1"/>
          <p:nvPr/>
        </p:nvSpPr>
        <p:spPr>
          <a:xfrm>
            <a:off x="6375380" y="2158990"/>
            <a:ext cx="4826020" cy="457200"/>
          </a:xfrm>
          <a:prstGeom prst="rect">
            <a:avLst/>
          </a:prstGeom>
          <a:noFill/>
          <a:ln/>
        </p:spPr>
        <p:txBody>
          <a:bodyPr wrap="square" lIns="0" tIns="0" rIns="0" bIns="0" rtlCol="0" anchor="t"/>
          <a:lstStyle/>
          <a:p>
            <a:pPr indent="0" marL="0">
              <a:lnSpc>
                <a:spcPct val="110000"/>
              </a:lnSpc>
              <a:buNone/>
            </a:pPr>
            <a:r>
              <a:rPr lang="en-US" sz="1200" dirty="0">
                <a:solidFill>
                  <a:srgbClr val="4A5264"/>
                </a:solidFill>
                <a:latin typeface="Calibri" pitchFamily="34" charset="0"/>
                <a:ea typeface="Calibri" pitchFamily="34" charset="-122"/>
                <a:cs typeface="Calibri" pitchFamily="34" charset="-120"/>
              </a:rPr>
              <a:t>"How did you conclude that?" Print the proof tree: a rule for each conclusion, the user for each fact.</a:t>
            </a:r>
            <a:endParaRPr lang="en-US" sz="1200" dirty="0"/>
          </a:p>
        </p:txBody>
      </p:sp>
      <p:sp>
        <p:nvSpPr>
          <p:cNvPr id="13" name="Shape 10"/>
          <p:cNvSpPr/>
          <p:nvPr/>
        </p:nvSpPr>
        <p:spPr>
          <a:xfrm>
            <a:off x="812810" y="2870210"/>
            <a:ext cx="5181630" cy="2654320"/>
          </a:xfrm>
          <a:prstGeom prst="roundRect">
            <a:avLst>
              <a:gd name="adj" fmla="val 3445"/>
            </a:avLst>
          </a:prstGeom>
          <a:solidFill>
            <a:srgbClr val="1E2433"/>
          </a:solidFill>
          <a:ln/>
        </p:spPr>
      </p:sp>
      <p:sp>
        <p:nvSpPr>
          <p:cNvPr id="14" name="Text 11"/>
          <p:cNvSpPr txBox="1"/>
          <p:nvPr/>
        </p:nvSpPr>
        <p:spPr>
          <a:xfrm>
            <a:off x="990570" y="3022641"/>
            <a:ext cx="4826020" cy="2349459"/>
          </a:xfrm>
          <a:prstGeom prst="rect">
            <a:avLst/>
          </a:prstGeom>
          <a:noFill/>
          <a:ln/>
        </p:spPr>
        <p:txBody>
          <a:bodyPr wrap="square" lIns="0" tIns="0" rIns="0" bIns="0" rtlCol="0" anchor="t"/>
          <a:lstStyle/>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why([]).</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why([Id|Ids]) :-</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Id :: if C then G,</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format("   trying rule ~w: IF ", [Id]),</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show(C),</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format(" THEN ~w~n", [G]),</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why(Ids).</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show(A and B) :- !,</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show(A), write(' AND '), show(B).</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show(X) :- write(X).</a:t>
            </a:r>
            <a:endParaRPr lang="en-US" sz="1200" dirty="0"/>
          </a:p>
        </p:txBody>
      </p:sp>
      <p:sp>
        <p:nvSpPr>
          <p:cNvPr id="15" name="Shape 12"/>
          <p:cNvSpPr/>
          <p:nvPr/>
        </p:nvSpPr>
        <p:spPr>
          <a:xfrm>
            <a:off x="6197620" y="2870210"/>
            <a:ext cx="5181630" cy="2222541"/>
          </a:xfrm>
          <a:prstGeom prst="roundRect">
            <a:avLst>
              <a:gd name="adj" fmla="val 4114"/>
            </a:avLst>
          </a:prstGeom>
          <a:solidFill>
            <a:srgbClr val="1E2433"/>
          </a:solidFill>
          <a:ln/>
        </p:spPr>
      </p:sp>
      <p:sp>
        <p:nvSpPr>
          <p:cNvPr id="16" name="Text 13"/>
          <p:cNvSpPr txBox="1"/>
          <p:nvPr/>
        </p:nvSpPr>
        <p:spPr>
          <a:xfrm>
            <a:off x="6375380" y="3022641"/>
            <a:ext cx="4826020" cy="1917680"/>
          </a:xfrm>
          <a:prstGeom prst="rect">
            <a:avLst/>
          </a:prstGeom>
          <a:noFill/>
          <a:ln/>
        </p:spPr>
        <p:txBody>
          <a:bodyPr wrap="square" lIns="0" tIns="0" rIns="0" bIns="0" rtlCol="0" anchor="t"/>
          <a:lstStyle/>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how(A and B, D) :- !,</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how(A, D), how(B, D).</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how(told(F), D) :- !, tab(D),</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format("~w  &lt;- you told me~n", [F]).</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how(not(F), D) :- !, tab(D),</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format("not ~w  &lt;- you said no~n", [F]).</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how(by(G, Id, P), D) :- tab(D),</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format("~w  &lt;- by rule ~w~n", [G, Id]),</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D1 is D + 4, how(P, D1).</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04 · WORKING DEMO</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Demo 1: identifying a cheetah, with WHY</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Program: engine.pl + zoo_kb.pl (this talk), run in SWI-Prolog 10</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21</a:t>
            </a:r>
            <a:endParaRPr lang="en-US" sz="1200" dirty="0"/>
          </a:p>
        </p:txBody>
      </p:sp>
      <p:sp>
        <p:nvSpPr>
          <p:cNvPr id="7" name="Shape 4"/>
          <p:cNvSpPr/>
          <p:nvPr/>
        </p:nvSpPr>
        <p:spPr>
          <a:xfrm>
            <a:off x="812810" y="1676370"/>
            <a:ext cx="10566441" cy="2863809"/>
          </a:xfrm>
          <a:prstGeom prst="roundRect">
            <a:avLst>
              <a:gd name="adj" fmla="val 3193"/>
            </a:avLst>
          </a:prstGeom>
          <a:solidFill>
            <a:srgbClr val="1E2433"/>
          </a:solidFill>
          <a:ln/>
        </p:spPr>
      </p:sp>
      <p:sp>
        <p:nvSpPr>
          <p:cNvPr id="8" name="Text 5"/>
          <p:cNvSpPr txBox="1"/>
          <p:nvPr/>
        </p:nvSpPr>
        <p:spPr>
          <a:xfrm>
            <a:off x="990570" y="1828800"/>
            <a:ext cx="10210830" cy="2559040"/>
          </a:xfrm>
          <a:prstGeom prst="rect">
            <a:avLst/>
          </a:prstGeom>
          <a:noFill/>
          <a:ln/>
        </p:spPr>
        <p:txBody>
          <a:bodyPr wrap="square" lIns="0" tIns="0" rIns="0" bIns="0" rtlCol="0" anchor="t"/>
          <a:lstStyle/>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SWI-Prolog · $ swipl zoo_kb.pl</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go.</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Is it true: has(hair) ? (yes/no/why) </a:t>
            </a:r>
            <a:pPr indent="0" marL="0">
              <a:lnSpc>
                <a:spcPts val="1680"/>
              </a:lnSpc>
              <a:buNone/>
            </a:pPr>
            <a:r>
              <a:rPr lang="en-US" sz="1200" b="1" dirty="0">
                <a:solidFill>
                  <a:srgbClr val="F2A65A"/>
                </a:solidFill>
                <a:latin typeface="Consolas" pitchFamily="34" charset="0"/>
                <a:ea typeface="Consolas" pitchFamily="34" charset="-122"/>
                <a:cs typeface="Consolas" pitchFamily="34" charset="-120"/>
              </a:rPr>
              <a:t>why.</a:t>
            </a:r>
            <a:endParaRPr lang="en-US" sz="1200" dirty="0"/>
          </a:p>
          <a:p>
            <a:pPr indent="0" marL="0">
              <a:lnSpc>
                <a:spcPts val="1680"/>
              </a:lnSpc>
              <a:buNone/>
            </a:pPr>
            <a:r>
              <a:rPr lang="en-US" sz="1200" dirty="0">
                <a:solidFill>
                  <a:srgbClr val="8DB7F5"/>
                </a:solidFill>
                <a:latin typeface="Consolas" pitchFamily="34" charset="0"/>
                <a:ea typeface="Consolas" pitchFamily="34" charset="-122"/>
                <a:cs typeface="Consolas" pitchFamily="34" charset="-120"/>
              </a:rPr>
              <a:t>   trying rule r1: IF has(hair) THEN mammal</a:t>
            </a:r>
            <a:endParaRPr lang="en-US" sz="1200" dirty="0"/>
          </a:p>
          <a:p>
            <a:pPr indent="0" marL="0">
              <a:lnSpc>
                <a:spcPts val="1680"/>
              </a:lnSpc>
              <a:buNone/>
            </a:pPr>
            <a:r>
              <a:rPr lang="en-US" sz="1200" dirty="0">
                <a:solidFill>
                  <a:srgbClr val="8DB7F5"/>
                </a:solidFill>
                <a:latin typeface="Consolas" pitchFamily="34" charset="0"/>
                <a:ea typeface="Consolas" pitchFamily="34" charset="-122"/>
                <a:cs typeface="Consolas" pitchFamily="34" charset="-120"/>
              </a:rPr>
              <a:t>   trying rule r5: IF mammal AND eats(meat) THEN carnivore</a:t>
            </a:r>
            <a:endParaRPr lang="en-US" sz="1200" dirty="0"/>
          </a:p>
          <a:p>
            <a:pPr indent="0" marL="0">
              <a:lnSpc>
                <a:spcPts val="1680"/>
              </a:lnSpc>
              <a:buNone/>
            </a:pPr>
            <a:r>
              <a:rPr lang="en-US" sz="1200" dirty="0">
                <a:solidFill>
                  <a:srgbClr val="8DB7F5"/>
                </a:solidFill>
                <a:latin typeface="Consolas" pitchFamily="34" charset="0"/>
                <a:ea typeface="Consolas" pitchFamily="34" charset="-122"/>
                <a:cs typeface="Consolas" pitchFamily="34" charset="-120"/>
              </a:rPr>
              <a:t>   trying rule r9: IF carnivore AND has(tawny_colour) AND has(dark_spots) THEN animal(cheetah)</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Is it true: has(hair) ? (yes/no/why) </a:t>
            </a:r>
            <a:pPr indent="0" marL="0">
              <a:lnSpc>
                <a:spcPts val="1680"/>
              </a:lnSpc>
              <a:buNone/>
            </a:pPr>
            <a:r>
              <a:rPr lang="en-US" sz="1200" b="1" dirty="0">
                <a:solidFill>
                  <a:srgbClr val="F2A65A"/>
                </a:solidFill>
                <a:latin typeface="Consolas" pitchFamily="34" charset="0"/>
                <a:ea typeface="Consolas" pitchFamily="34" charset="-122"/>
                <a:cs typeface="Consolas" pitchFamily="34" charset="-120"/>
              </a:rPr>
              <a:t>yes.</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Is it true: eats(meat) ? (yes/no/why) </a:t>
            </a:r>
            <a:pPr indent="0" marL="0">
              <a:lnSpc>
                <a:spcPts val="1680"/>
              </a:lnSpc>
              <a:buNone/>
            </a:pPr>
            <a:r>
              <a:rPr lang="en-US" sz="1200" b="1" dirty="0">
                <a:solidFill>
                  <a:srgbClr val="F2A65A"/>
                </a:solidFill>
                <a:latin typeface="Consolas" pitchFamily="34" charset="0"/>
                <a:ea typeface="Consolas" pitchFamily="34" charset="-122"/>
                <a:cs typeface="Consolas" pitchFamily="34" charset="-120"/>
              </a:rPr>
              <a:t>yes.</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Is it true: has(tawny_colour) ? (yes/no/why) </a:t>
            </a:r>
            <a:pPr indent="0" marL="0">
              <a:lnSpc>
                <a:spcPts val="1680"/>
              </a:lnSpc>
              <a:buNone/>
            </a:pPr>
            <a:r>
              <a:rPr lang="en-US" sz="1200" b="1" dirty="0">
                <a:solidFill>
                  <a:srgbClr val="F2A65A"/>
                </a:solidFill>
                <a:latin typeface="Consolas" pitchFamily="34" charset="0"/>
                <a:ea typeface="Consolas" pitchFamily="34" charset="-122"/>
                <a:cs typeface="Consolas" pitchFamily="34" charset="-120"/>
              </a:rPr>
              <a:t>yes.</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Is it true: has(dark_spots) ? (yes/no/why) </a:t>
            </a:r>
            <a:pPr indent="0" marL="0">
              <a:lnSpc>
                <a:spcPts val="1680"/>
              </a:lnSpc>
              <a:buNone/>
            </a:pPr>
            <a:r>
              <a:rPr lang="en-US" sz="1200" b="1" dirty="0">
                <a:solidFill>
                  <a:srgbClr val="F2A65A"/>
                </a:solidFill>
                <a:latin typeface="Consolas" pitchFamily="34" charset="0"/>
                <a:ea typeface="Consolas" pitchFamily="34" charset="-122"/>
                <a:cs typeface="Consolas" pitchFamily="34" charset="-120"/>
              </a:rPr>
              <a:t>yes.</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680"/>
              </a:lnSpc>
              <a:buNone/>
            </a:pPr>
            <a:r>
              <a:rPr lang="en-US" sz="1200" b="1" dirty="0">
                <a:solidFill>
                  <a:srgbClr val="8DB7F5"/>
                </a:solidFill>
                <a:latin typeface="Consolas" pitchFamily="34" charset="0"/>
                <a:ea typeface="Consolas" pitchFamily="34" charset="-122"/>
                <a:cs typeface="Consolas" pitchFamily="34" charset="-120"/>
              </a:rPr>
              <a:t>Conclusion: animal(cheetah)</a:t>
            </a:r>
            <a:endParaRPr lang="en-US" sz="1200" dirty="0"/>
          </a:p>
        </p:txBody>
      </p:sp>
      <p:sp>
        <p:nvSpPr>
          <p:cNvPr id="9" name="Shape 6"/>
          <p:cNvSpPr/>
          <p:nvPr/>
        </p:nvSpPr>
        <p:spPr>
          <a:xfrm>
            <a:off x="812810" y="4743450"/>
            <a:ext cx="3378159" cy="761970"/>
          </a:xfrm>
          <a:prstGeom prst="roundRect">
            <a:avLst>
              <a:gd name="adj" fmla="val 12000"/>
            </a:avLst>
          </a:prstGeom>
          <a:solidFill>
            <a:srgbClr val="FFFFFF"/>
          </a:solidFill>
          <a:ln w="12700">
            <a:solidFill>
              <a:srgbClr val="E3E1DA"/>
            </a:solidFill>
            <a:prstDash val="solid"/>
          </a:ln>
        </p:spPr>
      </p:sp>
      <p:sp>
        <p:nvSpPr>
          <p:cNvPr id="10" name="Text 7"/>
          <p:cNvSpPr txBox="1"/>
          <p:nvPr/>
        </p:nvSpPr>
        <p:spPr>
          <a:xfrm>
            <a:off x="965241" y="4743450"/>
            <a:ext cx="3073390" cy="761970"/>
          </a:xfrm>
          <a:prstGeom prst="rect">
            <a:avLst/>
          </a:prstGeom>
          <a:noFill/>
          <a:ln/>
        </p:spPr>
        <p:txBody>
          <a:bodyPr wrap="square" lIns="0" tIns="0" rIns="0" bIns="0" rtlCol="0" anchor="ctr"/>
          <a:lstStyle/>
          <a:p>
            <a:pPr indent="0" marL="0">
              <a:lnSpc>
                <a:spcPct val="110000"/>
              </a:lnSpc>
              <a:buNone/>
            </a:pPr>
            <a:r>
              <a:rPr lang="en-US" sz="1300" b="1" dirty="0">
                <a:solidFill>
                  <a:srgbClr val="1B2233"/>
                </a:solidFill>
                <a:latin typeface="Calibri" pitchFamily="34" charset="0"/>
                <a:ea typeface="Calibri" pitchFamily="34" charset="-122"/>
                <a:cs typeface="Calibri" pitchFamily="34" charset="-120"/>
              </a:rPr>
              <a:t>WHY:</a:t>
            </a:r>
            <a:pPr indent="0" marL="0">
              <a:lnSpc>
                <a:spcPct val="110000"/>
              </a:lnSpc>
              <a:buNone/>
            </a:pPr>
            <a:r>
              <a:rPr lang="en-US" sz="1300" dirty="0">
                <a:solidFill>
                  <a:srgbClr val="1B2233"/>
                </a:solidFill>
                <a:latin typeface="Calibri" pitchFamily="34" charset="0"/>
                <a:ea typeface="Calibri" pitchFamily="34" charset="-122"/>
                <a:cs typeface="Calibri" pitchFamily="34" charset="-120"/>
              </a:rPr>
              <a:t> the chain r1 → r5 → r9 shows which hypothesis needs the fact</a:t>
            </a:r>
            <a:endParaRPr lang="en-US" sz="1300" dirty="0"/>
          </a:p>
        </p:txBody>
      </p:sp>
      <p:sp>
        <p:nvSpPr>
          <p:cNvPr id="11" name="Shape 8"/>
          <p:cNvSpPr/>
          <p:nvPr/>
        </p:nvSpPr>
        <p:spPr>
          <a:xfrm>
            <a:off x="4394241" y="4743450"/>
            <a:ext cx="3378159" cy="761970"/>
          </a:xfrm>
          <a:prstGeom prst="roundRect">
            <a:avLst>
              <a:gd name="adj" fmla="val 12000"/>
            </a:avLst>
          </a:prstGeom>
          <a:solidFill>
            <a:srgbClr val="FFFFFF"/>
          </a:solidFill>
          <a:ln w="12700">
            <a:solidFill>
              <a:srgbClr val="E3E1DA"/>
            </a:solidFill>
            <a:prstDash val="solid"/>
          </a:ln>
        </p:spPr>
      </p:sp>
      <p:sp>
        <p:nvSpPr>
          <p:cNvPr id="12" name="Text 9"/>
          <p:cNvSpPr txBox="1"/>
          <p:nvPr/>
        </p:nvSpPr>
        <p:spPr>
          <a:xfrm>
            <a:off x="4546580" y="4743450"/>
            <a:ext cx="3073390" cy="761970"/>
          </a:xfrm>
          <a:prstGeom prst="rect">
            <a:avLst/>
          </a:prstGeom>
          <a:noFill/>
          <a:ln/>
        </p:spPr>
        <p:txBody>
          <a:bodyPr wrap="square" lIns="0" tIns="0" rIns="0" bIns="0" rtlCol="0" anchor="ctr"/>
          <a:lstStyle/>
          <a:p>
            <a:pPr indent="0" marL="0">
              <a:lnSpc>
                <a:spcPct val="110000"/>
              </a:lnSpc>
              <a:buNone/>
            </a:pPr>
            <a:r>
              <a:rPr lang="en-US" sz="1300" b="1" dirty="0">
                <a:solidFill>
                  <a:srgbClr val="1B2233"/>
                </a:solidFill>
                <a:latin typeface="Calibri" pitchFamily="34" charset="0"/>
                <a:ea typeface="Calibri" pitchFamily="34" charset="-122"/>
                <a:cs typeface="Calibri" pitchFamily="34" charset="-120"/>
              </a:rPr>
              <a:t>4 questions only:</a:t>
            </a:r>
            <a:pPr indent="0" marL="0">
              <a:lnSpc>
                <a:spcPct val="110000"/>
              </a:lnSpc>
              <a:buNone/>
            </a:pPr>
            <a:r>
              <a:rPr lang="en-US" sz="1300" dirty="0">
                <a:solidFill>
                  <a:srgbClr val="1B2233"/>
                </a:solidFill>
                <a:latin typeface="Calibri" pitchFamily="34" charset="0"/>
                <a:ea typeface="Calibri" pitchFamily="34" charset="-122"/>
                <a:cs typeface="Calibri" pitchFamily="34" charset="-120"/>
              </a:rPr>
              <a:t> the first hypothesis tried (cheetah, r9) succeeded</a:t>
            </a:r>
            <a:endParaRPr lang="en-US" sz="1300" dirty="0"/>
          </a:p>
        </p:txBody>
      </p:sp>
      <p:sp>
        <p:nvSpPr>
          <p:cNvPr id="13" name="Shape 10"/>
          <p:cNvSpPr/>
          <p:nvPr/>
        </p:nvSpPr>
        <p:spPr>
          <a:xfrm>
            <a:off x="7975580" y="4743450"/>
            <a:ext cx="3378159" cy="761970"/>
          </a:xfrm>
          <a:prstGeom prst="roundRect">
            <a:avLst>
              <a:gd name="adj" fmla="val 12000"/>
            </a:avLst>
          </a:prstGeom>
          <a:solidFill>
            <a:srgbClr val="FFFFFF"/>
          </a:solidFill>
          <a:ln w="12700">
            <a:solidFill>
              <a:srgbClr val="E3E1DA"/>
            </a:solidFill>
            <a:prstDash val="solid"/>
          </a:ln>
        </p:spPr>
      </p:sp>
      <p:sp>
        <p:nvSpPr>
          <p:cNvPr id="14" name="Text 11"/>
          <p:cNvSpPr txBox="1"/>
          <p:nvPr/>
        </p:nvSpPr>
        <p:spPr>
          <a:xfrm>
            <a:off x="8128010" y="4743450"/>
            <a:ext cx="3073390" cy="761970"/>
          </a:xfrm>
          <a:prstGeom prst="rect">
            <a:avLst/>
          </a:prstGeom>
          <a:noFill/>
          <a:ln/>
        </p:spPr>
        <p:txBody>
          <a:bodyPr wrap="square" lIns="0" tIns="0" rIns="0" bIns="0" rtlCol="0" anchor="ctr"/>
          <a:lstStyle/>
          <a:p>
            <a:pPr indent="0" marL="0">
              <a:lnSpc>
                <a:spcPct val="110000"/>
              </a:lnSpc>
              <a:buNone/>
            </a:pPr>
            <a:r>
              <a:rPr lang="en-US" sz="1300" b="1" dirty="0">
                <a:solidFill>
                  <a:srgbClr val="1B2233"/>
                </a:solidFill>
                <a:latin typeface="Calibri" pitchFamily="34" charset="0"/>
                <a:ea typeface="Calibri" pitchFamily="34" charset="-122"/>
                <a:cs typeface="Calibri" pitchFamily="34" charset="-120"/>
              </a:rPr>
              <a:t>User input</a:t>
            </a:r>
            <a:pPr indent="0" marL="0">
              <a:lnSpc>
                <a:spcPct val="110000"/>
              </a:lnSpc>
              <a:buNone/>
            </a:pPr>
            <a:r>
              <a:rPr lang="en-US" sz="1300" dirty="0">
                <a:solidFill>
                  <a:srgbClr val="1B2233"/>
                </a:solidFill>
                <a:latin typeface="Calibri" pitchFamily="34" charset="0"/>
                <a:ea typeface="Calibri" pitchFamily="34" charset="-122"/>
                <a:cs typeface="Calibri" pitchFamily="34" charset="-120"/>
              </a:rPr>
              <a:t> is shown in orange; answers end with a full stop</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04 · WORKING DEMO</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Demo 1 (cont.): the HOW explanation</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Program: engine.pl + zoo_kb.pl (this talk), run in SWI-Prolog 10</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22</a:t>
            </a:r>
            <a:endParaRPr lang="en-US" sz="1200" dirty="0"/>
          </a:p>
        </p:txBody>
      </p:sp>
      <p:sp>
        <p:nvSpPr>
          <p:cNvPr id="7" name="Shape 4"/>
          <p:cNvSpPr/>
          <p:nvPr/>
        </p:nvSpPr>
        <p:spPr>
          <a:xfrm>
            <a:off x="812810" y="1701790"/>
            <a:ext cx="5206959" cy="2863809"/>
          </a:xfrm>
          <a:prstGeom prst="roundRect">
            <a:avLst>
              <a:gd name="adj" fmla="val 3193"/>
            </a:avLst>
          </a:prstGeom>
          <a:solidFill>
            <a:srgbClr val="1E2433"/>
          </a:solidFill>
          <a:ln/>
        </p:spPr>
      </p:sp>
      <p:sp>
        <p:nvSpPr>
          <p:cNvPr id="8" name="Text 5"/>
          <p:cNvSpPr txBox="1"/>
          <p:nvPr/>
        </p:nvSpPr>
        <p:spPr>
          <a:xfrm>
            <a:off x="990570" y="1854220"/>
            <a:ext cx="4851441" cy="2559040"/>
          </a:xfrm>
          <a:prstGeom prst="rect">
            <a:avLst/>
          </a:prstGeom>
          <a:noFill/>
          <a:ln/>
        </p:spPr>
        <p:txBody>
          <a:bodyPr wrap="square" lIns="0" tIns="0" rIns="0" bIns="0" rtlCol="0" anchor="t"/>
          <a:lstStyle/>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…output continues</a:t>
            </a:r>
            <a:endParaRPr lang="en-US" sz="1200" dirty="0"/>
          </a:p>
          <a:p>
            <a:pPr indent="0" marL="0">
              <a:lnSpc>
                <a:spcPts val="1680"/>
              </a:lnSpc>
              <a:buNone/>
            </a:pPr>
            <a:r>
              <a:rPr lang="en-US" sz="1200" b="1" dirty="0">
                <a:solidFill>
                  <a:srgbClr val="8DB7F5"/>
                </a:solidFill>
                <a:latin typeface="Consolas" pitchFamily="34" charset="0"/>
                <a:ea typeface="Consolas" pitchFamily="34" charset="-122"/>
                <a:cs typeface="Consolas" pitchFamily="34" charset="-120"/>
              </a:rPr>
              <a:t>Conclusion: animal(cheetah)</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HOW did I conclude this?</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animal(cheetah)  &lt;- by rule r9</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carnivore  &lt;- by rule r5</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mammal  &lt;- by rule r1</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has(hair)  &lt;- you told me</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eats(meat)  &lt;- you told me</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has(tawny_colour)  &lt;- you told me</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has(dark_spots)  &lt;- you told me</a:t>
            </a:r>
            <a:endParaRPr lang="en-US" sz="1200" dirty="0"/>
          </a:p>
          <a:p>
            <a:pPr indent="0" marL="0">
              <a:lnSpc>
                <a:spcPts val="1680"/>
              </a:lnSpc>
              <a:buNone/>
            </a:pPr>
            <a:r>
              <a:rPr lang="en-US" sz="1200" dirty="0">
                <a:solidFill>
                  <a:srgbClr val="8DB7F5"/>
                </a:solidFill>
                <a:latin typeface="Consolas" pitchFamily="34" charset="0"/>
                <a:ea typeface="Consolas" pitchFamily="34" charset="-122"/>
                <a:cs typeface="Consolas" pitchFamily="34" charset="-120"/>
              </a:rPr>
              <a:t>true.</a:t>
            </a:r>
            <a:endParaRPr lang="en-US" sz="1200" dirty="0"/>
          </a:p>
        </p:txBody>
      </p:sp>
      <p:sp>
        <p:nvSpPr>
          <p:cNvPr id="9" name="Shape 6"/>
          <p:cNvSpPr/>
          <p:nvPr/>
        </p:nvSpPr>
        <p:spPr>
          <a:xfrm>
            <a:off x="6273790" y="1701790"/>
            <a:ext cx="5105370" cy="723930"/>
          </a:xfrm>
          <a:prstGeom prst="roundRect">
            <a:avLst>
              <a:gd name="adj" fmla="val 12631"/>
            </a:avLst>
          </a:prstGeom>
          <a:solidFill>
            <a:srgbClr val="FFFFFF"/>
          </a:solidFill>
          <a:ln w="12700">
            <a:solidFill>
              <a:srgbClr val="E3E1DA"/>
            </a:solidFill>
            <a:prstDash val="solid"/>
          </a:ln>
        </p:spPr>
      </p:sp>
      <p:sp>
        <p:nvSpPr>
          <p:cNvPr id="10" name="Text 7"/>
          <p:cNvSpPr txBox="1"/>
          <p:nvPr/>
        </p:nvSpPr>
        <p:spPr>
          <a:xfrm>
            <a:off x="6451641" y="1701790"/>
            <a:ext cx="4749759" cy="723930"/>
          </a:xfrm>
          <a:prstGeom prst="rect">
            <a:avLst/>
          </a:prstGeom>
          <a:noFill/>
          <a:ln/>
        </p:spPr>
        <p:txBody>
          <a:bodyPr wrap="square" lIns="0" tIns="0" rIns="0" bIns="0" rtlCol="0" anchor="ctr"/>
          <a:lstStyle/>
          <a:p>
            <a:pPr indent="0" marL="0">
              <a:lnSpc>
                <a:spcPct val="110000"/>
              </a:lnSpc>
              <a:buNone/>
            </a:pPr>
            <a:r>
              <a:rPr lang="en-US" sz="1300" b="1" dirty="0">
                <a:solidFill>
                  <a:srgbClr val="1B2233"/>
                </a:solidFill>
                <a:latin typeface="Calibri" pitchFamily="34" charset="0"/>
                <a:ea typeface="Calibri" pitchFamily="34" charset="-122"/>
                <a:cs typeface="Calibri" pitchFamily="34" charset="-120"/>
              </a:rPr>
              <a:t>Indentation</a:t>
            </a:r>
            <a:pPr indent="0" marL="0">
              <a:lnSpc>
                <a:spcPct val="110000"/>
              </a:lnSpc>
              <a:buNone/>
            </a:pPr>
            <a:r>
              <a:rPr lang="en-US" sz="1300" dirty="0">
                <a:solidFill>
                  <a:srgbClr val="1B2233"/>
                </a:solidFill>
                <a:latin typeface="Calibri" pitchFamily="34" charset="0"/>
                <a:ea typeface="Calibri" pitchFamily="34" charset="-122"/>
                <a:cs typeface="Calibri" pitchFamily="34" charset="-120"/>
              </a:rPr>
              <a:t> = depth in the proof tree</a:t>
            </a:r>
            <a:endParaRPr lang="en-US" sz="1300" dirty="0"/>
          </a:p>
        </p:txBody>
      </p:sp>
      <p:sp>
        <p:nvSpPr>
          <p:cNvPr id="11" name="Shape 8"/>
          <p:cNvSpPr/>
          <p:nvPr/>
        </p:nvSpPr>
        <p:spPr>
          <a:xfrm>
            <a:off x="6273790" y="2552730"/>
            <a:ext cx="5105370" cy="723930"/>
          </a:xfrm>
          <a:prstGeom prst="roundRect">
            <a:avLst>
              <a:gd name="adj" fmla="val 12631"/>
            </a:avLst>
          </a:prstGeom>
          <a:solidFill>
            <a:srgbClr val="FFFFFF"/>
          </a:solidFill>
          <a:ln w="12700">
            <a:solidFill>
              <a:srgbClr val="E3E1DA"/>
            </a:solidFill>
            <a:prstDash val="solid"/>
          </a:ln>
        </p:spPr>
      </p:sp>
      <p:sp>
        <p:nvSpPr>
          <p:cNvPr id="12" name="Text 9"/>
          <p:cNvSpPr txBox="1"/>
          <p:nvPr/>
        </p:nvSpPr>
        <p:spPr>
          <a:xfrm>
            <a:off x="6451641" y="2552730"/>
            <a:ext cx="4749759" cy="723930"/>
          </a:xfrm>
          <a:prstGeom prst="rect">
            <a:avLst/>
          </a:prstGeom>
          <a:noFill/>
          <a:ln/>
        </p:spPr>
        <p:txBody>
          <a:bodyPr wrap="square" lIns="0" tIns="0" rIns="0" bIns="0" rtlCol="0" anchor="ctr"/>
          <a:lstStyle/>
          <a:p>
            <a:pPr indent="0" marL="0">
              <a:lnSpc>
                <a:spcPct val="110000"/>
              </a:lnSpc>
              <a:buNone/>
            </a:pPr>
            <a:r>
              <a:rPr lang="en-US" sz="1300" b="1" dirty="0">
                <a:solidFill>
                  <a:srgbClr val="1B2233"/>
                </a:solidFill>
                <a:latin typeface="Calibri" pitchFamily="34" charset="0"/>
                <a:ea typeface="Calibri" pitchFamily="34" charset="-122"/>
                <a:cs typeface="Calibri" pitchFamily="34" charset="-120"/>
              </a:rPr>
              <a:t>"by rule rN"</a:t>
            </a:r>
            <a:pPr indent="0" marL="0">
              <a:lnSpc>
                <a:spcPct val="110000"/>
              </a:lnSpc>
              <a:buNone/>
            </a:pPr>
            <a:r>
              <a:rPr lang="en-US" sz="1300" dirty="0">
                <a:solidFill>
                  <a:srgbClr val="1B2233"/>
                </a:solidFill>
                <a:latin typeface="Calibri" pitchFamily="34" charset="0"/>
                <a:ea typeface="Calibri" pitchFamily="34" charset="-122"/>
                <a:cs typeface="Calibri" pitchFamily="34" charset="-120"/>
              </a:rPr>
              <a:t> = concluded by a rule from the knowledge base</a:t>
            </a:r>
            <a:endParaRPr lang="en-US" sz="1300" dirty="0"/>
          </a:p>
        </p:txBody>
      </p:sp>
      <p:sp>
        <p:nvSpPr>
          <p:cNvPr id="13" name="Shape 10"/>
          <p:cNvSpPr/>
          <p:nvPr/>
        </p:nvSpPr>
        <p:spPr>
          <a:xfrm>
            <a:off x="6273790" y="3403580"/>
            <a:ext cx="5105370" cy="723930"/>
          </a:xfrm>
          <a:prstGeom prst="roundRect">
            <a:avLst>
              <a:gd name="adj" fmla="val 12631"/>
            </a:avLst>
          </a:prstGeom>
          <a:solidFill>
            <a:srgbClr val="FFFFFF"/>
          </a:solidFill>
          <a:ln w="12700">
            <a:solidFill>
              <a:srgbClr val="E3E1DA"/>
            </a:solidFill>
            <a:prstDash val="solid"/>
          </a:ln>
        </p:spPr>
      </p:sp>
      <p:sp>
        <p:nvSpPr>
          <p:cNvPr id="14" name="Text 11"/>
          <p:cNvSpPr txBox="1"/>
          <p:nvPr/>
        </p:nvSpPr>
        <p:spPr>
          <a:xfrm>
            <a:off x="6451641" y="3403580"/>
            <a:ext cx="4749759" cy="723930"/>
          </a:xfrm>
          <a:prstGeom prst="rect">
            <a:avLst/>
          </a:prstGeom>
          <a:noFill/>
          <a:ln/>
        </p:spPr>
        <p:txBody>
          <a:bodyPr wrap="square" lIns="0" tIns="0" rIns="0" bIns="0" rtlCol="0" anchor="ctr"/>
          <a:lstStyle/>
          <a:p>
            <a:pPr indent="0" marL="0">
              <a:lnSpc>
                <a:spcPct val="110000"/>
              </a:lnSpc>
              <a:buNone/>
            </a:pPr>
            <a:r>
              <a:rPr lang="en-US" sz="1300" b="1" dirty="0">
                <a:solidFill>
                  <a:srgbClr val="1B2233"/>
                </a:solidFill>
                <a:latin typeface="Calibri" pitchFamily="34" charset="0"/>
                <a:ea typeface="Calibri" pitchFamily="34" charset="-122"/>
                <a:cs typeface="Calibri" pitchFamily="34" charset="-120"/>
              </a:rPr>
              <a:t>"you told me"</a:t>
            </a:r>
            <a:pPr indent="0" marL="0">
              <a:lnSpc>
                <a:spcPct val="110000"/>
              </a:lnSpc>
              <a:buNone/>
            </a:pPr>
            <a:r>
              <a:rPr lang="en-US" sz="1300" dirty="0">
                <a:solidFill>
                  <a:srgbClr val="1B2233"/>
                </a:solidFill>
                <a:latin typeface="Calibri" pitchFamily="34" charset="0"/>
                <a:ea typeface="Calibri" pitchFamily="34" charset="-122"/>
                <a:cs typeface="Calibri" pitchFamily="34" charset="-120"/>
              </a:rPr>
              <a:t> = a fact the user supplied</a:t>
            </a:r>
            <a:endParaRPr lang="en-US" sz="1300" dirty="0"/>
          </a:p>
        </p:txBody>
      </p:sp>
      <p:sp>
        <p:nvSpPr>
          <p:cNvPr id="15" name="Shape 12"/>
          <p:cNvSpPr/>
          <p:nvPr/>
        </p:nvSpPr>
        <p:spPr>
          <a:xfrm>
            <a:off x="6273790" y="4254520"/>
            <a:ext cx="5105370" cy="723930"/>
          </a:xfrm>
          <a:prstGeom prst="roundRect">
            <a:avLst>
              <a:gd name="adj" fmla="val 10105"/>
            </a:avLst>
          </a:prstGeom>
          <a:solidFill>
            <a:srgbClr val="F6E9E1"/>
          </a:solidFill>
          <a:ln/>
        </p:spPr>
      </p:sp>
      <p:sp>
        <p:nvSpPr>
          <p:cNvPr id="16" name="Text 13"/>
          <p:cNvSpPr txBox="1"/>
          <p:nvPr/>
        </p:nvSpPr>
        <p:spPr>
          <a:xfrm>
            <a:off x="6451641" y="4254520"/>
            <a:ext cx="4749759" cy="723930"/>
          </a:xfrm>
          <a:prstGeom prst="rect">
            <a:avLst/>
          </a:prstGeom>
          <a:noFill/>
          <a:ln/>
        </p:spPr>
        <p:txBody>
          <a:bodyPr wrap="square" lIns="0" tIns="0" rIns="0" bIns="0" rtlCol="0" anchor="ctr"/>
          <a:lstStyle/>
          <a:p>
            <a:pPr indent="0" marL="0">
              <a:lnSpc>
                <a:spcPct val="110000"/>
              </a:lnSpc>
              <a:buNone/>
            </a:pPr>
            <a:r>
              <a:rPr lang="en-US" sz="1300" dirty="0">
                <a:solidFill>
                  <a:srgbClr val="1B2233"/>
                </a:solidFill>
                <a:latin typeface="Calibri" pitchFamily="34" charset="0"/>
                <a:ea typeface="Calibri" pitchFamily="34" charset="-122"/>
                <a:cs typeface="Calibri" pitchFamily="34" charset="-120"/>
              </a:rPr>
              <a:t>It is the same tree backward chaining built on slide 10, so every step can be checked.</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04 · WORKING DEMO</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Demo 2: a penguin, and backtracking at work</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Program: engine.pl + zoo_kb.pl (this talk), run in SWI-Prolog 10</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23</a:t>
            </a:r>
            <a:endParaRPr lang="en-US" sz="1200" dirty="0"/>
          </a:p>
        </p:txBody>
      </p:sp>
      <p:sp>
        <p:nvSpPr>
          <p:cNvPr id="7" name="Shape 4"/>
          <p:cNvSpPr/>
          <p:nvPr/>
        </p:nvSpPr>
        <p:spPr>
          <a:xfrm>
            <a:off x="812810" y="1676370"/>
            <a:ext cx="5460980" cy="4070360"/>
          </a:xfrm>
          <a:prstGeom prst="roundRect">
            <a:avLst>
              <a:gd name="adj" fmla="val 2246"/>
            </a:avLst>
          </a:prstGeom>
          <a:solidFill>
            <a:srgbClr val="1E2433"/>
          </a:solidFill>
          <a:ln/>
        </p:spPr>
      </p:sp>
      <p:sp>
        <p:nvSpPr>
          <p:cNvPr id="8" name="Text 5"/>
          <p:cNvSpPr txBox="1"/>
          <p:nvPr/>
        </p:nvSpPr>
        <p:spPr>
          <a:xfrm>
            <a:off x="990570" y="1828800"/>
            <a:ext cx="5105370" cy="3765591"/>
          </a:xfrm>
          <a:prstGeom prst="rect">
            <a:avLst/>
          </a:prstGeom>
          <a:noFill/>
          <a:ln/>
        </p:spPr>
        <p:txBody>
          <a:bodyPr wrap="square" lIns="0" tIns="0" rIns="0" bIns="0" rtlCol="0" anchor="t"/>
          <a:lstStyle/>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go.</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Is it true: has(hair) ? (yes/no/why) </a:t>
            </a:r>
            <a:pPr indent="0" marL="0">
              <a:lnSpc>
                <a:spcPts val="1560"/>
              </a:lnSpc>
              <a:buNone/>
            </a:pPr>
            <a:r>
              <a:rPr lang="en-US" sz="1200" b="1" dirty="0">
                <a:solidFill>
                  <a:srgbClr val="F2A65A"/>
                </a:solidFill>
                <a:latin typeface="Consolas" pitchFamily="34" charset="0"/>
                <a:ea typeface="Consolas" pitchFamily="34" charset="-122"/>
                <a:cs typeface="Consolas" pitchFamily="34" charset="-120"/>
              </a:rPr>
              <a:t>no.</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Is it true: gives(milk) ? (yes/no/why) </a:t>
            </a:r>
            <a:pPr indent="0" marL="0">
              <a:lnSpc>
                <a:spcPts val="1560"/>
              </a:lnSpc>
              <a:buNone/>
            </a:pPr>
            <a:r>
              <a:rPr lang="en-US" sz="1200" b="1" dirty="0">
                <a:solidFill>
                  <a:srgbClr val="F2A65A"/>
                </a:solidFill>
                <a:latin typeface="Consolas" pitchFamily="34" charset="0"/>
                <a:ea typeface="Consolas" pitchFamily="34" charset="-122"/>
                <a:cs typeface="Consolas" pitchFamily="34" charset="-120"/>
              </a:rPr>
              <a:t>no.</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Is it true: has(feathers) ? (yes/no/why) </a:t>
            </a:r>
            <a:pPr indent="0" marL="0">
              <a:lnSpc>
                <a:spcPts val="1560"/>
              </a:lnSpc>
              <a:buNone/>
            </a:pPr>
            <a:r>
              <a:rPr lang="en-US" sz="1200" b="1" dirty="0">
                <a:solidFill>
                  <a:srgbClr val="F2A65A"/>
                </a:solidFill>
                <a:latin typeface="Consolas" pitchFamily="34" charset="0"/>
                <a:ea typeface="Consolas" pitchFamily="34" charset="-122"/>
                <a:cs typeface="Consolas" pitchFamily="34" charset="-120"/>
              </a:rPr>
              <a:t>yes.</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Is it true: flies ? (yes/no/why) </a:t>
            </a:r>
            <a:pPr indent="0" marL="0">
              <a:lnSpc>
                <a:spcPts val="1560"/>
              </a:lnSpc>
              <a:buNone/>
            </a:pPr>
            <a:r>
              <a:rPr lang="en-US" sz="1200" b="1" dirty="0">
                <a:solidFill>
                  <a:srgbClr val="F2A65A"/>
                </a:solidFill>
                <a:latin typeface="Consolas" pitchFamily="34" charset="0"/>
                <a:ea typeface="Consolas" pitchFamily="34" charset="-122"/>
                <a:cs typeface="Consolas" pitchFamily="34" charset="-120"/>
              </a:rPr>
              <a:t>no.</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Is it true: has(long_neck) ? (yes/no/why) </a:t>
            </a:r>
            <a:pPr indent="0" marL="0">
              <a:lnSpc>
                <a:spcPts val="1560"/>
              </a:lnSpc>
              <a:buNone/>
            </a:pPr>
            <a:r>
              <a:rPr lang="en-US" sz="1200" b="1" dirty="0">
                <a:solidFill>
                  <a:srgbClr val="F2A65A"/>
                </a:solidFill>
                <a:latin typeface="Consolas" pitchFamily="34" charset="0"/>
                <a:ea typeface="Consolas" pitchFamily="34" charset="-122"/>
                <a:cs typeface="Consolas" pitchFamily="34" charset="-120"/>
              </a:rPr>
              <a:t>no.</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Is it true: swims ? (yes/no/why) </a:t>
            </a:r>
            <a:pPr indent="0" marL="0">
              <a:lnSpc>
                <a:spcPts val="1560"/>
              </a:lnSpc>
              <a:buNone/>
            </a:pPr>
            <a:r>
              <a:rPr lang="en-US" sz="1200" b="1" dirty="0">
                <a:solidFill>
                  <a:srgbClr val="F2A65A"/>
                </a:solidFill>
                <a:latin typeface="Consolas" pitchFamily="34" charset="0"/>
                <a:ea typeface="Consolas" pitchFamily="34" charset="-122"/>
                <a:cs typeface="Consolas" pitchFamily="34" charset="-120"/>
              </a:rPr>
              <a:t>yes.</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Is it true: has(black_white_colour) ? (yes/no/why) </a:t>
            </a:r>
            <a:pPr indent="0" marL="0">
              <a:lnSpc>
                <a:spcPts val="1560"/>
              </a:lnSpc>
              <a:buNone/>
            </a:pPr>
            <a:r>
              <a:rPr lang="en-US" sz="1200" b="1" dirty="0">
                <a:solidFill>
                  <a:srgbClr val="F2A65A"/>
                </a:solidFill>
                <a:latin typeface="Consolas" pitchFamily="34" charset="0"/>
                <a:ea typeface="Consolas" pitchFamily="34" charset="-122"/>
                <a:cs typeface="Consolas" pitchFamily="34" charset="-120"/>
              </a:rPr>
              <a:t>yes.</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560"/>
              </a:lnSpc>
              <a:buNone/>
            </a:pPr>
            <a:r>
              <a:rPr lang="en-US" sz="1200" b="1" dirty="0">
                <a:solidFill>
                  <a:srgbClr val="8DB7F5"/>
                </a:solidFill>
                <a:latin typeface="Consolas" pitchFamily="34" charset="0"/>
                <a:ea typeface="Consolas" pitchFamily="34" charset="-122"/>
                <a:cs typeface="Consolas" pitchFamily="34" charset="-120"/>
              </a:rPr>
              <a:t>Conclusion: animal(penguin)</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HOW did I conclude this?</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animal(penguin)  &lt;- by rule r14</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bird  &lt;- by rule r3</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has(feathers)  &lt;- you told me</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not flies  &lt;- you said no</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swims  &lt;- you told me</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has(black_white_colour)  &lt;- you told me</a:t>
            </a:r>
            <a:endParaRPr lang="en-US" sz="1200" dirty="0"/>
          </a:p>
          <a:p>
            <a:pPr indent="0" marL="0">
              <a:lnSpc>
                <a:spcPts val="1560"/>
              </a:lnSpc>
              <a:buNone/>
            </a:pPr>
            <a:r>
              <a:rPr lang="en-US" sz="1200" dirty="0">
                <a:solidFill>
                  <a:srgbClr val="8DB7F5"/>
                </a:solidFill>
                <a:latin typeface="Consolas" pitchFamily="34" charset="0"/>
                <a:ea typeface="Consolas" pitchFamily="34" charset="-122"/>
                <a:cs typeface="Consolas" pitchFamily="34" charset="-120"/>
              </a:rPr>
              <a:t>true.</a:t>
            </a:r>
            <a:endParaRPr lang="en-US" sz="1200" dirty="0"/>
          </a:p>
        </p:txBody>
      </p:sp>
      <p:sp>
        <p:nvSpPr>
          <p:cNvPr id="9" name="Shape 6"/>
          <p:cNvSpPr/>
          <p:nvPr/>
        </p:nvSpPr>
        <p:spPr>
          <a:xfrm>
            <a:off x="6527810" y="1676370"/>
            <a:ext cx="4851441" cy="1231880"/>
          </a:xfrm>
          <a:prstGeom prst="roundRect">
            <a:avLst>
              <a:gd name="adj" fmla="val 7423"/>
            </a:avLst>
          </a:prstGeom>
          <a:solidFill>
            <a:srgbClr val="FFFFFF"/>
          </a:solidFill>
          <a:ln w="12700">
            <a:solidFill>
              <a:srgbClr val="E3E1DA"/>
            </a:solidFill>
            <a:prstDash val="solid"/>
          </a:ln>
        </p:spPr>
      </p:sp>
      <p:sp>
        <p:nvSpPr>
          <p:cNvPr id="10" name="Text 7"/>
          <p:cNvSpPr txBox="1"/>
          <p:nvPr/>
        </p:nvSpPr>
        <p:spPr>
          <a:xfrm>
            <a:off x="6705570" y="1828800"/>
            <a:ext cx="4521159" cy="304770"/>
          </a:xfrm>
          <a:prstGeom prst="rect">
            <a:avLst/>
          </a:prstGeom>
          <a:noFill/>
          <a:ln/>
        </p:spPr>
        <p:txBody>
          <a:bodyPr wrap="square" lIns="0" tIns="0" rIns="0" bIns="0" rtlCol="0" anchor="t"/>
          <a:lstStyle/>
          <a:p>
            <a:pPr indent="0" marL="0">
              <a:buNone/>
            </a:pPr>
            <a:r>
              <a:rPr lang="en-US" sz="1500" b="1" dirty="0">
                <a:solidFill>
                  <a:srgbClr val="1B2233"/>
                </a:solidFill>
                <a:latin typeface="Calibri" pitchFamily="34" charset="0"/>
                <a:ea typeface="Calibri" pitchFamily="34" charset="-122"/>
                <a:cs typeface="Calibri" pitchFamily="34" charset="-120"/>
              </a:rPr>
              <a:t>Backtracking</a:t>
            </a:r>
            <a:endParaRPr lang="en-US" sz="1500" dirty="0"/>
          </a:p>
        </p:txBody>
      </p:sp>
      <p:sp>
        <p:nvSpPr>
          <p:cNvPr id="11" name="Text 8"/>
          <p:cNvSpPr txBox="1"/>
          <p:nvPr/>
        </p:nvSpPr>
        <p:spPr>
          <a:xfrm>
            <a:off x="6705570" y="2133570"/>
            <a:ext cx="4495830" cy="673090"/>
          </a:xfrm>
          <a:prstGeom prst="rect">
            <a:avLst/>
          </a:prstGeom>
          <a:noFill/>
          <a:ln/>
        </p:spPr>
        <p:txBody>
          <a:bodyPr wrap="square" lIns="0" tIns="0" rIns="0" bIns="0" rtlCol="0" anchor="t"/>
          <a:lstStyle/>
          <a:p>
            <a:pPr indent="0" marL="0">
              <a:lnSpc>
                <a:spcPct val="110000"/>
              </a:lnSpc>
              <a:buNone/>
            </a:pPr>
            <a:r>
              <a:rPr lang="en-US" sz="1300" dirty="0">
                <a:solidFill>
                  <a:srgbClr val="4A5264"/>
                </a:solidFill>
                <a:latin typeface="Calibri" pitchFamily="34" charset="0"/>
                <a:ea typeface="Calibri" pitchFamily="34" charset="-122"/>
                <a:cs typeface="Calibri" pitchFamily="34" charset="-120"/>
              </a:rPr>
              <a:t>Cheetah, tiger, giraffe and zebra all need mammal; after two no answers they fail with no new questions.</a:t>
            </a:r>
            <a:endParaRPr lang="en-US" sz="1300" dirty="0"/>
          </a:p>
        </p:txBody>
      </p:sp>
      <p:sp>
        <p:nvSpPr>
          <p:cNvPr id="12" name="Shape 9"/>
          <p:cNvSpPr/>
          <p:nvPr/>
        </p:nvSpPr>
        <p:spPr>
          <a:xfrm>
            <a:off x="6527810" y="3035259"/>
            <a:ext cx="4851441" cy="1231880"/>
          </a:xfrm>
          <a:prstGeom prst="roundRect">
            <a:avLst>
              <a:gd name="adj" fmla="val 7423"/>
            </a:avLst>
          </a:prstGeom>
          <a:solidFill>
            <a:srgbClr val="FFFFFF"/>
          </a:solidFill>
          <a:ln w="12700">
            <a:solidFill>
              <a:srgbClr val="E3E1DA"/>
            </a:solidFill>
            <a:prstDash val="solid"/>
          </a:ln>
        </p:spPr>
      </p:sp>
      <p:sp>
        <p:nvSpPr>
          <p:cNvPr id="13" name="Text 10"/>
          <p:cNvSpPr txBox="1"/>
          <p:nvPr/>
        </p:nvSpPr>
        <p:spPr>
          <a:xfrm>
            <a:off x="6705570" y="3187690"/>
            <a:ext cx="4521159" cy="304770"/>
          </a:xfrm>
          <a:prstGeom prst="rect">
            <a:avLst/>
          </a:prstGeom>
          <a:noFill/>
          <a:ln/>
        </p:spPr>
        <p:txBody>
          <a:bodyPr wrap="square" lIns="0" tIns="0" rIns="0" bIns="0" rtlCol="0" anchor="t"/>
          <a:lstStyle/>
          <a:p>
            <a:pPr indent="0" marL="0">
              <a:buNone/>
            </a:pPr>
            <a:r>
              <a:rPr lang="en-US" sz="1500" b="1" dirty="0">
                <a:solidFill>
                  <a:srgbClr val="1B2233"/>
                </a:solidFill>
                <a:latin typeface="Calibri" pitchFamily="34" charset="0"/>
                <a:ea typeface="Calibri" pitchFamily="34" charset="-122"/>
                <a:cs typeface="Calibri" pitchFamily="34" charset="-120"/>
              </a:rPr>
              <a:t>A rejected hypothesis</a:t>
            </a:r>
            <a:endParaRPr lang="en-US" sz="1500" dirty="0"/>
          </a:p>
        </p:txBody>
      </p:sp>
      <p:sp>
        <p:nvSpPr>
          <p:cNvPr id="14" name="Text 11"/>
          <p:cNvSpPr txBox="1"/>
          <p:nvPr/>
        </p:nvSpPr>
        <p:spPr>
          <a:xfrm>
            <a:off x="6705570" y="3492459"/>
            <a:ext cx="4495830" cy="673090"/>
          </a:xfrm>
          <a:prstGeom prst="rect">
            <a:avLst/>
          </a:prstGeom>
          <a:noFill/>
          <a:ln/>
        </p:spPr>
        <p:txBody>
          <a:bodyPr wrap="square" lIns="0" tIns="0" rIns="0" bIns="0" rtlCol="0" anchor="t"/>
          <a:lstStyle/>
          <a:p>
            <a:pPr indent="0" marL="0">
              <a:lnSpc>
                <a:spcPct val="110000"/>
              </a:lnSpc>
              <a:buNone/>
            </a:pPr>
            <a:r>
              <a:rPr lang="en-US" sz="1300" dirty="0">
                <a:solidFill>
                  <a:srgbClr val="4A5264"/>
                </a:solidFill>
                <a:latin typeface="Calibri" pitchFamily="34" charset="0"/>
                <a:ea typeface="Calibri" pitchFamily="34" charset="-122"/>
                <a:cs typeface="Calibri" pitchFamily="34" charset="-120"/>
              </a:rPr>
              <a:t>Ostrich (r13) is tried: long neck? no. Prolog moves on to penguin (r14).</a:t>
            </a:r>
            <a:endParaRPr lang="en-US" sz="1300" dirty="0"/>
          </a:p>
        </p:txBody>
      </p:sp>
      <p:sp>
        <p:nvSpPr>
          <p:cNvPr id="15" name="Shape 12"/>
          <p:cNvSpPr/>
          <p:nvPr/>
        </p:nvSpPr>
        <p:spPr>
          <a:xfrm>
            <a:off x="6527810" y="4394241"/>
            <a:ext cx="4851441" cy="1231880"/>
          </a:xfrm>
          <a:prstGeom prst="roundRect">
            <a:avLst>
              <a:gd name="adj" fmla="val 7423"/>
            </a:avLst>
          </a:prstGeom>
          <a:solidFill>
            <a:srgbClr val="FFFFFF"/>
          </a:solidFill>
          <a:ln w="12700">
            <a:solidFill>
              <a:srgbClr val="E3E1DA"/>
            </a:solidFill>
            <a:prstDash val="solid"/>
          </a:ln>
        </p:spPr>
      </p:sp>
      <p:sp>
        <p:nvSpPr>
          <p:cNvPr id="16" name="Text 13"/>
          <p:cNvSpPr txBox="1"/>
          <p:nvPr/>
        </p:nvSpPr>
        <p:spPr>
          <a:xfrm>
            <a:off x="6705570" y="4546580"/>
            <a:ext cx="4521159" cy="304770"/>
          </a:xfrm>
          <a:prstGeom prst="rect">
            <a:avLst/>
          </a:prstGeom>
          <a:noFill/>
          <a:ln/>
        </p:spPr>
        <p:txBody>
          <a:bodyPr wrap="square" lIns="0" tIns="0" rIns="0" bIns="0" rtlCol="0" anchor="t"/>
          <a:lstStyle/>
          <a:p>
            <a:pPr indent="0" marL="0">
              <a:buNone/>
            </a:pPr>
            <a:r>
              <a:rPr lang="en-US" sz="1500" b="1" dirty="0">
                <a:solidFill>
                  <a:srgbClr val="1B2233"/>
                </a:solidFill>
                <a:latin typeface="Calibri" pitchFamily="34" charset="0"/>
                <a:ea typeface="Calibri" pitchFamily="34" charset="-122"/>
                <a:cs typeface="Calibri" pitchFamily="34" charset="-120"/>
              </a:rPr>
              <a:t>Memory pays off</a:t>
            </a:r>
            <a:endParaRPr lang="en-US" sz="1500" dirty="0"/>
          </a:p>
        </p:txBody>
      </p:sp>
      <p:sp>
        <p:nvSpPr>
          <p:cNvPr id="17" name="Text 14"/>
          <p:cNvSpPr txBox="1"/>
          <p:nvPr/>
        </p:nvSpPr>
        <p:spPr>
          <a:xfrm>
            <a:off x="6705570" y="4851441"/>
            <a:ext cx="4495830" cy="673090"/>
          </a:xfrm>
          <a:prstGeom prst="rect">
            <a:avLst/>
          </a:prstGeom>
          <a:noFill/>
          <a:ln/>
        </p:spPr>
        <p:txBody>
          <a:bodyPr wrap="square" lIns="0" tIns="0" rIns="0" bIns="0" rtlCol="0" anchor="t"/>
          <a:lstStyle/>
          <a:p>
            <a:pPr indent="0" marL="0">
              <a:lnSpc>
                <a:spcPct val="110000"/>
              </a:lnSpc>
              <a:buNone/>
            </a:pPr>
            <a:r>
              <a:rPr lang="en-US" sz="1300" dirty="0">
                <a:solidFill>
                  <a:srgbClr val="4A5264"/>
                </a:solidFill>
                <a:latin typeface="Calibri" pitchFamily="34" charset="0"/>
                <a:ea typeface="Calibri" pitchFamily="34" charset="-122"/>
                <a:cs typeface="Calibri" pitchFamily="34" charset="-120"/>
              </a:rPr>
              <a:t>feathers and flies are asked once and reused by r13 and r14: 7 questions in all.</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04 · WORKING DEMO</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Demo 3: same engine, new domain: fever / flu</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Program: engine.pl + flu_kb.pl (this talk), run in SWI-Prolog 10</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24</a:t>
            </a:r>
            <a:endParaRPr lang="en-US" sz="1200" dirty="0"/>
          </a:p>
        </p:txBody>
      </p:sp>
      <p:sp>
        <p:nvSpPr>
          <p:cNvPr id="7" name="Shape 4"/>
          <p:cNvSpPr/>
          <p:nvPr/>
        </p:nvSpPr>
        <p:spPr>
          <a:xfrm>
            <a:off x="812810" y="1676370"/>
            <a:ext cx="5181630" cy="3473440"/>
          </a:xfrm>
          <a:prstGeom prst="roundRect">
            <a:avLst>
              <a:gd name="adj" fmla="val 2633"/>
            </a:avLst>
          </a:prstGeom>
          <a:solidFill>
            <a:srgbClr val="1E2433"/>
          </a:solidFill>
          <a:ln/>
        </p:spPr>
      </p:sp>
      <p:sp>
        <p:nvSpPr>
          <p:cNvPr id="8" name="Text 5"/>
          <p:cNvSpPr txBox="1"/>
          <p:nvPr/>
        </p:nvSpPr>
        <p:spPr>
          <a:xfrm>
            <a:off x="990570" y="1828800"/>
            <a:ext cx="4826020" cy="3168670"/>
          </a:xfrm>
          <a:prstGeom prst="rect">
            <a:avLst/>
          </a:prstGeom>
          <a:noFill/>
          <a:ln/>
        </p:spPr>
        <p:txBody>
          <a:bodyPr wrap="square" lIns="0" tIns="0" rIns="0" bIns="0" rtlCol="0" anchor="t"/>
          <a:lstStyle/>
          <a:p>
            <a:pPr indent="0" marL="0">
              <a:lnSpc>
                <a:spcPts val="1560"/>
              </a:lnSpc>
              <a:buNone/>
            </a:pPr>
            <a:r>
              <a:rPr lang="en-US" sz="1200" dirty="0">
                <a:solidFill>
                  <a:srgbClr val="9AA3B5"/>
                </a:solidFill>
                <a:latin typeface="Consolas" pitchFamily="34" charset="0"/>
                <a:ea typeface="Consolas" pitchFamily="34" charset="-122"/>
                <a:cs typeface="Consolas" pitchFamily="34" charset="-120"/>
              </a:rPr>
              <a:t>% flu_kb.pl - toy rule base</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ensure_loaded(engine).</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top_goal(diagnosis(_)).</a:t>
            </a:r>
            <a:endParaRPr lang="en-US" sz="1200" dirty="0"/>
          </a:p>
          <a:p>
            <a:pPr indent="0" marL="0">
              <a:lnSpc>
                <a:spcPts val="1560"/>
              </a:lnSpc>
              <a:buNone/>
            </a:pPr>
            <a:r>
              <a:rPr lang="en-US" sz="1200" dirty="0">
                <a:solidFill>
                  <a:srgbClr val="F2A65A"/>
                </a:solidFill>
                <a:latin typeface="Consolas" pitchFamily="34" charset="0"/>
                <a:ea typeface="Consolas" pitchFamily="34" charset="-122"/>
                <a:cs typeface="Consolas" pitchFamily="34" charset="-120"/>
              </a:rPr>
              <a:t>m1</a:t>
            </a:r>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 if has(fever) and has(cough)</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then respiratory_infection.</a:t>
            </a:r>
            <a:endParaRPr lang="en-US" sz="1200" dirty="0"/>
          </a:p>
          <a:p>
            <a:pPr indent="0" marL="0">
              <a:lnSpc>
                <a:spcPts val="1560"/>
              </a:lnSpc>
              <a:buNone/>
            </a:pPr>
            <a:r>
              <a:rPr lang="en-US" sz="1200" dirty="0">
                <a:solidFill>
                  <a:srgbClr val="F2A65A"/>
                </a:solidFill>
                <a:latin typeface="Consolas" pitchFamily="34" charset="0"/>
                <a:ea typeface="Consolas" pitchFamily="34" charset="-122"/>
                <a:cs typeface="Consolas" pitchFamily="34" charset="-120"/>
              </a:rPr>
              <a:t>m2</a:t>
            </a:r>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 if respiratory_infection</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and has(body_ache) and has(chills)</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then diagnosis(flu).</a:t>
            </a:r>
            <a:endParaRPr lang="en-US" sz="1200" dirty="0"/>
          </a:p>
          <a:p>
            <a:pPr indent="0" marL="0">
              <a:lnSpc>
                <a:spcPts val="1560"/>
              </a:lnSpc>
              <a:buNone/>
            </a:pPr>
            <a:r>
              <a:rPr lang="en-US" sz="1200" dirty="0">
                <a:solidFill>
                  <a:srgbClr val="F2A65A"/>
                </a:solidFill>
                <a:latin typeface="Consolas" pitchFamily="34" charset="0"/>
                <a:ea typeface="Consolas" pitchFamily="34" charset="-122"/>
                <a:cs typeface="Consolas" pitchFamily="34" charset="-120"/>
              </a:rPr>
              <a:t>m3</a:t>
            </a:r>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 if has(sore_throat) and has(runny_nose)</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and not(has(fever))</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then diagnosis(common_cold).</a:t>
            </a:r>
            <a:endParaRPr lang="en-US" sz="1200" dirty="0"/>
          </a:p>
          <a:p>
            <a:pPr indent="0" marL="0">
              <a:lnSpc>
                <a:spcPts val="1560"/>
              </a:lnSpc>
              <a:buNone/>
            </a:pPr>
            <a:r>
              <a:rPr lang="en-US" sz="1200" dirty="0">
                <a:solidFill>
                  <a:srgbClr val="F2A65A"/>
                </a:solidFill>
                <a:latin typeface="Consolas" pitchFamily="34" charset="0"/>
                <a:ea typeface="Consolas" pitchFamily="34" charset="-122"/>
                <a:cs typeface="Consolas" pitchFamily="34" charset="-120"/>
              </a:rPr>
              <a:t>m4</a:t>
            </a:r>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 if has(fever) and has(rash)</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and has(joint_pain)</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then diagnosis(dengue_suspected).</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askable(has(_)).</a:t>
            </a:r>
            <a:endParaRPr lang="en-US" sz="1200" dirty="0"/>
          </a:p>
        </p:txBody>
      </p:sp>
      <p:sp>
        <p:nvSpPr>
          <p:cNvPr id="9" name="Shape 6"/>
          <p:cNvSpPr/>
          <p:nvPr/>
        </p:nvSpPr>
        <p:spPr>
          <a:xfrm>
            <a:off x="6197620" y="1676370"/>
            <a:ext cx="5181630" cy="3473440"/>
          </a:xfrm>
          <a:prstGeom prst="roundRect">
            <a:avLst>
              <a:gd name="adj" fmla="val 2633"/>
            </a:avLst>
          </a:prstGeom>
          <a:solidFill>
            <a:srgbClr val="1E2433"/>
          </a:solidFill>
          <a:ln/>
        </p:spPr>
      </p:sp>
      <p:sp>
        <p:nvSpPr>
          <p:cNvPr id="10" name="Text 7"/>
          <p:cNvSpPr txBox="1"/>
          <p:nvPr/>
        </p:nvSpPr>
        <p:spPr>
          <a:xfrm>
            <a:off x="6375380" y="1828800"/>
            <a:ext cx="4826020" cy="3168670"/>
          </a:xfrm>
          <a:prstGeom prst="rect">
            <a:avLst/>
          </a:prstGeom>
          <a:noFill/>
          <a:ln/>
        </p:spPr>
        <p:txBody>
          <a:bodyPr wrap="square" lIns="0" tIns="0" rIns="0" bIns="0" rtlCol="0" anchor="t"/>
          <a:lstStyle/>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go.</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Is it true: has(fever) ? (yes/no/why) </a:t>
            </a:r>
            <a:pPr indent="0" marL="0">
              <a:lnSpc>
                <a:spcPts val="1560"/>
              </a:lnSpc>
              <a:buNone/>
            </a:pPr>
            <a:r>
              <a:rPr lang="en-US" sz="1200" b="1" dirty="0">
                <a:solidFill>
                  <a:srgbClr val="F2A65A"/>
                </a:solidFill>
                <a:latin typeface="Consolas" pitchFamily="34" charset="0"/>
                <a:ea typeface="Consolas" pitchFamily="34" charset="-122"/>
                <a:cs typeface="Consolas" pitchFamily="34" charset="-120"/>
              </a:rPr>
              <a:t>yes.</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Is it true: has(cough) ? (yes/no/why) </a:t>
            </a:r>
            <a:pPr indent="0" marL="0">
              <a:lnSpc>
                <a:spcPts val="1560"/>
              </a:lnSpc>
              <a:buNone/>
            </a:pPr>
            <a:r>
              <a:rPr lang="en-US" sz="1200" b="1" dirty="0">
                <a:solidFill>
                  <a:srgbClr val="F2A65A"/>
                </a:solidFill>
                <a:latin typeface="Consolas" pitchFamily="34" charset="0"/>
                <a:ea typeface="Consolas" pitchFamily="34" charset="-122"/>
                <a:cs typeface="Consolas" pitchFamily="34" charset="-120"/>
              </a:rPr>
              <a:t>yes.</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Is it true: has(body_ache) ? (yes/no/why) </a:t>
            </a:r>
            <a:pPr indent="0" marL="0">
              <a:lnSpc>
                <a:spcPts val="1560"/>
              </a:lnSpc>
              <a:buNone/>
            </a:pPr>
            <a:r>
              <a:rPr lang="en-US" sz="1200" b="1" dirty="0">
                <a:solidFill>
                  <a:srgbClr val="F2A65A"/>
                </a:solidFill>
                <a:latin typeface="Consolas" pitchFamily="34" charset="0"/>
                <a:ea typeface="Consolas" pitchFamily="34" charset="-122"/>
                <a:cs typeface="Consolas" pitchFamily="34" charset="-120"/>
              </a:rPr>
              <a:t>yes.</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Is it true: has(chills) ? (yes/no/why) </a:t>
            </a:r>
            <a:pPr indent="0" marL="0">
              <a:lnSpc>
                <a:spcPts val="1560"/>
              </a:lnSpc>
              <a:buNone/>
            </a:pPr>
            <a:r>
              <a:rPr lang="en-US" sz="1200" b="1" dirty="0">
                <a:solidFill>
                  <a:srgbClr val="F2A65A"/>
                </a:solidFill>
                <a:latin typeface="Consolas" pitchFamily="34" charset="0"/>
                <a:ea typeface="Consolas" pitchFamily="34" charset="-122"/>
                <a:cs typeface="Consolas" pitchFamily="34" charset="-120"/>
              </a:rPr>
              <a:t>yes.</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560"/>
              </a:lnSpc>
              <a:buNone/>
            </a:pPr>
            <a:r>
              <a:rPr lang="en-US" sz="1200" b="1" dirty="0">
                <a:solidFill>
                  <a:srgbClr val="8DB7F5"/>
                </a:solidFill>
                <a:latin typeface="Consolas" pitchFamily="34" charset="0"/>
                <a:ea typeface="Consolas" pitchFamily="34" charset="-122"/>
                <a:cs typeface="Consolas" pitchFamily="34" charset="-120"/>
              </a:rPr>
              <a:t>Conclusion: diagnosis(flu)</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HOW did I conclude this?</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diagnosis(flu)  &lt;- by rule m2</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respiratory_infection  &lt;- by rule m1</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has(fever)  &lt;- you told me</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has(cough)  &lt;- you told me</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has(body_ache)  &lt;- you told me</a:t>
            </a:r>
            <a:endParaRPr lang="en-US" sz="1200" dirty="0"/>
          </a:p>
          <a:p>
            <a:pPr indent="0" marL="0">
              <a:lnSpc>
                <a:spcPts val="1560"/>
              </a:lnSpc>
              <a:buNone/>
            </a:pPr>
            <a:r>
              <a:rPr lang="en-US" sz="1200" dirty="0">
                <a:solidFill>
                  <a:srgbClr val="E6E1D3"/>
                </a:solidFill>
                <a:latin typeface="Consolas" pitchFamily="34" charset="0"/>
                <a:ea typeface="Consolas" pitchFamily="34" charset="-122"/>
                <a:cs typeface="Consolas" pitchFamily="34" charset="-120"/>
              </a:rPr>
              <a:t>    has(chills)  &lt;- you told me</a:t>
            </a:r>
            <a:endParaRPr lang="en-US" sz="1200" dirty="0"/>
          </a:p>
          <a:p>
            <a:pPr indent="0" marL="0">
              <a:lnSpc>
                <a:spcPts val="1560"/>
              </a:lnSpc>
              <a:buNone/>
            </a:pPr>
            <a:r>
              <a:rPr lang="en-US" sz="1200" dirty="0">
                <a:solidFill>
                  <a:srgbClr val="8DB7F5"/>
                </a:solidFill>
                <a:latin typeface="Consolas" pitchFamily="34" charset="0"/>
                <a:ea typeface="Consolas" pitchFamily="34" charset="-122"/>
                <a:cs typeface="Consolas" pitchFamily="34" charset="-120"/>
              </a:rPr>
              <a:t>true.</a:t>
            </a:r>
            <a:endParaRPr lang="en-US" sz="1200" dirty="0"/>
          </a:p>
        </p:txBody>
      </p:sp>
      <p:sp>
        <p:nvSpPr>
          <p:cNvPr id="11" name="Shape 8"/>
          <p:cNvSpPr/>
          <p:nvPr/>
        </p:nvSpPr>
        <p:spPr>
          <a:xfrm>
            <a:off x="812810" y="5302240"/>
            <a:ext cx="10566441" cy="482620"/>
          </a:xfrm>
          <a:prstGeom prst="roundRect">
            <a:avLst>
              <a:gd name="adj" fmla="val 15157"/>
            </a:avLst>
          </a:prstGeom>
          <a:solidFill>
            <a:srgbClr val="F6E9E1"/>
          </a:solidFill>
          <a:ln/>
        </p:spPr>
      </p:sp>
      <p:sp>
        <p:nvSpPr>
          <p:cNvPr id="12" name="Text 9"/>
          <p:cNvSpPr txBox="1"/>
          <p:nvPr/>
        </p:nvSpPr>
        <p:spPr>
          <a:xfrm>
            <a:off x="990570" y="5302240"/>
            <a:ext cx="10210830" cy="482620"/>
          </a:xfrm>
          <a:prstGeom prst="rect">
            <a:avLst/>
          </a:prstGeom>
          <a:noFill/>
          <a:ln/>
        </p:spPr>
        <p:txBody>
          <a:bodyPr wrap="square" lIns="0" tIns="0" rIns="0" bIns="0" rtlCol="0" anchor="ctr"/>
          <a:lstStyle/>
          <a:p>
            <a:pPr indent="0" marL="0">
              <a:lnSpc>
                <a:spcPct val="110000"/>
              </a:lnSpc>
              <a:buNone/>
            </a:pPr>
            <a:r>
              <a:rPr lang="en-US" sz="1300" b="1" dirty="0">
                <a:solidFill>
                  <a:srgbClr val="1B2233"/>
                </a:solidFill>
                <a:latin typeface="Calibri" pitchFamily="34" charset="0"/>
                <a:ea typeface="Calibri" pitchFamily="34" charset="-122"/>
                <a:cs typeface="Calibri" pitchFamily="34" charset="-120"/>
              </a:rPr>
              <a:t>Only the knowledge base changed;</a:t>
            </a:r>
            <a:pPr indent="0" marL="0">
              <a:lnSpc>
                <a:spcPct val="110000"/>
              </a:lnSpc>
              <a:buNone/>
            </a:pPr>
            <a:r>
              <a:rPr lang="en-US" sz="1300" dirty="0">
                <a:solidFill>
                  <a:srgbClr val="1B2233"/>
                </a:solidFill>
                <a:latin typeface="Calibri" pitchFamily="34" charset="0"/>
                <a:ea typeface="Calibri" pitchFamily="34" charset="-122"/>
                <a:cs typeface="Calibri" pitchFamily="34" charset="-120"/>
              </a:rPr>
              <a:t> engine.pl is reused as is. A teaching toy, not medical advice.</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05 · CASE STUDIES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Case study 1: MYCIN, rule-based diagnosis</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Sources: Buchanan &amp; Shortliffe (1984); Yu et al. (1979); Russell &amp; Norvig (2020), Ch. 1</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25</a:t>
            </a:r>
            <a:endParaRPr lang="en-US" sz="1200" dirty="0"/>
          </a:p>
        </p:txBody>
      </p:sp>
      <p:sp>
        <p:nvSpPr>
          <p:cNvPr id="7" name="Text 4"/>
          <p:cNvSpPr txBox="1"/>
          <p:nvPr/>
        </p:nvSpPr>
        <p:spPr>
          <a:xfrm>
            <a:off x="812810" y="1676370"/>
            <a:ext cx="6223041" cy="228600"/>
          </a:xfrm>
          <a:prstGeom prst="rect">
            <a:avLst/>
          </a:prstGeom>
          <a:noFill/>
          <a:ln/>
        </p:spPr>
        <p:txBody>
          <a:bodyPr wrap="square" lIns="0" tIns="0" rIns="0" bIns="0" rtlCol="0" anchor="t"/>
          <a:lstStyle/>
          <a:p>
            <a:pPr indent="0" marL="0">
              <a:buNone/>
            </a:pPr>
            <a:r>
              <a:rPr lang="en-US" sz="1200" b="1" spc="200" kern="0" dirty="0">
                <a:solidFill>
                  <a:srgbClr val="5F6573"/>
                </a:solidFill>
                <a:latin typeface="Calibri" pitchFamily="34" charset="0"/>
                <a:ea typeface="Calibri" pitchFamily="34" charset="-122"/>
                <a:cs typeface="Calibri" pitchFamily="34" charset="-120"/>
              </a:rPr>
              <a:t>WHAT HAPPENED</a:t>
            </a:r>
            <a:endParaRPr lang="en-US" sz="1200" dirty="0"/>
          </a:p>
        </p:txBody>
      </p:sp>
      <p:sp>
        <p:nvSpPr>
          <p:cNvPr id="8" name="Text 5"/>
          <p:cNvSpPr txBox="1"/>
          <p:nvPr/>
        </p:nvSpPr>
        <p:spPr>
          <a:xfrm>
            <a:off x="812810" y="1981230"/>
            <a:ext cx="6223041" cy="3810030"/>
          </a:xfrm>
          <a:prstGeom prst="rect">
            <a:avLst/>
          </a:prstGeom>
          <a:noFill/>
          <a:ln/>
        </p:spPr>
        <p:txBody>
          <a:bodyPr wrap="square" lIns="0" tIns="0" rIns="0" bIns="0" rtlCol="0" anchor="t"/>
          <a:lstStyle/>
          <a:p>
            <a:pPr marL="254000" indent="-254000">
              <a:lnSpc>
                <a:spcPct val="110000"/>
              </a:lnSpc>
              <a:spcAft>
                <a:spcPts val="1200"/>
              </a:spcAft>
              <a:buSzPct val="100000"/>
              <a:buChar char="•"/>
            </a:pPr>
            <a:r>
              <a:rPr lang="en-US" sz="1400" dirty="0">
                <a:solidFill>
                  <a:srgbClr val="1B2233"/>
                </a:solidFill>
                <a:latin typeface="Calibri" pitchFamily="34" charset="0"/>
                <a:ea typeface="Calibri" pitchFamily="34" charset="-122"/>
                <a:cs typeface="Calibri" pitchFamily="34" charset="-120"/>
              </a:rPr>
              <a:t>Built at Stanford in the 1970s (Shortliffe, Buchanan) to identify the bacteria behind blood infections and meningitis, and to recommend antibiotics.</a:t>
            </a:r>
            <a:endParaRPr lang="en-US" sz="1400" dirty="0"/>
          </a:p>
          <a:p>
            <a:pPr marL="254000" indent="-254000">
              <a:lnSpc>
                <a:spcPct val="110000"/>
              </a:lnSpc>
              <a:spcAft>
                <a:spcPts val="1200"/>
              </a:spcAft>
              <a:buSzPct val="100000"/>
              <a:buChar char="•"/>
            </a:pPr>
            <a:r>
              <a:rPr lang="en-US" sz="1400" dirty="0">
                <a:solidFill>
                  <a:srgbClr val="1B2233"/>
                </a:solidFill>
                <a:latin typeface="Calibri" pitchFamily="34" charset="0"/>
                <a:ea typeface="Calibri" pitchFamily="34" charset="-122"/>
                <a:cs typeface="Calibri" pitchFamily="34" charset="-120"/>
              </a:rPr>
              <a:t>About 450 IF-THEN rules used by backward chaining from the goal "which organism?", asking the doctor for missing lab facts, just like our demo.</a:t>
            </a:r>
            <a:endParaRPr lang="en-US" sz="1400" dirty="0"/>
          </a:p>
          <a:p>
            <a:pPr marL="254000" indent="-254000">
              <a:lnSpc>
                <a:spcPct val="110000"/>
              </a:lnSpc>
              <a:spcAft>
                <a:spcPts val="1200"/>
              </a:spcAft>
              <a:buSzPct val="100000"/>
              <a:buChar char="•"/>
            </a:pPr>
            <a:r>
              <a:rPr lang="en-US" sz="1400" dirty="0">
                <a:solidFill>
                  <a:srgbClr val="1B2233"/>
                </a:solidFill>
                <a:latin typeface="Calibri" pitchFamily="34" charset="0"/>
                <a:ea typeface="Calibri" pitchFamily="34" charset="-122"/>
                <a:cs typeface="Calibri" pitchFamily="34" charset="-120"/>
              </a:rPr>
              <a:t>Pioneered WHY and HOW explanations; each rule carried a certainty factor to handle uncertain evidence.</a:t>
            </a:r>
            <a:endParaRPr lang="en-US" sz="1400" dirty="0"/>
          </a:p>
          <a:p>
            <a:pPr marL="254000" indent="-254000">
              <a:lnSpc>
                <a:spcPct val="110000"/>
              </a:lnSpc>
              <a:spcAft>
                <a:spcPts val="1200"/>
              </a:spcAft>
              <a:buSzPct val="100000"/>
              <a:buChar char="•"/>
            </a:pPr>
            <a:r>
              <a:rPr lang="en-US" sz="1400" dirty="0">
                <a:solidFill>
                  <a:srgbClr val="1B2233"/>
                </a:solidFill>
                <a:latin typeface="Calibri" pitchFamily="34" charset="0"/>
                <a:ea typeface="Calibri" pitchFamily="34" charset="-122"/>
                <a:cs typeface="Calibri" pitchFamily="34" charset="-120"/>
              </a:rPr>
              <a:t>In a blinded evaluation its therapy choices were rated at least as good as those of Stanford infectious-disease experts (Yu et al., 1979).</a:t>
            </a:r>
            <a:endParaRPr lang="en-US" sz="1400" dirty="0"/>
          </a:p>
          <a:p>
            <a:pPr marL="254000" indent="-254000">
              <a:lnSpc>
                <a:spcPct val="110000"/>
              </a:lnSpc>
              <a:spcAft>
                <a:spcPts val="1200"/>
              </a:spcAft>
              <a:buSzPct val="100000"/>
              <a:buChar char="•"/>
            </a:pPr>
            <a:r>
              <a:rPr lang="en-US" sz="1400" dirty="0">
                <a:solidFill>
                  <a:srgbClr val="1B2233"/>
                </a:solidFill>
                <a:latin typeface="Calibri" pitchFamily="34" charset="0"/>
                <a:ea typeface="Calibri" pitchFamily="34" charset="-122"/>
                <a:cs typeface="Calibri" pitchFamily="34" charset="-120"/>
              </a:rPr>
              <a:t>Yet it was never used routinely in hospitals: legal responsibility, ethics and slow typed consultations stood in the way.</a:t>
            </a:r>
            <a:endParaRPr lang="en-US" sz="1400" dirty="0"/>
          </a:p>
        </p:txBody>
      </p:sp>
      <p:sp>
        <p:nvSpPr>
          <p:cNvPr id="9" name="Shape 6"/>
          <p:cNvSpPr/>
          <p:nvPr/>
        </p:nvSpPr>
        <p:spPr>
          <a:xfrm>
            <a:off x="7289780" y="1676370"/>
            <a:ext cx="4089380" cy="1904970"/>
          </a:xfrm>
          <a:prstGeom prst="roundRect">
            <a:avLst>
              <a:gd name="adj" fmla="val 4800"/>
            </a:avLst>
          </a:prstGeom>
          <a:solidFill>
            <a:srgbClr val="1E2433"/>
          </a:solidFill>
          <a:ln/>
        </p:spPr>
      </p:sp>
      <p:sp>
        <p:nvSpPr>
          <p:cNvPr id="10" name="Text 7"/>
          <p:cNvSpPr txBox="1"/>
          <p:nvPr/>
        </p:nvSpPr>
        <p:spPr>
          <a:xfrm>
            <a:off x="7467630" y="1828800"/>
            <a:ext cx="3733770" cy="1625620"/>
          </a:xfrm>
          <a:prstGeom prst="rect">
            <a:avLst/>
          </a:prstGeom>
          <a:noFill/>
          <a:ln/>
        </p:spPr>
        <p:txBody>
          <a:bodyPr wrap="square" lIns="0" tIns="0" rIns="0" bIns="0" rtlCol="0" anchor="t"/>
          <a:lstStyle/>
          <a:p>
            <a:pPr indent="0" marL="0">
              <a:lnSpc>
                <a:spcPct val="120000"/>
              </a:lnSpc>
              <a:spcAft>
                <a:spcPts val="800"/>
              </a:spcAft>
              <a:buNone/>
            </a:pPr>
            <a:r>
              <a:rPr lang="en-US" sz="1400" b="1" dirty="0">
                <a:solidFill>
                  <a:srgbClr val="F3EFE4"/>
                </a:solidFill>
                <a:latin typeface="Calibri" pitchFamily="34" charset="0"/>
                <a:ea typeface="Calibri" pitchFamily="34" charset="-122"/>
                <a:cs typeface="Calibri" pitchFamily="34" charset="-120"/>
              </a:rPr>
              <a:t>A MYCIN rule (paraphrased)</a:t>
            </a:r>
            <a:endParaRPr lang="en-US" sz="1200" dirty="0"/>
          </a:p>
          <a:p>
            <a:pPr indent="0" marL="0">
              <a:lnSpc>
                <a:spcPct val="120000"/>
              </a:lnSpc>
              <a:buNone/>
            </a:pPr>
            <a:r>
              <a:rPr lang="en-US" sz="1200" dirty="0">
                <a:solidFill>
                  <a:srgbClr val="F2A65A"/>
                </a:solidFill>
                <a:latin typeface="Calibri" pitchFamily="34" charset="0"/>
                <a:ea typeface="Calibri" pitchFamily="34" charset="-122"/>
                <a:cs typeface="Calibri" pitchFamily="34" charset="-120"/>
              </a:rPr>
              <a:t>IF </a:t>
            </a:r>
            <a:pPr indent="0" marL="0">
              <a:lnSpc>
                <a:spcPct val="120000"/>
              </a:lnSpc>
              <a:buNone/>
            </a:pPr>
            <a:r>
              <a:rPr lang="en-US" sz="1200" dirty="0">
                <a:solidFill>
                  <a:srgbClr val="C9D1E0"/>
                </a:solidFill>
                <a:latin typeface="Calibri" pitchFamily="34" charset="0"/>
                <a:ea typeface="Calibri" pitchFamily="34" charset="-122"/>
                <a:cs typeface="Calibri" pitchFamily="34" charset="-120"/>
              </a:rPr>
              <a:t>the stain of the organism is gram-negative</a:t>
            </a:r>
            <a:endParaRPr lang="en-US" sz="1200" dirty="0"/>
          </a:p>
          <a:p>
            <a:pPr indent="0" marL="0">
              <a:lnSpc>
                <a:spcPct val="120000"/>
              </a:lnSpc>
              <a:buNone/>
            </a:pPr>
            <a:r>
              <a:rPr lang="en-US" sz="1200" dirty="0">
                <a:solidFill>
                  <a:srgbClr val="F2A65A"/>
                </a:solidFill>
                <a:latin typeface="Calibri" pitchFamily="34" charset="0"/>
                <a:ea typeface="Calibri" pitchFamily="34" charset="-122"/>
                <a:cs typeface="Calibri" pitchFamily="34" charset="-120"/>
              </a:rPr>
              <a:t>AND </a:t>
            </a:r>
            <a:pPr indent="0" marL="0">
              <a:lnSpc>
                <a:spcPct val="120000"/>
              </a:lnSpc>
              <a:buNone/>
            </a:pPr>
            <a:r>
              <a:rPr lang="en-US" sz="1200" dirty="0">
                <a:solidFill>
                  <a:srgbClr val="C9D1E0"/>
                </a:solidFill>
                <a:latin typeface="Calibri" pitchFamily="34" charset="0"/>
                <a:ea typeface="Calibri" pitchFamily="34" charset="-122"/>
                <a:cs typeface="Calibri" pitchFamily="34" charset="-120"/>
              </a:rPr>
              <a:t>its morphology is rod</a:t>
            </a:r>
            <a:endParaRPr lang="en-US" sz="1200" dirty="0"/>
          </a:p>
          <a:p>
            <a:pPr indent="0" marL="0">
              <a:lnSpc>
                <a:spcPct val="120000"/>
              </a:lnSpc>
              <a:buNone/>
            </a:pPr>
            <a:r>
              <a:rPr lang="en-US" sz="1200" dirty="0">
                <a:solidFill>
                  <a:srgbClr val="F2A65A"/>
                </a:solidFill>
                <a:latin typeface="Calibri" pitchFamily="34" charset="0"/>
                <a:ea typeface="Calibri" pitchFamily="34" charset="-122"/>
                <a:cs typeface="Calibri" pitchFamily="34" charset="-120"/>
              </a:rPr>
              <a:t>AND </a:t>
            </a:r>
            <a:pPr indent="0" marL="0">
              <a:lnSpc>
                <a:spcPct val="120000"/>
              </a:lnSpc>
              <a:buNone/>
            </a:pPr>
            <a:r>
              <a:rPr lang="en-US" sz="1200" dirty="0">
                <a:solidFill>
                  <a:srgbClr val="C9D1E0"/>
                </a:solidFill>
                <a:latin typeface="Calibri" pitchFamily="34" charset="0"/>
                <a:ea typeface="Calibri" pitchFamily="34" charset="-122"/>
                <a:cs typeface="Calibri" pitchFamily="34" charset="-120"/>
              </a:rPr>
              <a:t>it is anaerobic</a:t>
            </a:r>
            <a:endParaRPr lang="en-US" sz="1200" dirty="0"/>
          </a:p>
          <a:p>
            <a:pPr indent="0" marL="0">
              <a:lnSpc>
                <a:spcPct val="120000"/>
              </a:lnSpc>
              <a:buNone/>
            </a:pPr>
            <a:r>
              <a:rPr lang="en-US" sz="1200" dirty="0">
                <a:solidFill>
                  <a:srgbClr val="F2A65A"/>
                </a:solidFill>
                <a:latin typeface="Calibri" pitchFamily="34" charset="0"/>
                <a:ea typeface="Calibri" pitchFamily="34" charset="-122"/>
                <a:cs typeface="Calibri" pitchFamily="34" charset="-120"/>
              </a:rPr>
              <a:t>THEN </a:t>
            </a:r>
            <a:pPr indent="0" marL="0">
              <a:lnSpc>
                <a:spcPct val="120000"/>
              </a:lnSpc>
              <a:buNone/>
            </a:pPr>
            <a:r>
              <a:rPr lang="en-US" sz="1200" dirty="0">
                <a:solidFill>
                  <a:srgbClr val="C9D1E0"/>
                </a:solidFill>
                <a:latin typeface="Calibri" pitchFamily="34" charset="0"/>
                <a:ea typeface="Calibri" pitchFamily="34" charset="-122"/>
                <a:cs typeface="Calibri" pitchFamily="34" charset="-120"/>
              </a:rPr>
              <a:t>suggestive evidence (0.6) that it is bacteroides</a:t>
            </a:r>
            <a:endParaRPr lang="en-US" sz="1200" dirty="0"/>
          </a:p>
        </p:txBody>
      </p:sp>
      <p:sp>
        <p:nvSpPr>
          <p:cNvPr id="11" name="Shape 8"/>
          <p:cNvSpPr/>
          <p:nvPr/>
        </p:nvSpPr>
        <p:spPr>
          <a:xfrm>
            <a:off x="7289780" y="3759190"/>
            <a:ext cx="4089380" cy="1460480"/>
          </a:xfrm>
          <a:prstGeom prst="roundRect">
            <a:avLst>
              <a:gd name="adj" fmla="val 6261"/>
            </a:avLst>
          </a:prstGeom>
          <a:solidFill>
            <a:srgbClr val="F6E9E1"/>
          </a:solidFill>
          <a:ln/>
        </p:spPr>
      </p:sp>
      <p:sp>
        <p:nvSpPr>
          <p:cNvPr id="12" name="Text 9"/>
          <p:cNvSpPr txBox="1"/>
          <p:nvPr/>
        </p:nvSpPr>
        <p:spPr>
          <a:xfrm>
            <a:off x="7467630" y="3911620"/>
            <a:ext cx="3759190" cy="304770"/>
          </a:xfrm>
          <a:prstGeom prst="rect">
            <a:avLst/>
          </a:prstGeom>
          <a:noFill/>
          <a:ln/>
        </p:spPr>
        <p:txBody>
          <a:bodyPr wrap="square" lIns="0" tIns="0" rIns="0" bIns="0" rtlCol="0" anchor="t"/>
          <a:lstStyle/>
          <a:p>
            <a:pPr indent="0" marL="0">
              <a:buNone/>
            </a:pPr>
            <a:r>
              <a:rPr lang="en-US" sz="1500" b="1" dirty="0">
                <a:solidFill>
                  <a:srgbClr val="1B2233"/>
                </a:solidFill>
                <a:latin typeface="Calibri" pitchFamily="34" charset="0"/>
                <a:ea typeface="Calibri" pitchFamily="34" charset="-122"/>
                <a:cs typeface="Calibri" pitchFamily="34" charset="-120"/>
              </a:rPr>
              <a:t>Lesson learned</a:t>
            </a:r>
            <a:endParaRPr lang="en-US" sz="1500" dirty="0"/>
          </a:p>
        </p:txBody>
      </p:sp>
      <p:sp>
        <p:nvSpPr>
          <p:cNvPr id="13" name="Text 10"/>
          <p:cNvSpPr txBox="1"/>
          <p:nvPr/>
        </p:nvSpPr>
        <p:spPr>
          <a:xfrm>
            <a:off x="7467630" y="4216390"/>
            <a:ext cx="3733770" cy="901690"/>
          </a:xfrm>
          <a:prstGeom prst="rect">
            <a:avLst/>
          </a:prstGeom>
          <a:noFill/>
          <a:ln/>
        </p:spPr>
        <p:txBody>
          <a:bodyPr wrap="square" lIns="0" tIns="0" rIns="0" bIns="0" rtlCol="0" anchor="t"/>
          <a:lstStyle/>
          <a:p>
            <a:pPr indent="0" marL="0">
              <a:lnSpc>
                <a:spcPct val="110000"/>
              </a:lnSpc>
              <a:buNone/>
            </a:pPr>
            <a:r>
              <a:rPr lang="en-US" sz="1300" dirty="0">
                <a:solidFill>
                  <a:srgbClr val="4A5264"/>
                </a:solidFill>
                <a:latin typeface="Calibri" pitchFamily="34" charset="0"/>
                <a:ea typeface="Calibri" pitchFamily="34" charset="-122"/>
                <a:cs typeface="Calibri" pitchFamily="34" charset="-120"/>
              </a:rPr>
              <a:t>Accuracy and explanation are not enough: an expert system must fit the workflow and settle who is responsible.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05 · CASE STUDIES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Case study 2: the British Nationality Act in Prolog</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 Sergot et al. (1986), Communications of the ACM 29(5)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26</a:t>
            </a:r>
            <a:endParaRPr lang="en-US" sz="1200" dirty="0"/>
          </a:p>
        </p:txBody>
      </p:sp>
      <p:sp>
        <p:nvSpPr>
          <p:cNvPr id="7" name="Text 4"/>
          <p:cNvSpPr txBox="1"/>
          <p:nvPr/>
        </p:nvSpPr>
        <p:spPr>
          <a:xfrm>
            <a:off x="812810" y="1676370"/>
            <a:ext cx="5486400" cy="228600"/>
          </a:xfrm>
          <a:prstGeom prst="rect">
            <a:avLst/>
          </a:prstGeom>
          <a:noFill/>
          <a:ln/>
        </p:spPr>
        <p:txBody>
          <a:bodyPr wrap="square" lIns="0" tIns="0" rIns="0" bIns="0" rtlCol="0" anchor="t"/>
          <a:lstStyle/>
          <a:p>
            <a:pPr indent="0" marL="0">
              <a:buNone/>
            </a:pPr>
            <a:r>
              <a:rPr lang="en-US" sz="1200" b="1" spc="200" kern="0" dirty="0">
                <a:solidFill>
                  <a:srgbClr val="5F6573"/>
                </a:solidFill>
                <a:latin typeface="Calibri" pitchFamily="34" charset="0"/>
                <a:ea typeface="Calibri" pitchFamily="34" charset="-122"/>
                <a:cs typeface="Calibri" pitchFamily="34" charset="-120"/>
              </a:rPr>
              <a:t>WHAT HAPPENED</a:t>
            </a:r>
            <a:endParaRPr lang="en-US" sz="1200" dirty="0"/>
          </a:p>
        </p:txBody>
      </p:sp>
      <p:sp>
        <p:nvSpPr>
          <p:cNvPr id="8" name="Text 5"/>
          <p:cNvSpPr txBox="1"/>
          <p:nvPr/>
        </p:nvSpPr>
        <p:spPr>
          <a:xfrm>
            <a:off x="812810" y="1981230"/>
            <a:ext cx="5486400" cy="3810030"/>
          </a:xfrm>
          <a:prstGeom prst="rect">
            <a:avLst/>
          </a:prstGeom>
          <a:noFill/>
          <a:ln/>
        </p:spPr>
        <p:txBody>
          <a:bodyPr wrap="square" lIns="0" tIns="0" rIns="0" bIns="0" rtlCol="0" anchor="t"/>
          <a:lstStyle/>
          <a:p>
            <a:pPr marL="254000" indent="-254000">
              <a:lnSpc>
                <a:spcPct val="110000"/>
              </a:lnSpc>
              <a:spcAft>
                <a:spcPts val="1200"/>
              </a:spcAft>
              <a:buSzPct val="100000"/>
              <a:buChar char="•"/>
            </a:pPr>
            <a:r>
              <a:rPr lang="en-US" sz="1400" dirty="0">
                <a:solidFill>
                  <a:srgbClr val="1B2233"/>
                </a:solidFill>
                <a:latin typeface="Calibri" pitchFamily="34" charset="0"/>
                <a:ea typeface="Calibri" pitchFamily="34" charset="-122"/>
                <a:cs typeface="Calibri" pitchFamily="34" charset="-120"/>
              </a:rPr>
              <a:t>In 1986 Sergot, Kowalski and colleagues at Imperial College London translated the British Nationality Act 1981 into Prolog rules.</a:t>
            </a:r>
            <a:endParaRPr lang="en-US" sz="1400" dirty="0"/>
          </a:p>
          <a:p>
            <a:pPr marL="254000" indent="-254000">
              <a:lnSpc>
                <a:spcPct val="110000"/>
              </a:lnSpc>
              <a:spcAft>
                <a:spcPts val="1200"/>
              </a:spcAft>
              <a:buSzPct val="100000"/>
              <a:buChar char="•"/>
            </a:pPr>
            <a:r>
              <a:rPr lang="en-US" sz="1400" dirty="0">
                <a:solidFill>
                  <a:srgbClr val="1B2233"/>
                </a:solidFill>
                <a:latin typeface="Calibri" pitchFamily="34" charset="0"/>
                <a:ea typeface="Calibri" pitchFamily="34" charset="-122"/>
                <a:cs typeface="Calibri" pitchFamily="34" charset="-120"/>
              </a:rPr>
              <a:t>Each section of the Act became a clause; asking "is X a British citizen?" runs backward chaining over the law itself.</a:t>
            </a:r>
            <a:endParaRPr lang="en-US" sz="1400" dirty="0"/>
          </a:p>
          <a:p>
            <a:pPr marL="254000" indent="-254000">
              <a:lnSpc>
                <a:spcPct val="110000"/>
              </a:lnSpc>
              <a:spcAft>
                <a:spcPts val="1200"/>
              </a:spcAft>
              <a:buSzPct val="100000"/>
              <a:buChar char="•"/>
            </a:pPr>
            <a:r>
              <a:rPr lang="en-US" sz="1400" dirty="0">
                <a:solidFill>
                  <a:srgbClr val="1B2233"/>
                </a:solidFill>
                <a:latin typeface="Calibri" pitchFamily="34" charset="0"/>
                <a:ea typeface="Calibri" pitchFamily="34" charset="-122"/>
                <a:cs typeface="Calibri" pitchFamily="34" charset="-120"/>
              </a:rPr>
              <a:t>Missing facts (place and date of birth, parents' status) are asked of the user: the same pattern as our shell.</a:t>
            </a:r>
            <a:endParaRPr lang="en-US" sz="1400" dirty="0"/>
          </a:p>
          <a:p>
            <a:pPr marL="254000" indent="-254000">
              <a:lnSpc>
                <a:spcPct val="110000"/>
              </a:lnSpc>
              <a:spcAft>
                <a:spcPts val="1200"/>
              </a:spcAft>
              <a:buSzPct val="100000"/>
              <a:buChar char="•"/>
            </a:pPr>
            <a:r>
              <a:rPr lang="en-US" sz="1400" dirty="0">
                <a:solidFill>
                  <a:srgbClr val="1B2233"/>
                </a:solidFill>
                <a:latin typeface="Calibri" pitchFamily="34" charset="0"/>
                <a:ea typeface="Calibri" pitchFamily="34" charset="-122"/>
                <a:cs typeface="Calibri" pitchFamily="34" charset="-120"/>
              </a:rPr>
              <a:t>Formalising the text exposed ambiguities, such as the clause on abandoned new-born infants, which relies on default reasoning.</a:t>
            </a:r>
            <a:endParaRPr lang="en-US" sz="1400" dirty="0"/>
          </a:p>
        </p:txBody>
      </p:sp>
      <p:sp>
        <p:nvSpPr>
          <p:cNvPr id="9" name="Shape 6"/>
          <p:cNvSpPr/>
          <p:nvPr/>
        </p:nvSpPr>
        <p:spPr>
          <a:xfrm>
            <a:off x="6553230" y="1676370"/>
            <a:ext cx="4826020" cy="1587490"/>
          </a:xfrm>
          <a:prstGeom prst="roundRect">
            <a:avLst>
              <a:gd name="adj" fmla="val 5760"/>
            </a:avLst>
          </a:prstGeom>
          <a:solidFill>
            <a:srgbClr val="1E2433"/>
          </a:solidFill>
          <a:ln/>
        </p:spPr>
      </p:sp>
      <p:sp>
        <p:nvSpPr>
          <p:cNvPr id="10" name="Text 7"/>
          <p:cNvSpPr txBox="1"/>
          <p:nvPr/>
        </p:nvSpPr>
        <p:spPr>
          <a:xfrm>
            <a:off x="6730990" y="1828800"/>
            <a:ext cx="4470410" cy="1282720"/>
          </a:xfrm>
          <a:prstGeom prst="rect">
            <a:avLst/>
          </a:prstGeom>
          <a:noFill/>
          <a:ln/>
        </p:spPr>
        <p:txBody>
          <a:bodyPr wrap="square" lIns="0" tIns="0" rIns="0" bIns="0" rtlCol="0" anchor="t"/>
          <a:lstStyle/>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BNA 1981, s.1(1), simplified</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british_citizen(X) :-</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born_in_uk(X),</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born_after_commencement(X),</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parent(Y, X),</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 british_citizen(Y) ; settled_in_uk(Y) ).</a:t>
            </a:r>
            <a:endParaRPr lang="en-US" sz="1200" dirty="0"/>
          </a:p>
        </p:txBody>
      </p:sp>
      <p:sp>
        <p:nvSpPr>
          <p:cNvPr id="11" name="Shape 8"/>
          <p:cNvSpPr/>
          <p:nvPr/>
        </p:nvSpPr>
        <p:spPr>
          <a:xfrm>
            <a:off x="6553230" y="3441710"/>
            <a:ext cx="4826020" cy="1460480"/>
          </a:xfrm>
          <a:prstGeom prst="roundRect">
            <a:avLst>
              <a:gd name="adj" fmla="val 6261"/>
            </a:avLst>
          </a:prstGeom>
          <a:solidFill>
            <a:srgbClr val="F6E9E1"/>
          </a:solidFill>
          <a:ln/>
        </p:spPr>
      </p:sp>
      <p:sp>
        <p:nvSpPr>
          <p:cNvPr id="12" name="Text 9"/>
          <p:cNvSpPr txBox="1"/>
          <p:nvPr/>
        </p:nvSpPr>
        <p:spPr>
          <a:xfrm>
            <a:off x="6730990" y="3594141"/>
            <a:ext cx="4495830" cy="304770"/>
          </a:xfrm>
          <a:prstGeom prst="rect">
            <a:avLst/>
          </a:prstGeom>
          <a:noFill/>
          <a:ln/>
        </p:spPr>
        <p:txBody>
          <a:bodyPr wrap="square" lIns="0" tIns="0" rIns="0" bIns="0" rtlCol="0" anchor="t"/>
          <a:lstStyle/>
          <a:p>
            <a:pPr indent="0" marL="0">
              <a:buNone/>
            </a:pPr>
            <a:r>
              <a:rPr lang="en-US" sz="1500" b="1" dirty="0">
                <a:solidFill>
                  <a:srgbClr val="1B2233"/>
                </a:solidFill>
                <a:latin typeface="Calibri" pitchFamily="34" charset="0"/>
                <a:ea typeface="Calibri" pitchFamily="34" charset="-122"/>
                <a:cs typeface="Calibri" pitchFamily="34" charset="-120"/>
              </a:rPr>
              <a:t>Lesson learned</a:t>
            </a:r>
            <a:endParaRPr lang="en-US" sz="1500" dirty="0"/>
          </a:p>
        </p:txBody>
      </p:sp>
      <p:sp>
        <p:nvSpPr>
          <p:cNvPr id="13" name="Text 10"/>
          <p:cNvSpPr txBox="1"/>
          <p:nvPr/>
        </p:nvSpPr>
        <p:spPr>
          <a:xfrm>
            <a:off x="6730990" y="3898910"/>
            <a:ext cx="4470410" cy="901690"/>
          </a:xfrm>
          <a:prstGeom prst="rect">
            <a:avLst/>
          </a:prstGeom>
          <a:noFill/>
          <a:ln/>
        </p:spPr>
        <p:txBody>
          <a:bodyPr wrap="square" lIns="0" tIns="0" rIns="0" bIns="0" rtlCol="0" anchor="t"/>
          <a:lstStyle/>
          <a:p>
            <a:pPr indent="0" marL="0">
              <a:lnSpc>
                <a:spcPct val="110000"/>
              </a:lnSpc>
              <a:buNone/>
            </a:pPr>
            <a:r>
              <a:rPr lang="en-US" sz="1300" dirty="0">
                <a:solidFill>
                  <a:srgbClr val="4A5264"/>
                </a:solidFill>
                <a:latin typeface="Calibri" pitchFamily="34" charset="0"/>
                <a:ea typeface="Calibri" pitchFamily="34" charset="-122"/>
                <a:cs typeface="Calibri" pitchFamily="34" charset="-120"/>
              </a:rPr>
              <a:t>Writing rules as executable logic makes them testable, and it shows exactly where the source text is vague or depends on defaults.</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05 · CASE STUDIES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Case study 3: Prolog rules in large real systems</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Sources: Lally &amp; Fodor (2011); Rayner et al. (2005)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27</a:t>
            </a:r>
            <a:endParaRPr lang="en-US" sz="1200" dirty="0"/>
          </a:p>
        </p:txBody>
      </p:sp>
      <p:sp>
        <p:nvSpPr>
          <p:cNvPr id="7" name="Shape 4"/>
          <p:cNvSpPr/>
          <p:nvPr/>
        </p:nvSpPr>
        <p:spPr>
          <a:xfrm>
            <a:off x="812810" y="1676370"/>
            <a:ext cx="5181630" cy="4063959"/>
          </a:xfrm>
          <a:prstGeom prst="roundRect">
            <a:avLst>
              <a:gd name="adj" fmla="val 2250"/>
            </a:avLst>
          </a:prstGeom>
          <a:solidFill>
            <a:srgbClr val="FFFFFF"/>
          </a:solidFill>
          <a:ln w="12700">
            <a:solidFill>
              <a:srgbClr val="E3E1DA"/>
            </a:solidFill>
            <a:prstDash val="solid"/>
          </a:ln>
        </p:spPr>
      </p:sp>
      <p:sp>
        <p:nvSpPr>
          <p:cNvPr id="8" name="Shape 5"/>
          <p:cNvSpPr/>
          <p:nvPr/>
        </p:nvSpPr>
        <p:spPr>
          <a:xfrm>
            <a:off x="1041410" y="1879641"/>
            <a:ext cx="355610" cy="355610"/>
          </a:xfrm>
          <a:prstGeom prst="ellipse">
            <a:avLst/>
          </a:prstGeom>
          <a:solidFill>
            <a:srgbClr val="2F5DA8"/>
          </a:solidFill>
          <a:ln/>
        </p:spPr>
      </p:sp>
      <p:sp>
        <p:nvSpPr>
          <p:cNvPr id="9" name="Text 6"/>
          <p:cNvSpPr txBox="1"/>
          <p:nvPr/>
        </p:nvSpPr>
        <p:spPr>
          <a:xfrm>
            <a:off x="1041410" y="1879641"/>
            <a:ext cx="355610" cy="35561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0" name="Text 7"/>
          <p:cNvSpPr txBox="1"/>
          <p:nvPr/>
        </p:nvSpPr>
        <p:spPr>
          <a:xfrm>
            <a:off x="1524030" y="1879641"/>
            <a:ext cx="4292559" cy="355610"/>
          </a:xfrm>
          <a:prstGeom prst="rect">
            <a:avLst/>
          </a:prstGeom>
          <a:noFill/>
          <a:ln/>
        </p:spPr>
        <p:txBody>
          <a:bodyPr wrap="square" lIns="0" tIns="0" rIns="0" bIns="0" rtlCol="0" anchor="ctr"/>
          <a:lstStyle/>
          <a:p>
            <a:pPr indent="0" marL="0">
              <a:buNone/>
            </a:pPr>
            <a:r>
              <a:rPr lang="en-US" sz="1700" b="1" dirty="0">
                <a:solidFill>
                  <a:srgbClr val="1B2233"/>
                </a:solidFill>
                <a:latin typeface="Calibri" pitchFamily="34" charset="0"/>
                <a:ea typeface="Calibri" pitchFamily="34" charset="-122"/>
                <a:cs typeface="Calibri" pitchFamily="34" charset="-120"/>
              </a:rPr>
              <a:t>IBM Watson: Jeopardy! (2011)</a:t>
            </a:r>
            <a:endParaRPr lang="en-US" sz="1700" dirty="0"/>
          </a:p>
        </p:txBody>
      </p:sp>
      <p:sp>
        <p:nvSpPr>
          <p:cNvPr id="11" name="Text 8"/>
          <p:cNvSpPr txBox="1"/>
          <p:nvPr/>
        </p:nvSpPr>
        <p:spPr>
          <a:xfrm>
            <a:off x="1041410" y="2438430"/>
            <a:ext cx="4724430" cy="1777959"/>
          </a:xfrm>
          <a:prstGeom prst="rect">
            <a:avLst/>
          </a:prstGeom>
          <a:noFill/>
          <a:ln/>
        </p:spPr>
        <p:txBody>
          <a:bodyPr wrap="square" lIns="0" tIns="0" rIns="0" bIns="0" rtlCol="0" anchor="t"/>
          <a:lstStyle/>
          <a:p>
            <a:pPr marL="254000" indent="-254000">
              <a:lnSpc>
                <a:spcPct val="110000"/>
              </a:lnSpc>
              <a:spcAft>
                <a:spcPts val="1200"/>
              </a:spcAft>
              <a:buSzPct val="100000"/>
              <a:buChar char="•"/>
            </a:pPr>
            <a:r>
              <a:rPr lang="en-US" sz="1400" dirty="0">
                <a:solidFill>
                  <a:srgbClr val="4A5264"/>
                </a:solidFill>
                <a:latin typeface="Calibri" pitchFamily="34" charset="0"/>
                <a:ea typeface="Calibri" pitchFamily="34" charset="-122"/>
                <a:cs typeface="Calibri" pitchFamily="34" charset="-120"/>
              </a:rPr>
              <a:t>Watson beat two human champions on the Jeopardy! quiz show.</a:t>
            </a:r>
            <a:endParaRPr lang="en-US" sz="1400" dirty="0"/>
          </a:p>
          <a:p>
            <a:pPr marL="254000" indent="-254000">
              <a:lnSpc>
                <a:spcPct val="110000"/>
              </a:lnSpc>
              <a:spcAft>
                <a:spcPts val="1200"/>
              </a:spcAft>
              <a:buSzPct val="100000"/>
              <a:buChar char="•"/>
            </a:pPr>
            <a:r>
              <a:rPr lang="en-US" sz="1400" dirty="0">
                <a:solidFill>
                  <a:srgbClr val="4A5264"/>
                </a:solidFill>
                <a:latin typeface="Calibri" pitchFamily="34" charset="0"/>
                <a:ea typeface="Calibri" pitchFamily="34" charset="-122"/>
                <a:cs typeface="Calibri" pitchFamily="34" charset="-120"/>
              </a:rPr>
              <a:t>Prolog rules matched patterns in the parsed question, e.g. finding its focus and the type of answer wanted.</a:t>
            </a:r>
            <a:endParaRPr lang="en-US" sz="1400" dirty="0"/>
          </a:p>
        </p:txBody>
      </p:sp>
      <p:sp>
        <p:nvSpPr>
          <p:cNvPr id="12" name="Shape 9"/>
          <p:cNvSpPr/>
          <p:nvPr/>
        </p:nvSpPr>
        <p:spPr>
          <a:xfrm>
            <a:off x="1041410" y="4406859"/>
            <a:ext cx="4724430" cy="1079541"/>
          </a:xfrm>
          <a:prstGeom prst="roundRect">
            <a:avLst>
              <a:gd name="adj" fmla="val 6776"/>
            </a:avLst>
          </a:prstGeom>
          <a:solidFill>
            <a:srgbClr val="EFEEE9"/>
          </a:solidFill>
          <a:ln/>
        </p:spPr>
      </p:sp>
      <p:sp>
        <p:nvSpPr>
          <p:cNvPr id="13" name="Text 10"/>
          <p:cNvSpPr txBox="1"/>
          <p:nvPr/>
        </p:nvSpPr>
        <p:spPr>
          <a:xfrm>
            <a:off x="1219170" y="4406859"/>
            <a:ext cx="4368820" cy="1079541"/>
          </a:xfrm>
          <a:prstGeom prst="rect">
            <a:avLst/>
          </a:prstGeom>
          <a:noFill/>
          <a:ln/>
        </p:spPr>
        <p:txBody>
          <a:bodyPr wrap="square" lIns="0" tIns="0" rIns="0" bIns="0" rtlCol="0" anchor="ctr"/>
          <a:lstStyle/>
          <a:p>
            <a:pPr indent="0" marL="0">
              <a:lnSpc>
                <a:spcPct val="110000"/>
              </a:lnSpc>
              <a:buNone/>
            </a:pPr>
            <a:r>
              <a:rPr lang="en-US" sz="1300" b="1" dirty="0">
                <a:solidFill>
                  <a:srgbClr val="1B2233"/>
                </a:solidFill>
                <a:latin typeface="Calibri" pitchFamily="34" charset="0"/>
                <a:ea typeface="Calibri" pitchFamily="34" charset="-122"/>
                <a:cs typeface="Calibri" pitchFamily="34" charset="-120"/>
              </a:rPr>
              <a:t>Lesson:</a:t>
            </a:r>
            <a:pPr indent="0" marL="0">
              <a:lnSpc>
                <a:spcPct val="110000"/>
              </a:lnSpc>
              <a:buNone/>
            </a:pPr>
            <a:r>
              <a:rPr lang="en-US" sz="1300" dirty="0">
                <a:solidFill>
                  <a:srgbClr val="1B2233"/>
                </a:solidFill>
                <a:latin typeface="Calibri" pitchFamily="34" charset="0"/>
                <a:ea typeface="Calibri" pitchFamily="34" charset="-122"/>
                <a:cs typeface="Calibri" pitchFamily="34" charset="-120"/>
              </a:rPr>
              <a:t> rules and statistics work together; rules captured precise language patterns, machine learning weighed the evidence.</a:t>
            </a:r>
            <a:endParaRPr lang="en-US" sz="1300" dirty="0"/>
          </a:p>
        </p:txBody>
      </p:sp>
      <p:sp>
        <p:nvSpPr>
          <p:cNvPr id="14" name="Shape 11"/>
          <p:cNvSpPr/>
          <p:nvPr/>
        </p:nvSpPr>
        <p:spPr>
          <a:xfrm>
            <a:off x="6197620" y="1676370"/>
            <a:ext cx="5181630" cy="4063959"/>
          </a:xfrm>
          <a:prstGeom prst="roundRect">
            <a:avLst>
              <a:gd name="adj" fmla="val 2250"/>
            </a:avLst>
          </a:prstGeom>
          <a:solidFill>
            <a:srgbClr val="FFFFFF"/>
          </a:solidFill>
          <a:ln w="12700">
            <a:solidFill>
              <a:srgbClr val="E3E1DA"/>
            </a:solidFill>
            <a:prstDash val="solid"/>
          </a:ln>
        </p:spPr>
      </p:sp>
      <p:sp>
        <p:nvSpPr>
          <p:cNvPr id="15" name="Shape 12"/>
          <p:cNvSpPr/>
          <p:nvPr/>
        </p:nvSpPr>
        <p:spPr>
          <a:xfrm>
            <a:off x="6426220" y="1879641"/>
            <a:ext cx="355610" cy="355610"/>
          </a:xfrm>
          <a:prstGeom prst="ellipse">
            <a:avLst/>
          </a:prstGeom>
          <a:solidFill>
            <a:srgbClr val="2F5DA8"/>
          </a:solidFill>
          <a:ln/>
        </p:spPr>
      </p:sp>
      <p:sp>
        <p:nvSpPr>
          <p:cNvPr id="16" name="Text 13"/>
          <p:cNvSpPr txBox="1"/>
          <p:nvPr/>
        </p:nvSpPr>
        <p:spPr>
          <a:xfrm>
            <a:off x="6426220" y="1879641"/>
            <a:ext cx="355610" cy="35561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7" name="Text 14"/>
          <p:cNvSpPr txBox="1"/>
          <p:nvPr/>
        </p:nvSpPr>
        <p:spPr>
          <a:xfrm>
            <a:off x="6908841" y="1879641"/>
            <a:ext cx="4292559" cy="355610"/>
          </a:xfrm>
          <a:prstGeom prst="rect">
            <a:avLst/>
          </a:prstGeom>
          <a:noFill/>
          <a:ln/>
        </p:spPr>
        <p:txBody>
          <a:bodyPr wrap="square" lIns="0" tIns="0" rIns="0" bIns="0" rtlCol="0" anchor="ctr"/>
          <a:lstStyle/>
          <a:p>
            <a:pPr indent="0" marL="0">
              <a:buNone/>
            </a:pPr>
            <a:r>
              <a:rPr lang="en-US" sz="1700" b="1" dirty="0">
                <a:solidFill>
                  <a:srgbClr val="1B2233"/>
                </a:solidFill>
                <a:latin typeface="Calibri" pitchFamily="34" charset="0"/>
                <a:ea typeface="Calibri" pitchFamily="34" charset="-122"/>
                <a:cs typeface="Calibri" pitchFamily="34" charset="-120"/>
              </a:rPr>
              <a:t>NASA Clarissa: Space Station (2005)</a:t>
            </a:r>
            <a:endParaRPr lang="en-US" sz="1700" dirty="0"/>
          </a:p>
        </p:txBody>
      </p:sp>
      <p:sp>
        <p:nvSpPr>
          <p:cNvPr id="18" name="Text 15"/>
          <p:cNvSpPr txBox="1"/>
          <p:nvPr/>
        </p:nvSpPr>
        <p:spPr>
          <a:xfrm>
            <a:off x="6426220" y="2438430"/>
            <a:ext cx="4724430" cy="1777959"/>
          </a:xfrm>
          <a:prstGeom prst="rect">
            <a:avLst/>
          </a:prstGeom>
          <a:noFill/>
          <a:ln/>
        </p:spPr>
        <p:txBody>
          <a:bodyPr wrap="square" lIns="0" tIns="0" rIns="0" bIns="0" rtlCol="0" anchor="t"/>
          <a:lstStyle/>
          <a:p>
            <a:pPr marL="254000" indent="-254000">
              <a:lnSpc>
                <a:spcPct val="110000"/>
              </a:lnSpc>
              <a:spcAft>
                <a:spcPts val="1200"/>
              </a:spcAft>
              <a:buSzPct val="100000"/>
              <a:buChar char="•"/>
            </a:pPr>
            <a:r>
              <a:rPr lang="en-US" sz="1400" dirty="0">
                <a:solidFill>
                  <a:srgbClr val="4A5264"/>
                </a:solidFill>
                <a:latin typeface="Calibri" pitchFamily="34" charset="0"/>
                <a:ea typeface="Calibri" pitchFamily="34" charset="-122"/>
                <a:cs typeface="Calibri" pitchFamily="34" charset="-120"/>
              </a:rPr>
              <a:t>A voice-operated procedure browser that reads steps aloud, so astronauts keep their hands free.</a:t>
            </a:r>
            <a:endParaRPr lang="en-US" sz="1400" dirty="0"/>
          </a:p>
          <a:p>
            <a:pPr marL="254000" indent="-254000">
              <a:lnSpc>
                <a:spcPct val="110000"/>
              </a:lnSpc>
              <a:spcAft>
                <a:spcPts val="1200"/>
              </a:spcAft>
              <a:buSzPct val="100000"/>
              <a:buChar char="•"/>
            </a:pPr>
            <a:r>
              <a:rPr lang="en-US" sz="1400" dirty="0">
                <a:solidFill>
                  <a:srgbClr val="4A5264"/>
                </a:solidFill>
                <a:latin typeface="Calibri" pitchFamily="34" charset="0"/>
                <a:ea typeface="Calibri" pitchFamily="34" charset="-122"/>
                <a:cs typeface="Calibri" pitchFamily="34" charset="-120"/>
              </a:rPr>
              <a:t>Its language rules were written in Prolog with the Regulus toolkit and compiled into the speech recogniser.</a:t>
            </a:r>
            <a:endParaRPr lang="en-US" sz="1400" dirty="0"/>
          </a:p>
        </p:txBody>
      </p:sp>
      <p:sp>
        <p:nvSpPr>
          <p:cNvPr id="19" name="Shape 16"/>
          <p:cNvSpPr/>
          <p:nvPr/>
        </p:nvSpPr>
        <p:spPr>
          <a:xfrm>
            <a:off x="6426220" y="4406859"/>
            <a:ext cx="4724430" cy="1079541"/>
          </a:xfrm>
          <a:prstGeom prst="roundRect">
            <a:avLst>
              <a:gd name="adj" fmla="val 6776"/>
            </a:avLst>
          </a:prstGeom>
          <a:solidFill>
            <a:srgbClr val="EFEEE9"/>
          </a:solidFill>
          <a:ln/>
        </p:spPr>
      </p:sp>
      <p:sp>
        <p:nvSpPr>
          <p:cNvPr id="20" name="Text 17"/>
          <p:cNvSpPr txBox="1"/>
          <p:nvPr/>
        </p:nvSpPr>
        <p:spPr>
          <a:xfrm>
            <a:off x="6603980" y="4406859"/>
            <a:ext cx="4368820" cy="1079541"/>
          </a:xfrm>
          <a:prstGeom prst="rect">
            <a:avLst/>
          </a:prstGeom>
          <a:noFill/>
          <a:ln/>
        </p:spPr>
        <p:txBody>
          <a:bodyPr wrap="square" lIns="0" tIns="0" rIns="0" bIns="0" rtlCol="0" anchor="ctr"/>
          <a:lstStyle/>
          <a:p>
            <a:pPr indent="0" marL="0">
              <a:lnSpc>
                <a:spcPct val="110000"/>
              </a:lnSpc>
              <a:buNone/>
            </a:pPr>
            <a:r>
              <a:rPr lang="en-US" sz="1300" b="1" dirty="0">
                <a:solidFill>
                  <a:srgbClr val="1B2233"/>
                </a:solidFill>
                <a:latin typeface="Calibri" pitchFamily="34" charset="0"/>
                <a:ea typeface="Calibri" pitchFamily="34" charset="-122"/>
                <a:cs typeface="Calibri" pitchFamily="34" charset="-120"/>
              </a:rPr>
              <a:t>Lesson:</a:t>
            </a:r>
            <a:pPr indent="0" marL="0">
              <a:lnSpc>
                <a:spcPct val="110000"/>
              </a:lnSpc>
              <a:buNone/>
            </a:pPr>
            <a:r>
              <a:rPr lang="en-US" sz="1300" dirty="0">
                <a:solidFill>
                  <a:srgbClr val="1B2233"/>
                </a:solidFill>
                <a:latin typeface="Calibri" pitchFamily="34" charset="0"/>
                <a:ea typeface="Calibri" pitchFamily="34" charset="-122"/>
                <a:cs typeface="Calibri" pitchFamily="34" charset="-120"/>
              </a:rPr>
              <a:t> declarative rules are compact and inspectable, which matters where software must be trusted.</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06 · LIMITATIONS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Limitations of rule-based expert systems</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Sources: Durkin (1994); Russell &amp; Norvig (2020), Ch. 1; Giarratano &amp; Riley (2005); Clancey (1983)</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28</a:t>
            </a:r>
            <a:endParaRPr lang="en-US" sz="1200" dirty="0"/>
          </a:p>
        </p:txBody>
      </p:sp>
      <p:sp>
        <p:nvSpPr>
          <p:cNvPr id="7" name="Shape 4"/>
          <p:cNvSpPr/>
          <p:nvPr/>
        </p:nvSpPr>
        <p:spPr>
          <a:xfrm>
            <a:off x="812810" y="1701790"/>
            <a:ext cx="3384560" cy="1841510"/>
          </a:xfrm>
          <a:prstGeom prst="roundRect">
            <a:avLst>
              <a:gd name="adj" fmla="val 4965"/>
            </a:avLst>
          </a:prstGeom>
          <a:solidFill>
            <a:srgbClr val="FFFFFF"/>
          </a:solidFill>
          <a:ln w="12700">
            <a:solidFill>
              <a:srgbClr val="E3E1DA"/>
            </a:solidFill>
            <a:prstDash val="solid"/>
          </a:ln>
        </p:spPr>
      </p:sp>
      <p:sp>
        <p:nvSpPr>
          <p:cNvPr id="8" name="Shape 5"/>
          <p:cNvSpPr/>
          <p:nvPr/>
        </p:nvSpPr>
        <p:spPr>
          <a:xfrm>
            <a:off x="990570" y="1854220"/>
            <a:ext cx="304770" cy="304770"/>
          </a:xfrm>
          <a:prstGeom prst="ellipse">
            <a:avLst/>
          </a:prstGeom>
          <a:solidFill>
            <a:srgbClr val="A8441A"/>
          </a:solidFill>
          <a:ln/>
        </p:spPr>
      </p:sp>
      <p:sp>
        <p:nvSpPr>
          <p:cNvPr id="9" name="Text 6"/>
          <p:cNvSpPr txBox="1"/>
          <p:nvPr/>
        </p:nvSpPr>
        <p:spPr>
          <a:xfrm>
            <a:off x="990570" y="1854220"/>
            <a:ext cx="304770" cy="30477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7"/>
          <p:cNvSpPr txBox="1"/>
          <p:nvPr/>
        </p:nvSpPr>
        <p:spPr>
          <a:xfrm>
            <a:off x="1422441" y="1854220"/>
            <a:ext cx="2622591" cy="304770"/>
          </a:xfrm>
          <a:prstGeom prst="rect">
            <a:avLst/>
          </a:prstGeom>
          <a:noFill/>
          <a:ln/>
        </p:spPr>
        <p:txBody>
          <a:bodyPr wrap="square" lIns="0" tIns="0" rIns="0" bIns="0" rtlCol="0" anchor="ctr"/>
          <a:lstStyle/>
          <a:p>
            <a:pPr indent="0" marL="0">
              <a:buNone/>
            </a:pPr>
            <a:r>
              <a:rPr lang="en-US" sz="1500" b="1" dirty="0">
                <a:solidFill>
                  <a:srgbClr val="1B2233"/>
                </a:solidFill>
                <a:latin typeface="Calibri" pitchFamily="34" charset="0"/>
                <a:ea typeface="Calibri" pitchFamily="34" charset="-122"/>
                <a:cs typeface="Calibri" pitchFamily="34" charset="-120"/>
              </a:rPr>
              <a:t>Knowledge acquisition</a:t>
            </a:r>
            <a:endParaRPr lang="en-US" sz="1500" dirty="0"/>
          </a:p>
        </p:txBody>
      </p:sp>
      <p:sp>
        <p:nvSpPr>
          <p:cNvPr id="11" name="Text 8"/>
          <p:cNvSpPr txBox="1"/>
          <p:nvPr/>
        </p:nvSpPr>
        <p:spPr>
          <a:xfrm>
            <a:off x="990570" y="2260580"/>
            <a:ext cx="3028950" cy="1181130"/>
          </a:xfrm>
          <a:prstGeom prst="rect">
            <a:avLst/>
          </a:prstGeom>
          <a:noFill/>
          <a:ln/>
        </p:spPr>
        <p:txBody>
          <a:bodyPr wrap="square" lIns="0" tIns="0" rIns="0" bIns="0" rtlCol="0" anchor="t"/>
          <a:lstStyle/>
          <a:p>
            <a:pPr indent="0" marL="0">
              <a:lnSpc>
                <a:spcPct val="110000"/>
              </a:lnSpc>
              <a:buNone/>
            </a:pPr>
            <a:r>
              <a:rPr lang="en-US" sz="1300" dirty="0">
                <a:solidFill>
                  <a:srgbClr val="4A5264"/>
                </a:solidFill>
                <a:latin typeface="Calibri" pitchFamily="34" charset="0"/>
                <a:ea typeface="Calibri" pitchFamily="34" charset="-122"/>
                <a:cs typeface="Calibri" pitchFamily="34" charset="-120"/>
              </a:rPr>
              <a:t>Experts find it hard to state know-how as rules; eliciting and checking them is slow and costly.</a:t>
            </a:r>
            <a:endParaRPr lang="en-US" sz="1300" dirty="0"/>
          </a:p>
        </p:txBody>
      </p:sp>
      <p:sp>
        <p:nvSpPr>
          <p:cNvPr id="12" name="Shape 9"/>
          <p:cNvSpPr/>
          <p:nvPr/>
        </p:nvSpPr>
        <p:spPr>
          <a:xfrm>
            <a:off x="4400550" y="1701790"/>
            <a:ext cx="3384560" cy="1841510"/>
          </a:xfrm>
          <a:prstGeom prst="roundRect">
            <a:avLst>
              <a:gd name="adj" fmla="val 4965"/>
            </a:avLst>
          </a:prstGeom>
          <a:solidFill>
            <a:srgbClr val="FFFFFF"/>
          </a:solidFill>
          <a:ln w="12700">
            <a:solidFill>
              <a:srgbClr val="E3E1DA"/>
            </a:solidFill>
            <a:prstDash val="solid"/>
          </a:ln>
        </p:spPr>
      </p:sp>
      <p:sp>
        <p:nvSpPr>
          <p:cNvPr id="13" name="Shape 10"/>
          <p:cNvSpPr/>
          <p:nvPr/>
        </p:nvSpPr>
        <p:spPr>
          <a:xfrm>
            <a:off x="4578309" y="1854220"/>
            <a:ext cx="304770" cy="304770"/>
          </a:xfrm>
          <a:prstGeom prst="ellipse">
            <a:avLst/>
          </a:prstGeom>
          <a:solidFill>
            <a:srgbClr val="A8441A"/>
          </a:solidFill>
          <a:ln/>
        </p:spPr>
      </p:sp>
      <p:sp>
        <p:nvSpPr>
          <p:cNvPr id="14" name="Text 11"/>
          <p:cNvSpPr txBox="1"/>
          <p:nvPr/>
        </p:nvSpPr>
        <p:spPr>
          <a:xfrm>
            <a:off x="4578309" y="1854220"/>
            <a:ext cx="304770" cy="30477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2"/>
          <p:cNvSpPr txBox="1"/>
          <p:nvPr/>
        </p:nvSpPr>
        <p:spPr>
          <a:xfrm>
            <a:off x="5010180" y="1854220"/>
            <a:ext cx="2622591" cy="304770"/>
          </a:xfrm>
          <a:prstGeom prst="rect">
            <a:avLst/>
          </a:prstGeom>
          <a:noFill/>
          <a:ln/>
        </p:spPr>
        <p:txBody>
          <a:bodyPr wrap="square" lIns="0" tIns="0" rIns="0" bIns="0" rtlCol="0" anchor="ctr"/>
          <a:lstStyle/>
          <a:p>
            <a:pPr indent="0" marL="0">
              <a:buNone/>
            </a:pPr>
            <a:r>
              <a:rPr lang="en-US" sz="1500" b="1" dirty="0">
                <a:solidFill>
                  <a:srgbClr val="1B2233"/>
                </a:solidFill>
                <a:latin typeface="Calibri" pitchFamily="34" charset="0"/>
                <a:ea typeface="Calibri" pitchFamily="34" charset="-122"/>
                <a:cs typeface="Calibri" pitchFamily="34" charset="-120"/>
              </a:rPr>
              <a:t>Brittleness</a:t>
            </a:r>
            <a:endParaRPr lang="en-US" sz="1500" dirty="0"/>
          </a:p>
        </p:txBody>
      </p:sp>
      <p:sp>
        <p:nvSpPr>
          <p:cNvPr id="16" name="Text 13"/>
          <p:cNvSpPr txBox="1"/>
          <p:nvPr/>
        </p:nvSpPr>
        <p:spPr>
          <a:xfrm>
            <a:off x="4578309" y="2260580"/>
            <a:ext cx="3028950" cy="1181130"/>
          </a:xfrm>
          <a:prstGeom prst="rect">
            <a:avLst/>
          </a:prstGeom>
          <a:noFill/>
          <a:ln/>
        </p:spPr>
        <p:txBody>
          <a:bodyPr wrap="square" lIns="0" tIns="0" rIns="0" bIns="0" rtlCol="0" anchor="t"/>
          <a:lstStyle/>
          <a:p>
            <a:pPr indent="0" marL="0">
              <a:lnSpc>
                <a:spcPct val="110000"/>
              </a:lnSpc>
              <a:buNone/>
            </a:pPr>
            <a:r>
              <a:rPr lang="en-US" sz="1300" dirty="0">
                <a:solidFill>
                  <a:srgbClr val="4A5264"/>
                </a:solidFill>
                <a:latin typeface="Calibri" pitchFamily="34" charset="0"/>
                <a:ea typeface="Calibri" pitchFamily="34" charset="-122"/>
                <a:cs typeface="Calibri" pitchFamily="34" charset="-120"/>
              </a:rPr>
              <a:t>Outside its rules the system just fails: our shell cannot name a lion, and it has no common sense.</a:t>
            </a:r>
            <a:endParaRPr lang="en-US" sz="1300" dirty="0"/>
          </a:p>
        </p:txBody>
      </p:sp>
      <p:sp>
        <p:nvSpPr>
          <p:cNvPr id="17" name="Shape 14"/>
          <p:cNvSpPr/>
          <p:nvPr/>
        </p:nvSpPr>
        <p:spPr>
          <a:xfrm>
            <a:off x="7988290" y="1701790"/>
            <a:ext cx="3384560" cy="1841510"/>
          </a:xfrm>
          <a:prstGeom prst="roundRect">
            <a:avLst>
              <a:gd name="adj" fmla="val 4965"/>
            </a:avLst>
          </a:prstGeom>
          <a:solidFill>
            <a:srgbClr val="FFFFFF"/>
          </a:solidFill>
          <a:ln w="12700">
            <a:solidFill>
              <a:srgbClr val="E3E1DA"/>
            </a:solidFill>
            <a:prstDash val="solid"/>
          </a:ln>
        </p:spPr>
      </p:sp>
      <p:sp>
        <p:nvSpPr>
          <p:cNvPr id="18" name="Shape 15"/>
          <p:cNvSpPr/>
          <p:nvPr/>
        </p:nvSpPr>
        <p:spPr>
          <a:xfrm>
            <a:off x="8166141" y="1854220"/>
            <a:ext cx="304770" cy="304770"/>
          </a:xfrm>
          <a:prstGeom prst="ellipse">
            <a:avLst/>
          </a:prstGeom>
          <a:solidFill>
            <a:srgbClr val="A8441A"/>
          </a:solidFill>
          <a:ln/>
        </p:spPr>
      </p:sp>
      <p:sp>
        <p:nvSpPr>
          <p:cNvPr id="19" name="Text 16"/>
          <p:cNvSpPr txBox="1"/>
          <p:nvPr/>
        </p:nvSpPr>
        <p:spPr>
          <a:xfrm>
            <a:off x="8166141" y="1854220"/>
            <a:ext cx="304770" cy="30477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txBox="1"/>
          <p:nvPr/>
        </p:nvSpPr>
        <p:spPr>
          <a:xfrm>
            <a:off x="8597920" y="1854220"/>
            <a:ext cx="2622591" cy="304770"/>
          </a:xfrm>
          <a:prstGeom prst="rect">
            <a:avLst/>
          </a:prstGeom>
          <a:noFill/>
          <a:ln/>
        </p:spPr>
        <p:txBody>
          <a:bodyPr wrap="square" lIns="0" tIns="0" rIns="0" bIns="0" rtlCol="0" anchor="ctr"/>
          <a:lstStyle/>
          <a:p>
            <a:pPr indent="0" marL="0">
              <a:buNone/>
            </a:pPr>
            <a:r>
              <a:rPr lang="en-US" sz="1500" b="1" dirty="0">
                <a:solidFill>
                  <a:srgbClr val="1B2233"/>
                </a:solidFill>
                <a:latin typeface="Calibri" pitchFamily="34" charset="0"/>
                <a:ea typeface="Calibri" pitchFamily="34" charset="-122"/>
                <a:cs typeface="Calibri" pitchFamily="34" charset="-120"/>
              </a:rPr>
              <a:t>Uncertainty</a:t>
            </a:r>
            <a:endParaRPr lang="en-US" sz="1500" dirty="0"/>
          </a:p>
        </p:txBody>
      </p:sp>
      <p:sp>
        <p:nvSpPr>
          <p:cNvPr id="21" name="Text 18"/>
          <p:cNvSpPr txBox="1"/>
          <p:nvPr/>
        </p:nvSpPr>
        <p:spPr>
          <a:xfrm>
            <a:off x="8166141" y="2260580"/>
            <a:ext cx="3028950" cy="1181130"/>
          </a:xfrm>
          <a:prstGeom prst="rect">
            <a:avLst/>
          </a:prstGeom>
          <a:noFill/>
          <a:ln/>
        </p:spPr>
        <p:txBody>
          <a:bodyPr wrap="square" lIns="0" tIns="0" rIns="0" bIns="0" rtlCol="0" anchor="t"/>
          <a:lstStyle/>
          <a:p>
            <a:pPr indent="0" marL="0">
              <a:lnSpc>
                <a:spcPct val="110000"/>
              </a:lnSpc>
              <a:buNone/>
            </a:pPr>
            <a:r>
              <a:rPr lang="en-US" sz="1300" dirty="0">
                <a:solidFill>
                  <a:srgbClr val="4A5264"/>
                </a:solidFill>
                <a:latin typeface="Calibri" pitchFamily="34" charset="0"/>
                <a:ea typeface="Calibri" pitchFamily="34" charset="-122"/>
                <a:cs typeface="Calibri" pitchFamily="34" charset="-120"/>
              </a:rPr>
              <a:t>Plain rules are true or false, but evidence is partial; add-ons like certainty factors are needed.</a:t>
            </a:r>
            <a:endParaRPr lang="en-US" sz="1300" dirty="0"/>
          </a:p>
        </p:txBody>
      </p:sp>
      <p:sp>
        <p:nvSpPr>
          <p:cNvPr id="22" name="Shape 19"/>
          <p:cNvSpPr/>
          <p:nvPr/>
        </p:nvSpPr>
        <p:spPr>
          <a:xfrm>
            <a:off x="812810" y="3708441"/>
            <a:ext cx="3384560" cy="1841510"/>
          </a:xfrm>
          <a:prstGeom prst="roundRect">
            <a:avLst>
              <a:gd name="adj" fmla="val 4965"/>
            </a:avLst>
          </a:prstGeom>
          <a:solidFill>
            <a:srgbClr val="FFFFFF"/>
          </a:solidFill>
          <a:ln w="12700">
            <a:solidFill>
              <a:srgbClr val="E3E1DA"/>
            </a:solidFill>
            <a:prstDash val="solid"/>
          </a:ln>
        </p:spPr>
      </p:sp>
      <p:sp>
        <p:nvSpPr>
          <p:cNvPr id="23" name="Shape 20"/>
          <p:cNvSpPr/>
          <p:nvPr/>
        </p:nvSpPr>
        <p:spPr>
          <a:xfrm>
            <a:off x="990570" y="3860780"/>
            <a:ext cx="304770" cy="304770"/>
          </a:xfrm>
          <a:prstGeom prst="ellipse">
            <a:avLst/>
          </a:prstGeom>
          <a:solidFill>
            <a:srgbClr val="2F5DA8"/>
          </a:solidFill>
          <a:ln/>
        </p:spPr>
      </p:sp>
      <p:sp>
        <p:nvSpPr>
          <p:cNvPr id="24" name="Text 21"/>
          <p:cNvSpPr txBox="1"/>
          <p:nvPr/>
        </p:nvSpPr>
        <p:spPr>
          <a:xfrm>
            <a:off x="990570" y="3860780"/>
            <a:ext cx="304770" cy="30477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2"/>
          <p:cNvSpPr txBox="1"/>
          <p:nvPr/>
        </p:nvSpPr>
        <p:spPr>
          <a:xfrm>
            <a:off x="1422441" y="3860780"/>
            <a:ext cx="2622591" cy="304770"/>
          </a:xfrm>
          <a:prstGeom prst="rect">
            <a:avLst/>
          </a:prstGeom>
          <a:noFill/>
          <a:ln/>
        </p:spPr>
        <p:txBody>
          <a:bodyPr wrap="square" lIns="0" tIns="0" rIns="0" bIns="0" rtlCol="0" anchor="ctr"/>
          <a:lstStyle/>
          <a:p>
            <a:pPr indent="0" marL="0">
              <a:buNone/>
            </a:pPr>
            <a:r>
              <a:rPr lang="en-US" sz="1500" b="1" dirty="0">
                <a:solidFill>
                  <a:srgbClr val="1B2233"/>
                </a:solidFill>
                <a:latin typeface="Calibri" pitchFamily="34" charset="0"/>
                <a:ea typeface="Calibri" pitchFamily="34" charset="-122"/>
                <a:cs typeface="Calibri" pitchFamily="34" charset="-120"/>
              </a:rPr>
              <a:t>Maintenance at scale</a:t>
            </a:r>
            <a:endParaRPr lang="en-US" sz="1500" dirty="0"/>
          </a:p>
        </p:txBody>
      </p:sp>
      <p:sp>
        <p:nvSpPr>
          <p:cNvPr id="26" name="Text 23"/>
          <p:cNvSpPr txBox="1"/>
          <p:nvPr/>
        </p:nvSpPr>
        <p:spPr>
          <a:xfrm>
            <a:off x="990570" y="4267230"/>
            <a:ext cx="3028950" cy="1181130"/>
          </a:xfrm>
          <a:prstGeom prst="rect">
            <a:avLst/>
          </a:prstGeom>
          <a:noFill/>
          <a:ln/>
        </p:spPr>
        <p:txBody>
          <a:bodyPr wrap="square" lIns="0" tIns="0" rIns="0" bIns="0" rtlCol="0" anchor="t"/>
          <a:lstStyle/>
          <a:p>
            <a:pPr indent="0" marL="0">
              <a:lnSpc>
                <a:spcPct val="110000"/>
              </a:lnSpc>
              <a:buNone/>
            </a:pPr>
            <a:r>
              <a:rPr lang="en-US" sz="1300" dirty="0">
                <a:solidFill>
                  <a:srgbClr val="4A5264"/>
                </a:solidFill>
                <a:latin typeface="Calibri" pitchFamily="34" charset="0"/>
                <a:ea typeface="Calibri" pitchFamily="34" charset="-122"/>
                <a:cs typeface="Calibri" pitchFamily="34" charset="-120"/>
              </a:rPr>
              <a:t>Rules interact in hidden ways; XCON grew to thousands of rules that became costly to change safely.</a:t>
            </a:r>
            <a:endParaRPr lang="en-US" sz="1300" dirty="0"/>
          </a:p>
        </p:txBody>
      </p:sp>
      <p:sp>
        <p:nvSpPr>
          <p:cNvPr id="27" name="Shape 24"/>
          <p:cNvSpPr/>
          <p:nvPr/>
        </p:nvSpPr>
        <p:spPr>
          <a:xfrm>
            <a:off x="4400550" y="3708441"/>
            <a:ext cx="3384560" cy="1841510"/>
          </a:xfrm>
          <a:prstGeom prst="roundRect">
            <a:avLst>
              <a:gd name="adj" fmla="val 4965"/>
            </a:avLst>
          </a:prstGeom>
          <a:solidFill>
            <a:srgbClr val="FFFFFF"/>
          </a:solidFill>
          <a:ln w="12700">
            <a:solidFill>
              <a:srgbClr val="E3E1DA"/>
            </a:solidFill>
            <a:prstDash val="solid"/>
          </a:ln>
        </p:spPr>
      </p:sp>
      <p:sp>
        <p:nvSpPr>
          <p:cNvPr id="28" name="Shape 25"/>
          <p:cNvSpPr/>
          <p:nvPr/>
        </p:nvSpPr>
        <p:spPr>
          <a:xfrm>
            <a:off x="4578309" y="3860780"/>
            <a:ext cx="304770" cy="304770"/>
          </a:xfrm>
          <a:prstGeom prst="ellipse">
            <a:avLst/>
          </a:prstGeom>
          <a:solidFill>
            <a:srgbClr val="2F5DA8"/>
          </a:solidFill>
          <a:ln/>
        </p:spPr>
      </p:sp>
      <p:sp>
        <p:nvSpPr>
          <p:cNvPr id="29" name="Text 26"/>
          <p:cNvSpPr txBox="1"/>
          <p:nvPr/>
        </p:nvSpPr>
        <p:spPr>
          <a:xfrm>
            <a:off x="4578309" y="3860780"/>
            <a:ext cx="304770" cy="30477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0" name="Text 27"/>
          <p:cNvSpPr txBox="1"/>
          <p:nvPr/>
        </p:nvSpPr>
        <p:spPr>
          <a:xfrm>
            <a:off x="5010180" y="3860780"/>
            <a:ext cx="2622591" cy="304770"/>
          </a:xfrm>
          <a:prstGeom prst="rect">
            <a:avLst/>
          </a:prstGeom>
          <a:noFill/>
          <a:ln/>
        </p:spPr>
        <p:txBody>
          <a:bodyPr wrap="square" lIns="0" tIns="0" rIns="0" bIns="0" rtlCol="0" anchor="ctr"/>
          <a:lstStyle/>
          <a:p>
            <a:pPr indent="0" marL="0">
              <a:buNone/>
            </a:pPr>
            <a:r>
              <a:rPr lang="en-US" sz="1500" b="1" dirty="0">
                <a:solidFill>
                  <a:srgbClr val="1B2233"/>
                </a:solidFill>
                <a:latin typeface="Calibri" pitchFamily="34" charset="0"/>
                <a:ea typeface="Calibri" pitchFamily="34" charset="-122"/>
                <a:cs typeface="Calibri" pitchFamily="34" charset="-120"/>
              </a:rPr>
              <a:t>Rigid dialogue</a:t>
            </a:r>
            <a:endParaRPr lang="en-US" sz="1500" dirty="0"/>
          </a:p>
        </p:txBody>
      </p:sp>
      <p:sp>
        <p:nvSpPr>
          <p:cNvPr id="31" name="Text 28"/>
          <p:cNvSpPr txBox="1"/>
          <p:nvPr/>
        </p:nvSpPr>
        <p:spPr>
          <a:xfrm>
            <a:off x="4578309" y="4267230"/>
            <a:ext cx="3028950" cy="1181130"/>
          </a:xfrm>
          <a:prstGeom prst="rect">
            <a:avLst/>
          </a:prstGeom>
          <a:noFill/>
          <a:ln/>
        </p:spPr>
        <p:txBody>
          <a:bodyPr wrap="square" lIns="0" tIns="0" rIns="0" bIns="0" rtlCol="0" anchor="t"/>
          <a:lstStyle/>
          <a:p>
            <a:pPr indent="0" marL="0">
              <a:lnSpc>
                <a:spcPct val="110000"/>
              </a:lnSpc>
              <a:buNone/>
            </a:pPr>
            <a:r>
              <a:rPr lang="en-US" sz="1300" dirty="0">
                <a:solidFill>
                  <a:srgbClr val="4A5264"/>
                </a:solidFill>
                <a:latin typeface="Calibri" pitchFamily="34" charset="0"/>
                <a:ea typeface="Calibri" pitchFamily="34" charset="-122"/>
                <a:cs typeface="Calibri" pitchFamily="34" charset="-120"/>
              </a:rPr>
              <a:t>Questions follow rule order, not the most informative next question, and answers cannot be revised.</a:t>
            </a:r>
            <a:endParaRPr lang="en-US" sz="1300" dirty="0"/>
          </a:p>
        </p:txBody>
      </p:sp>
      <p:sp>
        <p:nvSpPr>
          <p:cNvPr id="32" name="Shape 29"/>
          <p:cNvSpPr/>
          <p:nvPr/>
        </p:nvSpPr>
        <p:spPr>
          <a:xfrm>
            <a:off x="7988290" y="3708441"/>
            <a:ext cx="3384560" cy="1841510"/>
          </a:xfrm>
          <a:prstGeom prst="roundRect">
            <a:avLst>
              <a:gd name="adj" fmla="val 4965"/>
            </a:avLst>
          </a:prstGeom>
          <a:solidFill>
            <a:srgbClr val="FFFFFF"/>
          </a:solidFill>
          <a:ln w="12700">
            <a:solidFill>
              <a:srgbClr val="E3E1DA"/>
            </a:solidFill>
            <a:prstDash val="solid"/>
          </a:ln>
        </p:spPr>
      </p:sp>
      <p:sp>
        <p:nvSpPr>
          <p:cNvPr id="33" name="Shape 30"/>
          <p:cNvSpPr/>
          <p:nvPr/>
        </p:nvSpPr>
        <p:spPr>
          <a:xfrm>
            <a:off x="8166141" y="3860780"/>
            <a:ext cx="304770" cy="304770"/>
          </a:xfrm>
          <a:prstGeom prst="ellipse">
            <a:avLst/>
          </a:prstGeom>
          <a:solidFill>
            <a:srgbClr val="2F5DA8"/>
          </a:solidFill>
          <a:ln/>
        </p:spPr>
      </p:sp>
      <p:sp>
        <p:nvSpPr>
          <p:cNvPr id="34" name="Text 31"/>
          <p:cNvSpPr txBox="1"/>
          <p:nvPr/>
        </p:nvSpPr>
        <p:spPr>
          <a:xfrm>
            <a:off x="8166141" y="3860780"/>
            <a:ext cx="304770" cy="30477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5" name="Text 32"/>
          <p:cNvSpPr txBox="1"/>
          <p:nvPr/>
        </p:nvSpPr>
        <p:spPr>
          <a:xfrm>
            <a:off x="8597920" y="3860780"/>
            <a:ext cx="2622591" cy="304770"/>
          </a:xfrm>
          <a:prstGeom prst="rect">
            <a:avLst/>
          </a:prstGeom>
          <a:noFill/>
          <a:ln/>
        </p:spPr>
        <p:txBody>
          <a:bodyPr wrap="square" lIns="0" tIns="0" rIns="0" bIns="0" rtlCol="0" anchor="ctr"/>
          <a:lstStyle/>
          <a:p>
            <a:pPr indent="0" marL="0">
              <a:buNone/>
            </a:pPr>
            <a:r>
              <a:rPr lang="en-US" sz="1500" b="1" dirty="0">
                <a:solidFill>
                  <a:srgbClr val="1B2233"/>
                </a:solidFill>
                <a:latin typeface="Calibri" pitchFamily="34" charset="0"/>
                <a:ea typeface="Calibri" pitchFamily="34" charset="-122"/>
                <a:cs typeface="Calibri" pitchFamily="34" charset="-120"/>
              </a:rPr>
              <a:t>Shallow explanations</a:t>
            </a:r>
            <a:endParaRPr lang="en-US" sz="1500" dirty="0"/>
          </a:p>
        </p:txBody>
      </p:sp>
      <p:sp>
        <p:nvSpPr>
          <p:cNvPr id="36" name="Text 33"/>
          <p:cNvSpPr txBox="1"/>
          <p:nvPr/>
        </p:nvSpPr>
        <p:spPr>
          <a:xfrm>
            <a:off x="8166141" y="4267230"/>
            <a:ext cx="3028950" cy="1181130"/>
          </a:xfrm>
          <a:prstGeom prst="rect">
            <a:avLst/>
          </a:prstGeom>
          <a:noFill/>
          <a:ln/>
        </p:spPr>
        <p:txBody>
          <a:bodyPr wrap="square" lIns="0" tIns="0" rIns="0" bIns="0" rtlCol="0" anchor="t"/>
          <a:lstStyle/>
          <a:p>
            <a:pPr indent="0" marL="0">
              <a:lnSpc>
                <a:spcPct val="110000"/>
              </a:lnSpc>
              <a:buNone/>
            </a:pPr>
            <a:r>
              <a:rPr lang="en-US" sz="1300" dirty="0">
                <a:solidFill>
                  <a:srgbClr val="4A5264"/>
                </a:solidFill>
                <a:latin typeface="Calibri" pitchFamily="34" charset="0"/>
                <a:ea typeface="Calibri" pitchFamily="34" charset="-122"/>
                <a:cs typeface="Calibri" pitchFamily="34" charset="-120"/>
              </a:rPr>
              <a:t>HOW replays the rules used; it cannot justify why a rule itself is true (Clancey, 1983).</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06 · LIMITATIONS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Prolog-specific challenges</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indent="0" marL="0">
              <a:buNone/>
            </a:pPr>
            <a:r>
              <a:rPr lang="en-US" sz="1200" dirty="0">
                <a:solidFill>
                  <a:srgbClr val="5F6573"/>
                </a:solidFill>
                <a:latin typeface="Calibri" pitchFamily="34" charset="0"/>
                <a:ea typeface="Calibri" pitchFamily="34" charset="-122"/>
                <a:cs typeface="Calibri" pitchFamily="34" charset="-120"/>
              </a:rPr>
              <a:t>Sources: Bratko (2012), Ch. 2 and 5; output from SWI-Prolog 10 (abridged)</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29</a:t>
            </a:r>
            <a:endParaRPr lang="en-US" sz="1200" dirty="0"/>
          </a:p>
        </p:txBody>
      </p:sp>
      <p:sp>
        <p:nvSpPr>
          <p:cNvPr id="7" name="Text 4"/>
          <p:cNvSpPr txBox="1"/>
          <p:nvPr/>
        </p:nvSpPr>
        <p:spPr>
          <a:xfrm>
            <a:off x="812810" y="1701790"/>
            <a:ext cx="5206959" cy="4063959"/>
          </a:xfrm>
          <a:prstGeom prst="rect">
            <a:avLst/>
          </a:prstGeom>
          <a:noFill/>
          <a:ln/>
        </p:spPr>
        <p:txBody>
          <a:bodyPr wrap="square" lIns="0" tIns="0" rIns="0" bIns="0" rtlCol="0" anchor="t"/>
          <a:lstStyle/>
          <a:p>
            <a:pPr marL="254000" indent="-254000">
              <a:lnSpc>
                <a:spcPct val="110000"/>
              </a:lnSpc>
              <a:spcAft>
                <a:spcPts val="1600"/>
              </a:spcAft>
              <a:buSzPct val="100000"/>
              <a:buChar char="•"/>
            </a:pPr>
            <a:r>
              <a:rPr lang="en-US" sz="1400" b="1" dirty="0">
                <a:solidFill>
                  <a:srgbClr val="4A5264"/>
                </a:solidFill>
                <a:latin typeface="Calibri" pitchFamily="34" charset="0"/>
                <a:ea typeface="Calibri" pitchFamily="34" charset="-122"/>
                <a:cs typeface="Calibri" pitchFamily="34" charset="-120"/>
              </a:rPr>
              <a:t>Infinite loops:</a:t>
            </a:r>
            <a:pPr indent="0" marL="0">
              <a:lnSpc>
                <a:spcPct val="110000"/>
              </a:lnSpc>
              <a:buNone/>
            </a:pPr>
            <a:r>
              <a:rPr lang="en-US" sz="1400" dirty="0">
                <a:solidFill>
                  <a:srgbClr val="4A5264"/>
                </a:solidFill>
                <a:latin typeface="Calibri" pitchFamily="34" charset="0"/>
                <a:ea typeface="Calibri" pitchFamily="34" charset="-122"/>
                <a:cs typeface="Calibri" pitchFamily="34" charset="-120"/>
              </a:rPr>
              <a:t> depth-first search never ends on a left-recursive rule.</a:t>
            </a:r>
            <a:endParaRPr lang="en-US" sz="1400" dirty="0"/>
          </a:p>
          <a:p>
            <a:pPr marL="254000" indent="-254000">
              <a:lnSpc>
                <a:spcPct val="110000"/>
              </a:lnSpc>
              <a:spcAft>
                <a:spcPts val="1600"/>
              </a:spcAft>
              <a:buSzPct val="100000"/>
              <a:buChar char="•"/>
            </a:pPr>
            <a:r>
              <a:rPr lang="en-US" sz="1400" b="1" dirty="0">
                <a:solidFill>
                  <a:srgbClr val="4A5264"/>
                </a:solidFill>
                <a:latin typeface="Calibri" pitchFamily="34" charset="0"/>
                <a:ea typeface="Calibri" pitchFamily="34" charset="-122"/>
                <a:cs typeface="Calibri" pitchFamily="34" charset="-120"/>
              </a:rPr>
              <a:t>Order matters:</a:t>
            </a:r>
            <a:pPr indent="0" marL="0">
              <a:lnSpc>
                <a:spcPct val="110000"/>
              </a:lnSpc>
              <a:buNone/>
            </a:pPr>
            <a:r>
              <a:rPr lang="en-US" sz="1400" dirty="0">
                <a:solidFill>
                  <a:srgbClr val="4A5264"/>
                </a:solidFill>
                <a:latin typeface="Calibri" pitchFamily="34" charset="0"/>
                <a:ea typeface="Calibri" pitchFamily="34" charset="-122"/>
                <a:cs typeface="Calibri" pitchFamily="34" charset="-120"/>
              </a:rPr>
              <a:t> clause and goal order change behaviour, so Prolog is not purely declarative.</a:t>
            </a:r>
            <a:endParaRPr lang="en-US" sz="1400" dirty="0"/>
          </a:p>
          <a:p>
            <a:pPr marL="254000" indent="-254000">
              <a:lnSpc>
                <a:spcPct val="110000"/>
              </a:lnSpc>
              <a:spcAft>
                <a:spcPts val="1600"/>
              </a:spcAft>
              <a:buSzPct val="100000"/>
              <a:buChar char="•"/>
            </a:pPr>
            <a:r>
              <a:rPr lang="en-US" sz="1400" b="1" dirty="0">
                <a:solidFill>
                  <a:srgbClr val="4A5264"/>
                </a:solidFill>
                <a:latin typeface="Calibri" pitchFamily="34" charset="0"/>
                <a:ea typeface="Calibri" pitchFamily="34" charset="-122"/>
                <a:cs typeface="Calibri" pitchFamily="34" charset="-120"/>
              </a:rPr>
              <a:t>Closed world:</a:t>
            </a:r>
            <a:pPr indent="0" marL="0">
              <a:lnSpc>
                <a:spcPct val="110000"/>
              </a:lnSpc>
              <a:buNone/>
            </a:pPr>
            <a:r>
              <a:rPr lang="en-US" sz="1400" dirty="0">
                <a:solidFill>
                  <a:srgbClr val="4A5264"/>
                </a:solidFill>
                <a:latin typeface="Calibri" pitchFamily="34" charset="0"/>
                <a:ea typeface="Calibri" pitchFamily="34" charset="-122"/>
                <a:cs typeface="Calibri" pitchFamily="34" charset="-120"/>
              </a:rPr>
              <a:t> negation as failure treats "cannot prove" as "false".</a:t>
            </a:r>
            <a:endParaRPr lang="en-US" sz="1400" dirty="0"/>
          </a:p>
          <a:p>
            <a:pPr marL="254000" indent="-254000">
              <a:lnSpc>
                <a:spcPct val="110000"/>
              </a:lnSpc>
              <a:spcAft>
                <a:spcPts val="1600"/>
              </a:spcAft>
              <a:buSzPct val="100000"/>
              <a:buChar char="•"/>
            </a:pPr>
            <a:r>
              <a:rPr lang="en-US" sz="1400" b="1" dirty="0">
                <a:solidFill>
                  <a:srgbClr val="4A5264"/>
                </a:solidFill>
                <a:latin typeface="Calibri" pitchFamily="34" charset="0"/>
                <a:ea typeface="Calibri" pitchFamily="34" charset="-122"/>
                <a:cs typeface="Calibri" pitchFamily="34" charset="-120"/>
              </a:rPr>
              <a:t>Cut (!):</a:t>
            </a:r>
            <a:pPr indent="0" marL="0">
              <a:lnSpc>
                <a:spcPct val="110000"/>
              </a:lnSpc>
              <a:buNone/>
            </a:pPr>
            <a:r>
              <a:rPr lang="en-US" sz="1400" dirty="0">
                <a:solidFill>
                  <a:srgbClr val="4A5264"/>
                </a:solidFill>
                <a:latin typeface="Calibri" pitchFamily="34" charset="0"/>
                <a:ea typeface="Calibri" pitchFamily="34" charset="-122"/>
                <a:cs typeface="Calibri" pitchFamily="34" charset="-120"/>
              </a:rPr>
              <a:t> speeds programs up but can silently change their meaning.</a:t>
            </a:r>
            <a:endParaRPr lang="en-US" sz="1400" dirty="0"/>
          </a:p>
          <a:p>
            <a:pPr marL="254000" indent="-254000">
              <a:lnSpc>
                <a:spcPct val="110000"/>
              </a:lnSpc>
              <a:spcAft>
                <a:spcPts val="1600"/>
              </a:spcAft>
              <a:buSzPct val="100000"/>
              <a:buChar char="•"/>
            </a:pPr>
            <a:r>
              <a:rPr lang="en-US" sz="1400" b="1" dirty="0">
                <a:solidFill>
                  <a:srgbClr val="4A5264"/>
                </a:solidFill>
                <a:latin typeface="Calibri" pitchFamily="34" charset="0"/>
                <a:ea typeface="Calibri" pitchFamily="34" charset="-122"/>
                <a:cs typeface="Calibri" pitchFamily="34" charset="-120"/>
              </a:rPr>
              <a:t>Fragile input:</a:t>
            </a:r>
            <a:pPr indent="0" marL="0">
              <a:lnSpc>
                <a:spcPct val="110000"/>
              </a:lnSpc>
              <a:buNone/>
            </a:pPr>
            <a:r>
              <a:rPr lang="en-US" sz="1400" dirty="0">
                <a:solidFill>
                  <a:srgbClr val="4A5264"/>
                </a:solidFill>
                <a:latin typeface="Calibri" pitchFamily="34" charset="0"/>
                <a:ea typeface="Calibri" pitchFamily="34" charset="-122"/>
                <a:cs typeface="Calibri" pitchFamily="34" charset="-120"/>
              </a:rPr>
              <a:t> with read/1, a missing full stop leaves the user waiting.</a:t>
            </a:r>
            <a:endParaRPr lang="en-US" sz="1400" dirty="0"/>
          </a:p>
        </p:txBody>
      </p:sp>
      <p:sp>
        <p:nvSpPr>
          <p:cNvPr id="8" name="Shape 5"/>
          <p:cNvSpPr/>
          <p:nvPr/>
        </p:nvSpPr>
        <p:spPr>
          <a:xfrm>
            <a:off x="6349959" y="1701790"/>
            <a:ext cx="5029200" cy="2012960"/>
          </a:xfrm>
          <a:prstGeom prst="roundRect">
            <a:avLst>
              <a:gd name="adj" fmla="val 4543"/>
            </a:avLst>
          </a:prstGeom>
          <a:solidFill>
            <a:srgbClr val="1E2433"/>
          </a:solidFill>
          <a:ln/>
        </p:spPr>
      </p:sp>
      <p:sp>
        <p:nvSpPr>
          <p:cNvPr id="9" name="Text 6"/>
          <p:cNvSpPr txBox="1"/>
          <p:nvPr/>
        </p:nvSpPr>
        <p:spPr>
          <a:xfrm>
            <a:off x="6527810" y="1854220"/>
            <a:ext cx="4673590" cy="1708191"/>
          </a:xfrm>
          <a:prstGeom prst="rect">
            <a:avLst/>
          </a:prstGeom>
          <a:noFill/>
          <a:ln/>
        </p:spPr>
        <p:txBody>
          <a:bodyPr wrap="square" lIns="0" tIns="0" rIns="0" bIns="0" rtlCol="0" anchor="t"/>
          <a:lstStyle/>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left recursion: never terminates</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ancestor(X, Z) :- ancestor(X, Y), parent(Y, Z).</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ancestor(X, Z) :- parent(X, Z).</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run with: swipl --stack-limit=16m</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ancestor(tom, ann).</a:t>
            </a:r>
            <a:endParaRPr lang="en-US" sz="1200" dirty="0"/>
          </a:p>
          <a:p>
            <a:pPr indent="0" marL="0">
              <a:lnSpc>
                <a:spcPts val="1680"/>
              </a:lnSpc>
              <a:buNone/>
            </a:pPr>
            <a:r>
              <a:rPr lang="en-US" sz="1200" dirty="0">
                <a:solidFill>
                  <a:srgbClr val="F2A65A"/>
                </a:solidFill>
                <a:latin typeface="Consolas" pitchFamily="34" charset="0"/>
                <a:ea typeface="Consolas" pitchFamily="34" charset="-122"/>
                <a:cs typeface="Consolas" pitchFamily="34" charset="-120"/>
              </a:rPr>
              <a:t>ERROR: Stack limit (16.0Mb) exceeded</a:t>
            </a:r>
            <a:endParaRPr lang="en-US" sz="1200" dirty="0"/>
          </a:p>
          <a:p>
            <a:pPr indent="0" marL="0">
              <a:lnSpc>
                <a:spcPts val="1680"/>
              </a:lnSpc>
              <a:buNone/>
            </a:pPr>
            <a:r>
              <a:rPr lang="en-US" sz="1200" dirty="0">
                <a:solidFill>
                  <a:srgbClr val="F2A65A"/>
                </a:solidFill>
                <a:latin typeface="Consolas" pitchFamily="34" charset="0"/>
                <a:ea typeface="Consolas" pitchFamily="34" charset="-122"/>
                <a:cs typeface="Consolas" pitchFamily="34" charset="-120"/>
              </a:rPr>
              <a:t>ERROR:   Probable infinite recursion (cycle)</a:t>
            </a:r>
            <a:endParaRPr lang="en-US" sz="1200" dirty="0"/>
          </a:p>
        </p:txBody>
      </p:sp>
      <p:sp>
        <p:nvSpPr>
          <p:cNvPr id="10" name="Shape 7"/>
          <p:cNvSpPr/>
          <p:nvPr/>
        </p:nvSpPr>
        <p:spPr>
          <a:xfrm>
            <a:off x="6349959" y="3892509"/>
            <a:ext cx="5029200" cy="1587490"/>
          </a:xfrm>
          <a:prstGeom prst="roundRect">
            <a:avLst>
              <a:gd name="adj" fmla="val 5760"/>
            </a:avLst>
          </a:prstGeom>
          <a:solidFill>
            <a:srgbClr val="1E2433"/>
          </a:solidFill>
          <a:ln/>
        </p:spPr>
      </p:sp>
      <p:sp>
        <p:nvSpPr>
          <p:cNvPr id="11" name="Text 8"/>
          <p:cNvSpPr txBox="1"/>
          <p:nvPr/>
        </p:nvSpPr>
        <p:spPr>
          <a:xfrm>
            <a:off x="6527810" y="4044940"/>
            <a:ext cx="4673590" cy="1282720"/>
          </a:xfrm>
          <a:prstGeom prst="rect">
            <a:avLst/>
          </a:prstGeom>
          <a:noFill/>
          <a:ln/>
        </p:spPr>
        <p:txBody>
          <a:bodyPr wrap="square" lIns="0" tIns="0" rIns="0" bIns="0" rtlCol="0" anchor="t"/>
          <a:lstStyle/>
          <a:p>
            <a:pPr indent="0" marL="0">
              <a:lnSpc>
                <a:spcPts val="1680"/>
              </a:lnSpc>
              <a:buNone/>
            </a:pPr>
            <a:r>
              <a:rPr lang="en-US" sz="1200" dirty="0">
                <a:solidFill>
                  <a:srgbClr val="9AA3B5"/>
                </a:solidFill>
                <a:latin typeface="Consolas" pitchFamily="34" charset="0"/>
                <a:ea typeface="Consolas" pitchFamily="34" charset="-122"/>
                <a:cs typeface="Consolas" pitchFamily="34" charset="-120"/>
              </a:rPr>
              <a:t>% fix: base case first, recurse last</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ancestor(X, Z) :- parent(X, Z).</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ancestor(X, Z) :- parent(X, Y), ancestor(Y, Z).</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indent="0" marL="0">
              <a:lnSpc>
                <a:spcPts val="1680"/>
              </a:lnSpc>
              <a:buNone/>
            </a:pPr>
            <a:r>
              <a:rPr lang="en-US" sz="1200" dirty="0">
                <a:solidFill>
                  <a:srgbClr val="E6E1D3"/>
                </a:solidFill>
                <a:latin typeface="Consolas" pitchFamily="34" charset="0"/>
                <a:ea typeface="Consolas" pitchFamily="34" charset="-122"/>
                <a:cs typeface="Consolas" pitchFamily="34" charset="-120"/>
              </a:rPr>
              <a:t>?- ancestor(tom, ann).</a:t>
            </a:r>
            <a:endParaRPr lang="en-US" sz="1200" dirty="0"/>
          </a:p>
          <a:p>
            <a:pPr indent="0" marL="0">
              <a:lnSpc>
                <a:spcPts val="1680"/>
              </a:lnSpc>
              <a:buNone/>
            </a:pPr>
            <a:r>
              <a:rPr lang="en-US" sz="1200" dirty="0">
                <a:solidFill>
                  <a:srgbClr val="8DB7F5"/>
                </a:solidFill>
                <a:latin typeface="Consolas" pitchFamily="34" charset="0"/>
                <a:ea typeface="Consolas" pitchFamily="34" charset="-122"/>
                <a:cs typeface="Consolas" pitchFamily="34" charset="-120"/>
              </a:rPr>
              <a:t>true .</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06 · SUMMARY</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Key takeaways</a:t>
            </a:r>
            <a:endParaRPr lang="en-US" sz="3000" dirty="0"/>
          </a:p>
        </p:txBody>
      </p:sp>
      <p:sp>
        <p:nvSpPr>
          <p:cNvPr id="4" name="Text 2"/>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30</a:t>
            </a:r>
            <a:endParaRPr lang="en-US" sz="1200" dirty="0"/>
          </a:p>
        </p:txBody>
      </p:sp>
      <p:sp>
        <p:nvSpPr>
          <p:cNvPr id="6" name="Shape 3"/>
          <p:cNvSpPr/>
          <p:nvPr/>
        </p:nvSpPr>
        <p:spPr>
          <a:xfrm>
            <a:off x="812810" y="1701790"/>
            <a:ext cx="5181630" cy="1155710"/>
          </a:xfrm>
          <a:prstGeom prst="roundRect">
            <a:avLst>
              <a:gd name="adj" fmla="val 7912"/>
            </a:avLst>
          </a:prstGeom>
          <a:solidFill>
            <a:srgbClr val="FFFFFF"/>
          </a:solidFill>
          <a:ln w="12700">
            <a:solidFill>
              <a:srgbClr val="E3E1DA"/>
            </a:solidFill>
            <a:prstDash val="solid"/>
          </a:ln>
        </p:spPr>
      </p:sp>
      <p:sp>
        <p:nvSpPr>
          <p:cNvPr id="7" name="Shape 4"/>
          <p:cNvSpPr/>
          <p:nvPr/>
        </p:nvSpPr>
        <p:spPr>
          <a:xfrm>
            <a:off x="1015990" y="2019270"/>
            <a:ext cx="482620" cy="482620"/>
          </a:xfrm>
          <a:prstGeom prst="ellipse">
            <a:avLst/>
          </a:prstGeom>
          <a:solidFill>
            <a:srgbClr val="A8441A"/>
          </a:solidFill>
          <a:ln/>
        </p:spPr>
      </p:sp>
      <p:sp>
        <p:nvSpPr>
          <p:cNvPr id="8" name="Text 5"/>
          <p:cNvSpPr txBox="1"/>
          <p:nvPr/>
        </p:nvSpPr>
        <p:spPr>
          <a:xfrm>
            <a:off x="1015990" y="2019270"/>
            <a:ext cx="482620" cy="482620"/>
          </a:xfrm>
          <a:prstGeom prst="rect">
            <a:avLst/>
          </a:prstGeom>
          <a:noFill/>
          <a:ln/>
        </p:spPr>
        <p:txBody>
          <a:bodyPr wrap="square" lIns="0" tIns="0" rIns="0" bIns="0" rtlCol="0" anchor="ctr"/>
          <a:lstStyle/>
          <a:p>
            <a:pPr algn="ctr" indent="0" marL="0">
              <a:buNone/>
            </a:pPr>
            <a:r>
              <a:rPr lang="en-US" sz="2000" b="1" dirty="0">
                <a:solidFill>
                  <a:srgbClr val="FFFFFF"/>
                </a:solidFill>
                <a:latin typeface="Consolas" pitchFamily="34" charset="0"/>
                <a:ea typeface="Consolas" pitchFamily="34" charset="-122"/>
                <a:cs typeface="Consolas" pitchFamily="34" charset="-120"/>
              </a:rPr>
              <a:t>1</a:t>
            </a:r>
            <a:endParaRPr lang="en-US" sz="2000" dirty="0"/>
          </a:p>
        </p:txBody>
      </p:sp>
      <p:sp>
        <p:nvSpPr>
          <p:cNvPr id="9" name="Text 6"/>
          <p:cNvSpPr txBox="1"/>
          <p:nvPr/>
        </p:nvSpPr>
        <p:spPr>
          <a:xfrm>
            <a:off x="1701790" y="1701790"/>
            <a:ext cx="4089380" cy="1155710"/>
          </a:xfrm>
          <a:prstGeom prst="rect">
            <a:avLst/>
          </a:prstGeom>
          <a:noFill/>
          <a:ln/>
        </p:spPr>
        <p:txBody>
          <a:bodyPr wrap="square" lIns="0" tIns="0" rIns="0" bIns="0" rtlCol="0" anchor="ctr"/>
          <a:lstStyle/>
          <a:p>
            <a:pPr indent="0" marL="0">
              <a:lnSpc>
                <a:spcPct val="115000"/>
              </a:lnSpc>
              <a:buNone/>
            </a:pPr>
            <a:r>
              <a:rPr lang="en-US" sz="1500" dirty="0">
                <a:solidFill>
                  <a:srgbClr val="1B2233"/>
                </a:solidFill>
                <a:latin typeface="Calibri" pitchFamily="34" charset="0"/>
                <a:ea typeface="Calibri" pitchFamily="34" charset="-122"/>
                <a:cs typeface="Calibri" pitchFamily="34" charset="-120"/>
              </a:rPr>
              <a:t>An IF-THEN rule is a Horn clause: IF p AND q THEN r becomes r :- p, q.</a:t>
            </a:r>
            <a:endParaRPr lang="en-US" sz="1500" dirty="0"/>
          </a:p>
        </p:txBody>
      </p:sp>
      <p:sp>
        <p:nvSpPr>
          <p:cNvPr id="10" name="Shape 7"/>
          <p:cNvSpPr/>
          <p:nvPr/>
        </p:nvSpPr>
        <p:spPr>
          <a:xfrm>
            <a:off x="6197620" y="1701790"/>
            <a:ext cx="5181630" cy="1155710"/>
          </a:xfrm>
          <a:prstGeom prst="roundRect">
            <a:avLst>
              <a:gd name="adj" fmla="val 7912"/>
            </a:avLst>
          </a:prstGeom>
          <a:solidFill>
            <a:srgbClr val="FFFFFF"/>
          </a:solidFill>
          <a:ln w="12700">
            <a:solidFill>
              <a:srgbClr val="E3E1DA"/>
            </a:solidFill>
            <a:prstDash val="solid"/>
          </a:ln>
        </p:spPr>
      </p:sp>
      <p:sp>
        <p:nvSpPr>
          <p:cNvPr id="11" name="Shape 8"/>
          <p:cNvSpPr/>
          <p:nvPr/>
        </p:nvSpPr>
        <p:spPr>
          <a:xfrm>
            <a:off x="6400800" y="2019270"/>
            <a:ext cx="482620" cy="482620"/>
          </a:xfrm>
          <a:prstGeom prst="ellipse">
            <a:avLst/>
          </a:prstGeom>
          <a:solidFill>
            <a:srgbClr val="A8441A"/>
          </a:solidFill>
          <a:ln/>
        </p:spPr>
      </p:sp>
      <p:sp>
        <p:nvSpPr>
          <p:cNvPr id="12" name="Text 9"/>
          <p:cNvSpPr txBox="1"/>
          <p:nvPr/>
        </p:nvSpPr>
        <p:spPr>
          <a:xfrm>
            <a:off x="6400800" y="2019270"/>
            <a:ext cx="482620" cy="482620"/>
          </a:xfrm>
          <a:prstGeom prst="rect">
            <a:avLst/>
          </a:prstGeom>
          <a:noFill/>
          <a:ln/>
        </p:spPr>
        <p:txBody>
          <a:bodyPr wrap="square" lIns="0" tIns="0" rIns="0" bIns="0" rtlCol="0" anchor="ctr"/>
          <a:lstStyle/>
          <a:p>
            <a:pPr algn="ctr" indent="0" marL="0">
              <a:buNone/>
            </a:pPr>
            <a:r>
              <a:rPr lang="en-US" sz="2000" b="1" dirty="0">
                <a:solidFill>
                  <a:srgbClr val="FFFFFF"/>
                </a:solidFill>
                <a:latin typeface="Consolas" pitchFamily="34" charset="0"/>
                <a:ea typeface="Consolas" pitchFamily="34" charset="-122"/>
                <a:cs typeface="Consolas" pitchFamily="34" charset="-120"/>
              </a:rPr>
              <a:t>2</a:t>
            </a:r>
            <a:endParaRPr lang="en-US" sz="2000" dirty="0"/>
          </a:p>
        </p:txBody>
      </p:sp>
      <p:sp>
        <p:nvSpPr>
          <p:cNvPr id="13" name="Text 10"/>
          <p:cNvSpPr txBox="1"/>
          <p:nvPr/>
        </p:nvSpPr>
        <p:spPr>
          <a:xfrm>
            <a:off x="7086600" y="1701790"/>
            <a:ext cx="4089380" cy="1155710"/>
          </a:xfrm>
          <a:prstGeom prst="rect">
            <a:avLst/>
          </a:prstGeom>
          <a:noFill/>
          <a:ln/>
        </p:spPr>
        <p:txBody>
          <a:bodyPr wrap="square" lIns="0" tIns="0" rIns="0" bIns="0" rtlCol="0" anchor="ctr"/>
          <a:lstStyle/>
          <a:p>
            <a:pPr indent="0" marL="0">
              <a:lnSpc>
                <a:spcPct val="115000"/>
              </a:lnSpc>
              <a:buNone/>
            </a:pPr>
            <a:r>
              <a:rPr lang="en-US" sz="1500" dirty="0">
                <a:solidFill>
                  <a:srgbClr val="1B2233"/>
                </a:solidFill>
                <a:latin typeface="Calibri" pitchFamily="34" charset="0"/>
                <a:ea typeface="Calibri" pitchFamily="34" charset="-122"/>
                <a:cs typeface="Calibri" pitchFamily="34" charset="-120"/>
              </a:rPr>
              <a:t>Running a Prolog query is backward chaining: goal-driven, depth-first, with backtracking.</a:t>
            </a:r>
            <a:endParaRPr lang="en-US" sz="1500" dirty="0"/>
          </a:p>
        </p:txBody>
      </p:sp>
      <p:sp>
        <p:nvSpPr>
          <p:cNvPr id="14" name="Shape 11"/>
          <p:cNvSpPr/>
          <p:nvPr/>
        </p:nvSpPr>
        <p:spPr>
          <a:xfrm>
            <a:off x="812810" y="3009930"/>
            <a:ext cx="5181630" cy="1155710"/>
          </a:xfrm>
          <a:prstGeom prst="roundRect">
            <a:avLst>
              <a:gd name="adj" fmla="val 7912"/>
            </a:avLst>
          </a:prstGeom>
          <a:solidFill>
            <a:srgbClr val="FFFFFF"/>
          </a:solidFill>
          <a:ln w="12700">
            <a:solidFill>
              <a:srgbClr val="E3E1DA"/>
            </a:solidFill>
            <a:prstDash val="solid"/>
          </a:ln>
        </p:spPr>
      </p:sp>
      <p:sp>
        <p:nvSpPr>
          <p:cNvPr id="15" name="Shape 12"/>
          <p:cNvSpPr/>
          <p:nvPr/>
        </p:nvSpPr>
        <p:spPr>
          <a:xfrm>
            <a:off x="1015990" y="3327410"/>
            <a:ext cx="482620" cy="482620"/>
          </a:xfrm>
          <a:prstGeom prst="ellipse">
            <a:avLst/>
          </a:prstGeom>
          <a:solidFill>
            <a:srgbClr val="A8441A"/>
          </a:solidFill>
          <a:ln/>
        </p:spPr>
      </p:sp>
      <p:sp>
        <p:nvSpPr>
          <p:cNvPr id="16" name="Text 13"/>
          <p:cNvSpPr txBox="1"/>
          <p:nvPr/>
        </p:nvSpPr>
        <p:spPr>
          <a:xfrm>
            <a:off x="1015990" y="3327410"/>
            <a:ext cx="482620" cy="482620"/>
          </a:xfrm>
          <a:prstGeom prst="rect">
            <a:avLst/>
          </a:prstGeom>
          <a:noFill/>
          <a:ln/>
        </p:spPr>
        <p:txBody>
          <a:bodyPr wrap="square" lIns="0" tIns="0" rIns="0" bIns="0" rtlCol="0" anchor="ctr"/>
          <a:lstStyle/>
          <a:p>
            <a:pPr algn="ctr" indent="0" marL="0">
              <a:buNone/>
            </a:pPr>
            <a:r>
              <a:rPr lang="en-US" sz="2000" b="1" dirty="0">
                <a:solidFill>
                  <a:srgbClr val="FFFFFF"/>
                </a:solidFill>
                <a:latin typeface="Consolas" pitchFamily="34" charset="0"/>
                <a:ea typeface="Consolas" pitchFamily="34" charset="-122"/>
                <a:cs typeface="Consolas" pitchFamily="34" charset="-120"/>
              </a:rPr>
              <a:t>3</a:t>
            </a:r>
            <a:endParaRPr lang="en-US" sz="2000" dirty="0"/>
          </a:p>
        </p:txBody>
      </p:sp>
      <p:sp>
        <p:nvSpPr>
          <p:cNvPr id="17" name="Text 14"/>
          <p:cNvSpPr txBox="1"/>
          <p:nvPr/>
        </p:nvSpPr>
        <p:spPr>
          <a:xfrm>
            <a:off x="1701790" y="3009930"/>
            <a:ext cx="4089380" cy="1155710"/>
          </a:xfrm>
          <a:prstGeom prst="rect">
            <a:avLst/>
          </a:prstGeom>
          <a:noFill/>
          <a:ln/>
        </p:spPr>
        <p:txBody>
          <a:bodyPr wrap="square" lIns="0" tIns="0" rIns="0" bIns="0" rtlCol="0" anchor="ctr"/>
          <a:lstStyle/>
          <a:p>
            <a:pPr indent="0" marL="0">
              <a:lnSpc>
                <a:spcPct val="115000"/>
              </a:lnSpc>
              <a:buNone/>
            </a:pPr>
            <a:r>
              <a:rPr lang="en-US" sz="1500" dirty="0">
                <a:solidFill>
                  <a:srgbClr val="1B2233"/>
                </a:solidFill>
                <a:latin typeface="Calibri" pitchFamily="34" charset="0"/>
                <a:ea typeface="Calibri" pitchFamily="34" charset="-122"/>
                <a:cs typeface="Calibri" pitchFamily="34" charset="-120"/>
              </a:rPr>
              <a:t>Ask for leaf facts only when a rule needs them, and remember every answer.</a:t>
            </a:r>
            <a:endParaRPr lang="en-US" sz="1500" dirty="0"/>
          </a:p>
        </p:txBody>
      </p:sp>
      <p:sp>
        <p:nvSpPr>
          <p:cNvPr id="18" name="Shape 15"/>
          <p:cNvSpPr/>
          <p:nvPr/>
        </p:nvSpPr>
        <p:spPr>
          <a:xfrm>
            <a:off x="6197620" y="3009930"/>
            <a:ext cx="5181630" cy="1155710"/>
          </a:xfrm>
          <a:prstGeom prst="roundRect">
            <a:avLst>
              <a:gd name="adj" fmla="val 7912"/>
            </a:avLst>
          </a:prstGeom>
          <a:solidFill>
            <a:srgbClr val="FFFFFF"/>
          </a:solidFill>
          <a:ln w="12700">
            <a:solidFill>
              <a:srgbClr val="E3E1DA"/>
            </a:solidFill>
            <a:prstDash val="solid"/>
          </a:ln>
        </p:spPr>
      </p:sp>
      <p:sp>
        <p:nvSpPr>
          <p:cNvPr id="19" name="Shape 16"/>
          <p:cNvSpPr/>
          <p:nvPr/>
        </p:nvSpPr>
        <p:spPr>
          <a:xfrm>
            <a:off x="6400800" y="3327410"/>
            <a:ext cx="482620" cy="482620"/>
          </a:xfrm>
          <a:prstGeom prst="ellipse">
            <a:avLst/>
          </a:prstGeom>
          <a:solidFill>
            <a:srgbClr val="A8441A"/>
          </a:solidFill>
          <a:ln/>
        </p:spPr>
      </p:sp>
      <p:sp>
        <p:nvSpPr>
          <p:cNvPr id="20" name="Text 17"/>
          <p:cNvSpPr txBox="1"/>
          <p:nvPr/>
        </p:nvSpPr>
        <p:spPr>
          <a:xfrm>
            <a:off x="6400800" y="3327410"/>
            <a:ext cx="482620" cy="482620"/>
          </a:xfrm>
          <a:prstGeom prst="rect">
            <a:avLst/>
          </a:prstGeom>
          <a:noFill/>
          <a:ln/>
        </p:spPr>
        <p:txBody>
          <a:bodyPr wrap="square" lIns="0" tIns="0" rIns="0" bIns="0" rtlCol="0" anchor="ctr"/>
          <a:lstStyle/>
          <a:p>
            <a:pPr algn="ctr" indent="0" marL="0">
              <a:buNone/>
            </a:pPr>
            <a:r>
              <a:rPr lang="en-US" sz="2000" b="1" dirty="0">
                <a:solidFill>
                  <a:srgbClr val="FFFFFF"/>
                </a:solidFill>
                <a:latin typeface="Consolas" pitchFamily="34" charset="0"/>
                <a:ea typeface="Consolas" pitchFamily="34" charset="-122"/>
                <a:cs typeface="Consolas" pitchFamily="34" charset="-120"/>
              </a:rPr>
              <a:t>4</a:t>
            </a:r>
            <a:endParaRPr lang="en-US" sz="2000" dirty="0"/>
          </a:p>
        </p:txBody>
      </p:sp>
      <p:sp>
        <p:nvSpPr>
          <p:cNvPr id="21" name="Text 18"/>
          <p:cNvSpPr txBox="1"/>
          <p:nvPr/>
        </p:nvSpPr>
        <p:spPr>
          <a:xfrm>
            <a:off x="7086600" y="3009930"/>
            <a:ext cx="4089380" cy="1155710"/>
          </a:xfrm>
          <a:prstGeom prst="rect">
            <a:avLst/>
          </a:prstGeom>
          <a:noFill/>
          <a:ln/>
        </p:spPr>
        <p:txBody>
          <a:bodyPr wrap="square" lIns="0" tIns="0" rIns="0" bIns="0" rtlCol="0" anchor="ctr"/>
          <a:lstStyle/>
          <a:p>
            <a:pPr indent="0" marL="0">
              <a:lnSpc>
                <a:spcPct val="115000"/>
              </a:lnSpc>
              <a:buNone/>
            </a:pPr>
            <a:r>
              <a:rPr lang="en-US" sz="1500" dirty="0">
                <a:solidFill>
                  <a:srgbClr val="1B2233"/>
                </a:solidFill>
                <a:latin typeface="Calibri" pitchFamily="34" charset="0"/>
                <a:ea typeface="Calibri" pitchFamily="34" charset="-122"/>
                <a:cs typeface="Calibri" pitchFamily="34" charset="-120"/>
              </a:rPr>
              <a:t>Storing rules as data (Id :: if … then …) lets the engine explain WHY and HOW.</a:t>
            </a:r>
            <a:endParaRPr lang="en-US" sz="1500" dirty="0"/>
          </a:p>
        </p:txBody>
      </p:sp>
      <p:sp>
        <p:nvSpPr>
          <p:cNvPr id="22" name="Shape 19"/>
          <p:cNvSpPr/>
          <p:nvPr/>
        </p:nvSpPr>
        <p:spPr>
          <a:xfrm>
            <a:off x="812810" y="4317980"/>
            <a:ext cx="5181630" cy="1155710"/>
          </a:xfrm>
          <a:prstGeom prst="roundRect">
            <a:avLst>
              <a:gd name="adj" fmla="val 7912"/>
            </a:avLst>
          </a:prstGeom>
          <a:solidFill>
            <a:srgbClr val="FFFFFF"/>
          </a:solidFill>
          <a:ln w="12700">
            <a:solidFill>
              <a:srgbClr val="E3E1DA"/>
            </a:solidFill>
            <a:prstDash val="solid"/>
          </a:ln>
        </p:spPr>
      </p:sp>
      <p:sp>
        <p:nvSpPr>
          <p:cNvPr id="23" name="Shape 20"/>
          <p:cNvSpPr/>
          <p:nvPr/>
        </p:nvSpPr>
        <p:spPr>
          <a:xfrm>
            <a:off x="1015990" y="4635459"/>
            <a:ext cx="482620" cy="482620"/>
          </a:xfrm>
          <a:prstGeom prst="ellipse">
            <a:avLst/>
          </a:prstGeom>
          <a:solidFill>
            <a:srgbClr val="A8441A"/>
          </a:solidFill>
          <a:ln/>
        </p:spPr>
      </p:sp>
      <p:sp>
        <p:nvSpPr>
          <p:cNvPr id="24" name="Text 21"/>
          <p:cNvSpPr txBox="1"/>
          <p:nvPr/>
        </p:nvSpPr>
        <p:spPr>
          <a:xfrm>
            <a:off x="1015990" y="4635459"/>
            <a:ext cx="482620" cy="482620"/>
          </a:xfrm>
          <a:prstGeom prst="rect">
            <a:avLst/>
          </a:prstGeom>
          <a:noFill/>
          <a:ln/>
        </p:spPr>
        <p:txBody>
          <a:bodyPr wrap="square" lIns="0" tIns="0" rIns="0" bIns="0" rtlCol="0" anchor="ctr"/>
          <a:lstStyle/>
          <a:p>
            <a:pPr algn="ctr" indent="0" marL="0">
              <a:buNone/>
            </a:pPr>
            <a:r>
              <a:rPr lang="en-US" sz="2000" b="1" dirty="0">
                <a:solidFill>
                  <a:srgbClr val="FFFFFF"/>
                </a:solidFill>
                <a:latin typeface="Consolas" pitchFamily="34" charset="0"/>
                <a:ea typeface="Consolas" pitchFamily="34" charset="-122"/>
                <a:cs typeface="Consolas" pitchFamily="34" charset="-120"/>
              </a:rPr>
              <a:t>5</a:t>
            </a:r>
            <a:endParaRPr lang="en-US" sz="2000" dirty="0"/>
          </a:p>
        </p:txBody>
      </p:sp>
      <p:sp>
        <p:nvSpPr>
          <p:cNvPr id="25" name="Text 22"/>
          <p:cNvSpPr txBox="1"/>
          <p:nvPr/>
        </p:nvSpPr>
        <p:spPr>
          <a:xfrm>
            <a:off x="1701790" y="4317980"/>
            <a:ext cx="4089380" cy="1155710"/>
          </a:xfrm>
          <a:prstGeom prst="rect">
            <a:avLst/>
          </a:prstGeom>
          <a:noFill/>
          <a:ln/>
        </p:spPr>
        <p:txBody>
          <a:bodyPr wrap="square" lIns="0" tIns="0" rIns="0" bIns="0" rtlCol="0" anchor="ctr"/>
          <a:lstStyle/>
          <a:p>
            <a:pPr indent="0" marL="0">
              <a:lnSpc>
                <a:spcPct val="115000"/>
              </a:lnSpc>
              <a:buNone/>
            </a:pPr>
            <a:r>
              <a:rPr lang="en-US" sz="1500" dirty="0">
                <a:solidFill>
                  <a:srgbClr val="1B2233"/>
                </a:solidFill>
                <a:latin typeface="Calibri" pitchFamily="34" charset="0"/>
                <a:ea typeface="Calibri" pitchFamily="34" charset="-122"/>
                <a:cs typeface="Calibri" pitchFamily="34" charset="-120"/>
              </a:rPr>
              <a:t>Keep knowledge apart from inference: one engine ran both animals and fever / flu.</a:t>
            </a:r>
            <a:endParaRPr lang="en-US" sz="1500" dirty="0"/>
          </a:p>
        </p:txBody>
      </p:sp>
      <p:sp>
        <p:nvSpPr>
          <p:cNvPr id="26" name="Shape 23"/>
          <p:cNvSpPr/>
          <p:nvPr/>
        </p:nvSpPr>
        <p:spPr>
          <a:xfrm>
            <a:off x="6197620" y="4317980"/>
            <a:ext cx="5181630" cy="1155710"/>
          </a:xfrm>
          <a:prstGeom prst="roundRect">
            <a:avLst>
              <a:gd name="adj" fmla="val 7912"/>
            </a:avLst>
          </a:prstGeom>
          <a:solidFill>
            <a:srgbClr val="FFFFFF"/>
          </a:solidFill>
          <a:ln w="12700">
            <a:solidFill>
              <a:srgbClr val="E3E1DA"/>
            </a:solidFill>
            <a:prstDash val="solid"/>
          </a:ln>
        </p:spPr>
      </p:sp>
      <p:sp>
        <p:nvSpPr>
          <p:cNvPr id="27" name="Shape 24"/>
          <p:cNvSpPr/>
          <p:nvPr/>
        </p:nvSpPr>
        <p:spPr>
          <a:xfrm>
            <a:off x="6400800" y="4635459"/>
            <a:ext cx="482620" cy="482620"/>
          </a:xfrm>
          <a:prstGeom prst="ellipse">
            <a:avLst/>
          </a:prstGeom>
          <a:solidFill>
            <a:srgbClr val="A8441A"/>
          </a:solidFill>
          <a:ln/>
        </p:spPr>
      </p:sp>
      <p:sp>
        <p:nvSpPr>
          <p:cNvPr id="28" name="Text 25"/>
          <p:cNvSpPr txBox="1"/>
          <p:nvPr/>
        </p:nvSpPr>
        <p:spPr>
          <a:xfrm>
            <a:off x="6400800" y="4635459"/>
            <a:ext cx="482620" cy="482620"/>
          </a:xfrm>
          <a:prstGeom prst="rect">
            <a:avLst/>
          </a:prstGeom>
          <a:noFill/>
          <a:ln/>
        </p:spPr>
        <p:txBody>
          <a:bodyPr wrap="square" lIns="0" tIns="0" rIns="0" bIns="0" rtlCol="0" anchor="ctr"/>
          <a:lstStyle/>
          <a:p>
            <a:pPr algn="ctr" indent="0" marL="0">
              <a:buNone/>
            </a:pPr>
            <a:r>
              <a:rPr lang="en-US" sz="2000" b="1" dirty="0">
                <a:solidFill>
                  <a:srgbClr val="FFFFFF"/>
                </a:solidFill>
                <a:latin typeface="Consolas" pitchFamily="34" charset="0"/>
                <a:ea typeface="Consolas" pitchFamily="34" charset="-122"/>
                <a:cs typeface="Consolas" pitchFamily="34" charset="-120"/>
              </a:rPr>
              <a:t>6</a:t>
            </a:r>
            <a:endParaRPr lang="en-US" sz="2000" dirty="0"/>
          </a:p>
        </p:txBody>
      </p:sp>
      <p:sp>
        <p:nvSpPr>
          <p:cNvPr id="29" name="Text 26"/>
          <p:cNvSpPr txBox="1"/>
          <p:nvPr/>
        </p:nvSpPr>
        <p:spPr>
          <a:xfrm>
            <a:off x="7086600" y="4317980"/>
            <a:ext cx="4089380" cy="1155710"/>
          </a:xfrm>
          <a:prstGeom prst="rect">
            <a:avLst/>
          </a:prstGeom>
          <a:noFill/>
          <a:ln/>
        </p:spPr>
        <p:txBody>
          <a:bodyPr wrap="square" lIns="0" tIns="0" rIns="0" bIns="0" rtlCol="0" anchor="ctr"/>
          <a:lstStyle/>
          <a:p>
            <a:pPr indent="0" marL="0">
              <a:lnSpc>
                <a:spcPct val="115000"/>
              </a:lnSpc>
              <a:buNone/>
            </a:pPr>
            <a:r>
              <a:rPr lang="en-US" sz="1500" dirty="0">
                <a:solidFill>
                  <a:srgbClr val="1B2233"/>
                </a:solidFill>
                <a:latin typeface="Calibri" pitchFamily="34" charset="0"/>
                <a:ea typeface="Calibri" pitchFamily="34" charset="-122"/>
                <a:cs typeface="Calibri" pitchFamily="34" charset="-120"/>
              </a:rPr>
              <a:t>Real systems show the power and the limits: acquisition, uncertainty and upkeep.</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REFERENCES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References (1/2): books</a:t>
            </a:r>
            <a:endParaRPr lang="en-US" sz="3000" dirty="0"/>
          </a:p>
        </p:txBody>
      </p:sp>
      <p:sp>
        <p:nvSpPr>
          <p:cNvPr id="4" name="Text 2"/>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31</a:t>
            </a:r>
            <a:endParaRPr lang="en-US" sz="1200" dirty="0"/>
          </a:p>
        </p:txBody>
      </p:sp>
      <p:sp>
        <p:nvSpPr>
          <p:cNvPr id="6" name="Text 3"/>
          <p:cNvSpPr txBox="1"/>
          <p:nvPr/>
        </p:nvSpPr>
        <p:spPr>
          <a:xfrm>
            <a:off x="812810" y="1701790"/>
            <a:ext cx="10566441" cy="4190970"/>
          </a:xfrm>
          <a:prstGeom prst="rect">
            <a:avLst/>
          </a:prstGeom>
          <a:noFill/>
          <a:ln/>
        </p:spPr>
        <p:txBody>
          <a:bodyPr wrap="square" lIns="0" tIns="0" rIns="0" bIns="0" rtlCol="0" anchor="t"/>
          <a:lstStyle/>
          <a:p>
            <a:pPr indent="0" marL="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[1] Bratko, I. (2012). </a:t>
            </a:r>
            <a:pPr indent="0" marL="0">
              <a:lnSpc>
                <a:spcPct val="110000"/>
              </a:lnSpc>
              <a:spcAft>
                <a:spcPts val="1200"/>
              </a:spcAft>
              <a:buNone/>
            </a:pPr>
            <a:r>
              <a:rPr lang="en-US" sz="1400" i="1" dirty="0">
                <a:solidFill>
                  <a:srgbClr val="1B2233"/>
                </a:solidFill>
                <a:latin typeface="Calibri" pitchFamily="34" charset="0"/>
                <a:ea typeface="Calibri" pitchFamily="34" charset="-122"/>
                <a:cs typeface="Calibri" pitchFamily="34" charset="-120"/>
              </a:rPr>
              <a:t>Prolog Programming for Artificial Intelligence</a:t>
            </a:r>
            <a:pPr indent="0" marL="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 (4th ed.). Pearson. Ch. 1–2, 5, 15.</a:t>
            </a:r>
            <a:endParaRPr lang="en-US" sz="1400" dirty="0"/>
          </a:p>
          <a:p>
            <a:pPr indent="0" marL="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[2] Durkin, J. (1994). </a:t>
            </a:r>
            <a:pPr indent="0" marL="0">
              <a:lnSpc>
                <a:spcPct val="110000"/>
              </a:lnSpc>
              <a:spcAft>
                <a:spcPts val="1200"/>
              </a:spcAft>
              <a:buNone/>
            </a:pPr>
            <a:r>
              <a:rPr lang="en-US" sz="1400" i="1" dirty="0">
                <a:solidFill>
                  <a:srgbClr val="1B2233"/>
                </a:solidFill>
                <a:latin typeface="Calibri" pitchFamily="34" charset="0"/>
                <a:ea typeface="Calibri" pitchFamily="34" charset="-122"/>
                <a:cs typeface="Calibri" pitchFamily="34" charset="-120"/>
              </a:rPr>
              <a:t>Expert Systems: Design and Development</a:t>
            </a:r>
            <a:pPr indent="0" marL="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 Macmillan / Prentice Hall.</a:t>
            </a:r>
            <a:endParaRPr lang="en-US" sz="1400" dirty="0"/>
          </a:p>
          <a:p>
            <a:pPr indent="0" marL="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[3] Russell, S., &amp; Norvig, P. (2020). </a:t>
            </a:r>
            <a:pPr indent="0" marL="0">
              <a:lnSpc>
                <a:spcPct val="110000"/>
              </a:lnSpc>
              <a:spcAft>
                <a:spcPts val="1200"/>
              </a:spcAft>
              <a:buNone/>
            </a:pPr>
            <a:r>
              <a:rPr lang="en-US" sz="1400" i="1" dirty="0">
                <a:solidFill>
                  <a:srgbClr val="1B2233"/>
                </a:solidFill>
                <a:latin typeface="Calibri" pitchFamily="34" charset="0"/>
                <a:ea typeface="Calibri" pitchFamily="34" charset="-122"/>
                <a:cs typeface="Calibri" pitchFamily="34" charset="-120"/>
              </a:rPr>
              <a:t>Artificial Intelligence: A Modern Approach</a:t>
            </a:r>
            <a:pPr indent="0" marL="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 (4th ed.). Pearson.</a:t>
            </a:r>
            <a:endParaRPr lang="en-US" sz="1400" dirty="0"/>
          </a:p>
          <a:p>
            <a:pPr indent="0" marL="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[4] Negnevitsky, M. (2011). </a:t>
            </a:r>
            <a:pPr indent="0" marL="0">
              <a:lnSpc>
                <a:spcPct val="110000"/>
              </a:lnSpc>
              <a:spcAft>
                <a:spcPts val="1200"/>
              </a:spcAft>
              <a:buNone/>
            </a:pPr>
            <a:r>
              <a:rPr lang="en-US" sz="1400" i="1" dirty="0">
                <a:solidFill>
                  <a:srgbClr val="1B2233"/>
                </a:solidFill>
                <a:latin typeface="Calibri" pitchFamily="34" charset="0"/>
                <a:ea typeface="Calibri" pitchFamily="34" charset="-122"/>
                <a:cs typeface="Calibri" pitchFamily="34" charset="-120"/>
              </a:rPr>
              <a:t>Artificial Intelligence: A Guide to Intelligent Systems</a:t>
            </a:r>
            <a:pPr indent="0" marL="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 (3rd ed.). Addison-Wesley.</a:t>
            </a:r>
            <a:endParaRPr lang="en-US" sz="1400" dirty="0"/>
          </a:p>
          <a:p>
            <a:pPr indent="0" marL="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[5] Winston, P. H. (1992). </a:t>
            </a:r>
            <a:pPr indent="0" marL="0">
              <a:lnSpc>
                <a:spcPct val="110000"/>
              </a:lnSpc>
              <a:spcAft>
                <a:spcPts val="1200"/>
              </a:spcAft>
              <a:buNone/>
            </a:pPr>
            <a:r>
              <a:rPr lang="en-US" sz="1400" i="1" dirty="0">
                <a:solidFill>
                  <a:srgbClr val="1B2233"/>
                </a:solidFill>
                <a:latin typeface="Calibri" pitchFamily="34" charset="0"/>
                <a:ea typeface="Calibri" pitchFamily="34" charset="-122"/>
                <a:cs typeface="Calibri" pitchFamily="34" charset="-120"/>
              </a:rPr>
              <a:t>Artificial Intelligence</a:t>
            </a:r>
            <a:pPr indent="0" marL="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 (3rd ed.). Addison-Wesley. Source of the ZOOKEEPER animal rules.</a:t>
            </a:r>
            <a:endParaRPr lang="en-US" sz="1400" dirty="0"/>
          </a:p>
          <a:p>
            <a:pPr indent="0" marL="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[6] Buchanan, B. G., &amp; Shortliffe, E. H. (Eds.) (1984). </a:t>
            </a:r>
            <a:pPr indent="0" marL="0">
              <a:lnSpc>
                <a:spcPct val="110000"/>
              </a:lnSpc>
              <a:spcAft>
                <a:spcPts val="1200"/>
              </a:spcAft>
              <a:buNone/>
            </a:pPr>
            <a:r>
              <a:rPr lang="en-US" sz="1400" i="1" dirty="0">
                <a:solidFill>
                  <a:srgbClr val="1B2233"/>
                </a:solidFill>
                <a:latin typeface="Calibri" pitchFamily="34" charset="0"/>
                <a:ea typeface="Calibri" pitchFamily="34" charset="-122"/>
                <a:cs typeface="Calibri" pitchFamily="34" charset="-120"/>
              </a:rPr>
              <a:t>Rule-Based Expert Systems: The MYCIN Experiments of the Stanford Heuristic Programming Project</a:t>
            </a:r>
            <a:pPr indent="0" marL="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 Addison-Wesley.</a:t>
            </a:r>
            <a:endParaRPr lang="en-US" sz="1400" dirty="0"/>
          </a:p>
          <a:p>
            <a:pPr indent="0" marL="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[7] Giarratano, J. C., &amp; Riley, G. D. (2005). </a:t>
            </a:r>
            <a:pPr indent="0" marL="0">
              <a:lnSpc>
                <a:spcPct val="110000"/>
              </a:lnSpc>
              <a:spcAft>
                <a:spcPts val="1200"/>
              </a:spcAft>
              <a:buNone/>
            </a:pPr>
            <a:r>
              <a:rPr lang="en-US" sz="1400" i="1" dirty="0">
                <a:solidFill>
                  <a:srgbClr val="1B2233"/>
                </a:solidFill>
                <a:latin typeface="Calibri" pitchFamily="34" charset="0"/>
                <a:ea typeface="Calibri" pitchFamily="34" charset="-122"/>
                <a:cs typeface="Calibri" pitchFamily="34" charset="-120"/>
              </a:rPr>
              <a:t>Expert Systems: Principles and Programming</a:t>
            </a:r>
            <a:pPr indent="0" marL="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 (4th ed.). Thomson Course Technology.</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8F6"/>
        </a:solidFill>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indent="0" marL="0">
              <a:buNone/>
            </a:pPr>
            <a:r>
              <a:rPr lang="en-US" sz="1200" b="1" spc="300" kern="0" dirty="0">
                <a:solidFill>
                  <a:srgbClr val="A8441A"/>
                </a:solidFill>
                <a:latin typeface="Calibri" pitchFamily="34" charset="0"/>
                <a:ea typeface="Calibri" pitchFamily="34" charset="-122"/>
                <a:cs typeface="Calibri" pitchFamily="34" charset="-120"/>
              </a:rPr>
              <a:t>REFERENCES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indent="0" marL="0">
              <a:buNone/>
            </a:pPr>
            <a:r>
              <a:rPr lang="en-US" sz="3000" b="1" dirty="0">
                <a:solidFill>
                  <a:srgbClr val="1B2233"/>
                </a:solidFill>
                <a:latin typeface="Cambria" pitchFamily="34" charset="0"/>
                <a:ea typeface="Cambria" pitchFamily="34" charset="-122"/>
                <a:cs typeface="Cambria" pitchFamily="34" charset="-120"/>
              </a:rPr>
              <a:t>References (2/2): papers and manuals</a:t>
            </a:r>
            <a:endParaRPr lang="en-US" sz="3000" dirty="0"/>
          </a:p>
        </p:txBody>
      </p:sp>
      <p:sp>
        <p:nvSpPr>
          <p:cNvPr id="4" name="Text 2"/>
          <p:cNvSpPr txBox="1"/>
          <p:nvPr/>
        </p:nvSpPr>
        <p:spPr>
          <a:xfrm>
            <a:off x="10109241" y="6197620"/>
            <a:ext cx="1270010" cy="254020"/>
          </a:xfrm>
          <a:prstGeom prst="rect">
            <a:avLst/>
          </a:prstGeom>
          <a:noFill/>
          <a:ln/>
        </p:spPr>
        <p:txBody>
          <a:bodyPr wrap="square" lIns="0" tIns="0" rIns="0" bIns="0" rtlCol="0" anchor="ctr"/>
          <a:lstStyle/>
          <a:p>
            <a:pPr algn="r" indent="0" marL="0">
              <a:buNone/>
            </a:pPr>
            <a:r>
              <a:rPr lang="en-US" sz="1200" dirty="0">
                <a:solidFill>
                  <a:srgbClr val="5F6573"/>
                </a:solidFill>
                <a:latin typeface="Calibri" pitchFamily="34" charset="0"/>
                <a:ea typeface="Calibri" pitchFamily="34" charset="-122"/>
                <a:cs typeface="Calibri" pitchFamily="34" charset="-120"/>
              </a:rPr>
              <a:t>32</a:t>
            </a:r>
            <a:endParaRPr lang="en-US" sz="1200" dirty="0"/>
          </a:p>
        </p:txBody>
      </p:sp>
      <p:sp>
        <p:nvSpPr>
          <p:cNvPr id="6" name="Text 3"/>
          <p:cNvSpPr txBox="1"/>
          <p:nvPr/>
        </p:nvSpPr>
        <p:spPr>
          <a:xfrm>
            <a:off x="812810" y="1701790"/>
            <a:ext cx="10566441" cy="4190970"/>
          </a:xfrm>
          <a:prstGeom prst="rect">
            <a:avLst/>
          </a:prstGeom>
          <a:noFill/>
          <a:ln/>
        </p:spPr>
        <p:txBody>
          <a:bodyPr wrap="square" lIns="0" tIns="0" rIns="0" bIns="0" rtlCol="0" anchor="t"/>
          <a:lstStyle/>
          <a:p>
            <a:pPr indent="0" marL="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[8] Kowalski, R. (1979). Algorithm = Logic + Control. </a:t>
            </a:r>
            <a:pPr indent="0" marL="0">
              <a:lnSpc>
                <a:spcPct val="110000"/>
              </a:lnSpc>
              <a:spcAft>
                <a:spcPts val="1200"/>
              </a:spcAft>
              <a:buNone/>
            </a:pPr>
            <a:r>
              <a:rPr lang="en-US" sz="1300" i="1" dirty="0">
                <a:solidFill>
                  <a:srgbClr val="1B2233"/>
                </a:solidFill>
                <a:latin typeface="Calibri" pitchFamily="34" charset="0"/>
                <a:ea typeface="Calibri" pitchFamily="34" charset="-122"/>
                <a:cs typeface="Calibri" pitchFamily="34" charset="-120"/>
              </a:rPr>
              <a:t>Communications of the ACM</a:t>
            </a:r>
            <a:pPr indent="0" marL="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 22(7), 424–436.</a:t>
            </a:r>
            <a:endParaRPr lang="en-US" sz="1300" dirty="0"/>
          </a:p>
          <a:p>
            <a:pPr indent="0" marL="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[9] Yu, V. L., et al. (1979). Antimicrobial selection by a computer: a blinded evaluation by infectious diseases experts. </a:t>
            </a:r>
            <a:pPr indent="0" marL="0">
              <a:lnSpc>
                <a:spcPct val="110000"/>
              </a:lnSpc>
              <a:spcAft>
                <a:spcPts val="1200"/>
              </a:spcAft>
              <a:buNone/>
            </a:pPr>
            <a:r>
              <a:rPr lang="en-US" sz="1300" i="1" dirty="0">
                <a:solidFill>
                  <a:srgbClr val="1B2233"/>
                </a:solidFill>
                <a:latin typeface="Calibri" pitchFamily="34" charset="0"/>
                <a:ea typeface="Calibri" pitchFamily="34" charset="-122"/>
                <a:cs typeface="Calibri" pitchFamily="34" charset="-120"/>
              </a:rPr>
              <a:t>JAMA</a:t>
            </a:r>
            <a:pPr indent="0" marL="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 242(12), 1279–1282.</a:t>
            </a:r>
            <a:endParaRPr lang="en-US" sz="1300" dirty="0"/>
          </a:p>
          <a:p>
            <a:pPr indent="0" marL="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[10] McDermott, J. (1982). R1: A rule-based configurer of computer systems. </a:t>
            </a:r>
            <a:pPr indent="0" marL="0">
              <a:lnSpc>
                <a:spcPct val="110000"/>
              </a:lnSpc>
              <a:spcAft>
                <a:spcPts val="1200"/>
              </a:spcAft>
              <a:buNone/>
            </a:pPr>
            <a:r>
              <a:rPr lang="en-US" sz="1300" i="1" dirty="0">
                <a:solidFill>
                  <a:srgbClr val="1B2233"/>
                </a:solidFill>
                <a:latin typeface="Calibri" pitchFamily="34" charset="0"/>
                <a:ea typeface="Calibri" pitchFamily="34" charset="-122"/>
                <a:cs typeface="Calibri" pitchFamily="34" charset="-120"/>
              </a:rPr>
              <a:t>Artificial Intelligence</a:t>
            </a:r>
            <a:pPr indent="0" marL="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 19(1), 39–88.</a:t>
            </a:r>
            <a:endParaRPr lang="en-US" sz="1300" dirty="0"/>
          </a:p>
          <a:p>
            <a:pPr indent="0" marL="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[11] Clancey, W. J. (1983). The epistemology of a rule-based expert system: a framework for explanation. </a:t>
            </a:r>
            <a:pPr indent="0" marL="0">
              <a:lnSpc>
                <a:spcPct val="110000"/>
              </a:lnSpc>
              <a:spcAft>
                <a:spcPts val="1200"/>
              </a:spcAft>
              <a:buNone/>
            </a:pPr>
            <a:r>
              <a:rPr lang="en-US" sz="1300" i="1" dirty="0">
                <a:solidFill>
                  <a:srgbClr val="1B2233"/>
                </a:solidFill>
                <a:latin typeface="Calibri" pitchFamily="34" charset="0"/>
                <a:ea typeface="Calibri" pitchFamily="34" charset="-122"/>
                <a:cs typeface="Calibri" pitchFamily="34" charset="-120"/>
              </a:rPr>
              <a:t>Artificial Intelligence</a:t>
            </a:r>
            <a:pPr indent="0" marL="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 20(3), 215–251.</a:t>
            </a:r>
            <a:endParaRPr lang="en-US" sz="1300" dirty="0"/>
          </a:p>
          <a:p>
            <a:pPr indent="0" marL="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[12] Sergot, M. J., Sadri, F., Kowalski, R. A., Kriwaczek, F., Hammond, P., &amp; Cory, H. T. (1986). The British Nationality Act as a logic program. </a:t>
            </a:r>
            <a:pPr indent="0" marL="0">
              <a:lnSpc>
                <a:spcPct val="110000"/>
              </a:lnSpc>
              <a:spcAft>
                <a:spcPts val="1200"/>
              </a:spcAft>
              <a:buNone/>
            </a:pPr>
            <a:r>
              <a:rPr lang="en-US" sz="1300" i="1" dirty="0">
                <a:solidFill>
                  <a:srgbClr val="1B2233"/>
                </a:solidFill>
                <a:latin typeface="Calibri" pitchFamily="34" charset="0"/>
                <a:ea typeface="Calibri" pitchFamily="34" charset="-122"/>
                <a:cs typeface="Calibri" pitchFamily="34" charset="-120"/>
              </a:rPr>
              <a:t>Communications of the ACM</a:t>
            </a:r>
            <a:pPr indent="0" marL="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 29(5), 370–386.</a:t>
            </a:r>
            <a:endParaRPr lang="en-US" sz="1300" dirty="0"/>
          </a:p>
          <a:p>
            <a:pPr indent="0" marL="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[13] Rayner, M., Hockey, B. A., et al. (2005). A voice enabled procedure browser for the International Space Station. </a:t>
            </a:r>
            <a:pPr indent="0" marL="0">
              <a:lnSpc>
                <a:spcPct val="110000"/>
              </a:lnSpc>
              <a:spcAft>
                <a:spcPts val="1200"/>
              </a:spcAft>
              <a:buNone/>
            </a:pPr>
            <a:r>
              <a:rPr lang="en-US" sz="1300" i="1" dirty="0">
                <a:solidFill>
                  <a:srgbClr val="1B2233"/>
                </a:solidFill>
                <a:latin typeface="Calibri" pitchFamily="34" charset="0"/>
                <a:ea typeface="Calibri" pitchFamily="34" charset="-122"/>
                <a:cs typeface="Calibri" pitchFamily="34" charset="-120"/>
              </a:rPr>
              <a:t>Proc. ACL 2005, demo session</a:t>
            </a:r>
            <a:pPr indent="0" marL="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a:t>
            </a:r>
            <a:endParaRPr lang="en-US" sz="1300" dirty="0"/>
          </a:p>
          <a:p>
            <a:pPr indent="0" marL="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[14] Lally, A., &amp; Fodor, P. (2011). Natural language processing with Prolog in the IBM Watson system. </a:t>
            </a:r>
            <a:pPr indent="0" marL="0">
              <a:lnSpc>
                <a:spcPct val="110000"/>
              </a:lnSpc>
              <a:spcAft>
                <a:spcPts val="1200"/>
              </a:spcAft>
              <a:buNone/>
            </a:pPr>
            <a:r>
              <a:rPr lang="en-US" sz="1300" i="1" dirty="0">
                <a:solidFill>
                  <a:srgbClr val="1B2233"/>
                </a:solidFill>
                <a:latin typeface="Calibri" pitchFamily="34" charset="0"/>
                <a:ea typeface="Calibri" pitchFamily="34" charset="-122"/>
                <a:cs typeface="Calibri" pitchFamily="34" charset="-120"/>
              </a:rPr>
              <a:t>Association for Logic Programming Newsletter</a:t>
            </a:r>
            <a:pPr indent="0" marL="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a:t>
            </a:r>
            <a:endParaRPr lang="en-US" sz="1300" dirty="0"/>
          </a:p>
          <a:p>
            <a:pPr indent="0" marL="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[15] SWI-Prolog Reference Manual, version 10. </a:t>
            </a:r>
            <a:pPr indent="0" marL="0">
              <a:lnSpc>
                <a:spcPct val="110000"/>
              </a:lnSpc>
              <a:spcAft>
                <a:spcPts val="1200"/>
              </a:spcAft>
              <a:buNone/>
            </a:pPr>
            <a:r>
              <a:rPr lang="en-US" sz="1300" i="1" dirty="0">
                <a:solidFill>
                  <a:srgbClr val="1B2233"/>
                </a:solidFill>
                <a:latin typeface="Calibri" pitchFamily="34" charset="0"/>
                <a:ea typeface="Calibri" pitchFamily="34" charset="-122"/>
                <a:cs typeface="Calibri" pitchFamily="34" charset="-120"/>
              </a:rPr>
              <a:t>swi-prolog.org</a:t>
            </a:r>
            <a:pPr indent="0" marL="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 Used to run all demos.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Rule-Based Programming in PROLOG</dc:title>
  <dc:subject>Knowledge Based Systems, Unit II</dc:subject>
  <dc:creator>PptxGenJS</dc:creator>
  <cp:lastModifiedBy>PptxGenJS</cp:lastModifiedBy>
  <cp:revision>1</cp:revision>
  <dcterms:created xsi:type="dcterms:W3CDTF">2026-09-27T20:50:20Z</dcterms:created>
  <dcterms:modified xsi:type="dcterms:W3CDTF">2026-09-27T20:50:20Z</dcterms:modified>
</cp:coreProperties>
</file>