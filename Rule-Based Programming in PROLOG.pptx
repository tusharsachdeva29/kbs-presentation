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228F1-6DC2-4BFD-8347-4DF4679D8C22}" v="2" dt="2026-10-12T11:27:08.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687"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sachdeva" userId="16859d6e1ff090bf" providerId="LiveId" clId="{3E4064D8-8FB8-4336-9C63-6E8BBE6CCC81}"/>
    <pc:docChg chg="custSel modSld">
      <pc:chgData name="Tushar sachdeva" userId="16859d6e1ff090bf" providerId="LiveId" clId="{3E4064D8-8FB8-4336-9C63-6E8BBE6CCC81}" dt="2026-10-12T11:27:17.687" v="168" actId="5793"/>
      <pc:docMkLst>
        <pc:docMk/>
      </pc:docMkLst>
      <pc:sldChg chg="delSp modSp mod">
        <pc:chgData name="Tushar sachdeva" userId="16859d6e1ff090bf" providerId="LiveId" clId="{3E4064D8-8FB8-4336-9C63-6E8BBE6CCC81}" dt="2026-10-12T04:10:08.780" v="66"/>
        <pc:sldMkLst>
          <pc:docMk/>
          <pc:sldMk cId="0" sldId="256"/>
        </pc:sldMkLst>
        <pc:spChg chg="del">
          <ac:chgData name="Tushar sachdeva" userId="16859d6e1ff090bf" providerId="LiveId" clId="{3E4064D8-8FB8-4336-9C63-6E8BBE6CCC81}" dt="2026-10-12T04:09:20.949" v="0" actId="478"/>
          <ac:spMkLst>
            <pc:docMk/>
            <pc:sldMk cId="0" sldId="256"/>
            <ac:spMk id="6" creationId="{00000000-0000-0000-0000-000000000000}"/>
          </ac:spMkLst>
        </pc:spChg>
        <pc:spChg chg="del">
          <ac:chgData name="Tushar sachdeva" userId="16859d6e1ff090bf" providerId="LiveId" clId="{3E4064D8-8FB8-4336-9C63-6E8BBE6CCC81}" dt="2026-10-12T04:09:20.949" v="0" actId="478"/>
          <ac:spMkLst>
            <pc:docMk/>
            <pc:sldMk cId="0" sldId="256"/>
            <ac:spMk id="7" creationId="{00000000-0000-0000-0000-000000000000}"/>
          </ac:spMkLst>
        </pc:spChg>
        <pc:spChg chg="del">
          <ac:chgData name="Tushar sachdeva" userId="16859d6e1ff090bf" providerId="LiveId" clId="{3E4064D8-8FB8-4336-9C63-6E8BBE6CCC81}" dt="2026-10-12T04:09:20.949" v="0" actId="478"/>
          <ac:spMkLst>
            <pc:docMk/>
            <pc:sldMk cId="0" sldId="256"/>
            <ac:spMk id="8" creationId="{00000000-0000-0000-0000-000000000000}"/>
          </ac:spMkLst>
        </pc:spChg>
        <pc:spChg chg="mod">
          <ac:chgData name="Tushar sachdeva" userId="16859d6e1ff090bf" providerId="LiveId" clId="{3E4064D8-8FB8-4336-9C63-6E8BBE6CCC81}" dt="2026-10-12T04:09:44.911" v="52" actId="20577"/>
          <ac:spMkLst>
            <pc:docMk/>
            <pc:sldMk cId="0" sldId="256"/>
            <ac:spMk id="9" creationId="{00000000-0000-0000-0000-000000000000}"/>
          </ac:spMkLst>
        </pc:spChg>
        <pc:spChg chg="mod">
          <ac:chgData name="Tushar sachdeva" userId="16859d6e1ff090bf" providerId="LiveId" clId="{3E4064D8-8FB8-4336-9C63-6E8BBE6CCC81}" dt="2026-10-12T04:09:55.666" v="61" actId="6549"/>
          <ac:spMkLst>
            <pc:docMk/>
            <pc:sldMk cId="0" sldId="256"/>
            <ac:spMk id="10" creationId="{00000000-0000-0000-0000-000000000000}"/>
          </ac:spMkLst>
        </pc:spChg>
        <pc:spChg chg="mod">
          <ac:chgData name="Tushar sachdeva" userId="16859d6e1ff090bf" providerId="LiveId" clId="{3E4064D8-8FB8-4336-9C63-6E8BBE6CCC81}" dt="2026-10-12T04:10:08.780" v="66"/>
          <ac:spMkLst>
            <pc:docMk/>
            <pc:sldMk cId="0" sldId="256"/>
            <ac:spMk id="11" creationId="{00000000-0000-0000-0000-000000000000}"/>
          </ac:spMkLst>
        </pc:spChg>
        <pc:spChg chg="mod">
          <ac:chgData name="Tushar sachdeva" userId="16859d6e1ff090bf" providerId="LiveId" clId="{3E4064D8-8FB8-4336-9C63-6E8BBE6CCC81}" dt="2026-10-12T04:09:57.681" v="62" actId="6549"/>
          <ac:spMkLst>
            <pc:docMk/>
            <pc:sldMk cId="0" sldId="256"/>
            <ac:spMk id="12" creationId="{00000000-0000-0000-0000-000000000000}"/>
          </ac:spMkLst>
        </pc:spChg>
      </pc:sldChg>
      <pc:sldChg chg="modSp mod">
        <pc:chgData name="Tushar sachdeva" userId="16859d6e1ff090bf" providerId="LiveId" clId="{3E4064D8-8FB8-4336-9C63-6E8BBE6CCC81}" dt="2026-10-12T11:27:17.687" v="168" actId="5793"/>
        <pc:sldMkLst>
          <pc:docMk/>
          <pc:sldMk cId="0" sldId="276"/>
        </pc:sldMkLst>
        <pc:spChg chg="mod">
          <ac:chgData name="Tushar sachdeva" userId="16859d6e1ff090bf" providerId="LiveId" clId="{3E4064D8-8FB8-4336-9C63-6E8BBE6CCC81}" dt="2026-10-12T11:27:17.687" v="168" actId="5793"/>
          <ac:spMkLst>
            <pc:docMk/>
            <pc:sldMk cId="0" sldId="27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5101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Tushar Sachdeva, and this is Pariket. Our topic is Rule-Based Programming in Prolog from Unit 2. Today we'll show how IF-THEN rules are written in Prolog, how a program can ask the user for facts it doesn't know, and a small expert system we built that explains its answers. We'll also run it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First, why rules matter and a bit of history. Then the core concepts. Then we build the system step by step and run a demo. After that, some real case studies, and finally the limitations and key takeaways.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rule-based programming? First, experts naturally explain what they know as rules of thumb. A doctor might say, if there's fever and body ache, suspect flu. Second, the rules are kept separate from the program, so we can change the knowledge without touching the code. Third, since every answer comes from a chain of rules, the system can explain itself. And fourth, Prolog is already a rule engine. A Prolog clause is an IF-THEN rule, which is why our whole system is only about 60 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history. DENDRAL in 1965 was the first expert system. Prolog was created in 1972 in Marseille by Colmerauer and Roussel. MYCIN, in the mid seventies, used about 450 rules to diagnose blood infections. XCON at DEC saved the company millions of dollars a year. Japan's Fifth Generation project in 1982 was built around logic programming. And in 2011, IBM Watson used Prolog rules to analyse Jeopardy questions. So rule-based AI and Prolog grew up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of a rule-based expert system, as described by Durkin. The knowledge base stores the rules given by the domain expert. Working memory stores the facts for the current case. The inference engine decides which rules to use. The user interface asks questions, and the explanation part answers why and how. The coloured text shows which Prolog predicate does each job in our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rule connects what we know to what we can conclude. The IF part is called the antecedent and the THEN part is the consequent. When all the conditions are true, the rule fires, and its conclusion becomes a new fact that other rules can use. That's called chaining. The table shows the common types of rules: relation, recommendation, directive, strategy and heuristic.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Prolog refresher. A fact is something that is simply true, like tom is a parent of bob. A rule has a head and a body. We read the colon-dash as IF and the comma as AND. A query asks Prolog to prove something. Here, it finds that tom's grandchild is ann.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idea of our topic. An IF-THEN rule is a logical implication. If we rewrite it, it has only one positive literal, which makes it a Horn clause. And a Horn clause is exactly what a Prolog clause is. So the conversion is direct. The conclusion becomes the head and the conditions become the body. AND becomes a comma, OR becomes two separate clauses, and NOT becomes backslash plus.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animal rules written directly in Prolog. When we ask animal X, Prolog works through the rules and answers cheetah. For tiger it says false. This works, but there are two problems. We had to type all the facts in advance, and there's no explanation. The rest of our talk fixes these two problems.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Prolog uses backward chaining. It starts from the goal, here animal cheetah, finds a matching rule, and replaces the goal with that rule's conditions. Carnivore becomes mammal and eats meat, and mammal becomes has hair. When every leaf matches a fact, the proof is done. If something fails, Prolog backtracks and tries the next rule. Keep this tree in mind, because our HOW explanation prints exactly this.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use rules. Backward chaining starts from a goal and works back to the facts. Forward chaining starts from the facts and keeps firing rules until nothing new comes up. Backward chaining is better for diagnosis, because it only asks what the current goal needs. MYCIN worked this way. Forward chaining suits configuration, like XCON. We use backward chaining, which Prolog gives us for free.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start, the system knows almost nothing, so it has to ask. We mark the basic facts, the ones no rule can conclude, as askable. When Prolog reaches one, it first checks if it already asked. If yes, it reuses the answer. If not, it asks the user. If the user types why, it explains and asks again. Then the answer is stored, so the same question never comes twice.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an expert system needs four parts: a knowledge base, an inference engine, a way to ask the user, and a way to explain. Prolog already handles the hard part, which is matching and backtracking. Now let's build each part.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design decision. If we write rules as normal Prolog clauses, the program can't see which rule fired, so it can't explain. So we store each rule as a named fact, like r5, if mammal and eats meat then carnivore. We use op/3 to define if, then and and as operators, so the rule is valid Prolog but still reads like English. This is the same approach Bratko uses.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knowledge base as a diagram. It's the classic animal rule base from Winston, which Bratko also uses. Rules r1 to r4 decide mammal or bird. r5 to r8 decide carnivore or ungulate, which means a hoofed animal. And r9 to r15 name seven animals.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file. The first line loads the engine. top_goal tells the engine what to prove. Then come rules r1 to r8. Notice that OR is written as two rules: r1 and r2 both give mammal. And AND is inside one rule, like r6 with four conditions.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rules that name the animal. On the right are the askable facts, the ones the system is allowed to ask the user. not flies uses negation as failure, so it's true when the user says no. That's the full knowledge base: 15 rules and 8 askable facts.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inference engine, just four clauses. The first handles AND. The second handles NOT. The third says if it's a basic fact, ask the user. The fourth finds a rule for the goal and proves its conditions. While doing this, it builds a proof tree, which we use for HOW, and keeps a list of rules being tried, which we use for WHY. On the right, go runs one full consultation.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ask the user. First we check memory. If we already asked, we reuse the answer. Otherwise we print the question and read the answer. If the answer is why, we explain and ask again. Otherwise we store it with assertz and succeed only if it's yes. One thing to note: the user has to type a full stop after the answer.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explanation. WHY is asked during a question: why do you need this? We print the rules waiting for that fact. HOW is asked after the answer: how did you get this? We print the proof tree with indentation, showing which rule gave each step and which facts came from the user.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We start Prolog with the animal file and type go. The first question is about hair, because the first rule it tries is cheetah, which needs carnivore, which needs mammal, which needs hair. When we type why, it shows that chain: r1, r5 and r9. Then we answer yes four times and it concludes cheetah. It only needed four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answer, it prints the HOW explanation. Each indent is one level deeper in the proof. 'By rule' means it came from a rule, and 'you told me' means it came from the user. This is the same tree we saw on slide 10.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run, a penguin. We say no to hair and no to milk. So it can't be a mammal, and cheetah, tiger, giraffe and zebra all fail without asking anything new. Then it tries ostrich, but the long neck answer is no, so that fails. Penguin reuses the earlier answers and only asks about swimming and colour. So seven questions in total.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run. We didn't change the engine at all. We only wrote a new knowledge base for fever and flu. With four yes answers, it concludes flu, and the HOW tree shows that rule m2 used the result of m1. This shows the same engine works for any domain. Of course, this is just for learning, not real medical advice.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case study is MYCIN, from Stanford in the 1970s. It diagnosed blood infections and suggested antibiotics. It had about 450 rules, used backward chaining, asked the doctor for missing facts, and could answer why and how, just like our system. It also used certainty factors for uncertain evidence. In a 1979 study, its advice was rated as good as Stanford's experts. But it was never used in hospitals, because of legal and ethical issues and slow typing. The lesson: being accurate isn't enough. The system has to fit into real work.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case study is fully in Prolog. In 1986, researchers at Imperial College, including Kowalski, converted the British Nationality Act into Prolog rules. You could ask if someone is a British citizen, and it would ask for missing details like place of birth and parents. Interestingly, writing the law as rules showed where the law itself was unclear. So executable rules can be tested, and they expose gaps in the original text.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Prolog is also used inside big systems. IBM Watson, which won Jeopardy in 2011, used Prolog rules to understand the questions, like finding what the question is asking about. NASA's Clarissa, used on the space station from 2005, was a voice assistant that read procedures to astronauts, and its language rules were written in Prolog. The lesson is that rules work well alongside machine learning, and they're easy to check, which matters when software has to be trusted.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limitations. First, it's hard to get knowledge out of experts and into rules. Second, the system is brittle. If something isn't in the rules, it just fails; our system can't identify a lion. Third, simple rules can't handle uncertainty. Fourth, large rule bases are hard to maintain; XCON grew to thousands of rules. Fifth, questions come in a fixed order. And sixth, as Clancey pointed out, the explanations only repeat the rules. They can't say why a rule is correct.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problems are specific to Prolog. Because it searches depth first, a left-recursive rule like this one never ends. With a small stack limit, it stops with a stack error in a couple of seconds. If we just change the order, it works. So in Prolog, order matters. Also, negation as failure treats anything unproven as false, the cut can change the meaning if used carelessly, and the user has to remember the full stop when typing.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An IF-THEN rule is a Horn clause, so it maps directly to Prolog. Prolog runs rules by backward chaining. A good system asks only when needed and remembers the answers. Storing rules as data lets it explain why and how. Keeping knowledge separate let the same engine handle animals and flu. And real systems show both the strengths and the limits. Thank you.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books we used, mainly Bratko for Prolog and Durkin for expert systems.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the papers behind our case studies. All our demos were run in SWI-Prolog.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TusharSachdeva29/kbs-presentation"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a:effectLst/>
      </p:bgPr>
    </p:bg>
    <p:spTree>
      <p:nvGrpSpPr>
        <p:cNvPr id="1" name=""/>
        <p:cNvGrpSpPr/>
        <p:nvPr/>
      </p:nvGrpSpPr>
      <p:grpSpPr>
        <a:xfrm>
          <a:off x="0" y="0"/>
          <a:ext cx="0" cy="0"/>
          <a:chOff x="0" y="0"/>
          <a:chExt cx="0" cy="0"/>
        </a:xfrm>
      </p:grpSpPr>
      <p:sp>
        <p:nvSpPr>
          <p:cNvPr id="2" name="Text 0"/>
          <p:cNvSpPr txBox="1"/>
          <p:nvPr/>
        </p:nvSpPr>
        <p:spPr>
          <a:xfrm>
            <a:off x="8445490" y="1270010"/>
            <a:ext cx="2920959" cy="2794041"/>
          </a:xfrm>
          <a:prstGeom prst="rect">
            <a:avLst/>
          </a:prstGeom>
          <a:noFill/>
          <a:ln/>
        </p:spPr>
        <p:txBody>
          <a:bodyPr wrap="square" lIns="0" tIns="0" rIns="0" bIns="0" rtlCol="0" anchor="ctr"/>
          <a:lstStyle/>
          <a:p>
            <a:pPr marL="0" indent="0" algn="r">
              <a:buNone/>
            </a:pPr>
            <a:r>
              <a:rPr lang="en-US" sz="18000" b="1" dirty="0">
                <a:solidFill>
                  <a:srgbClr val="463E41"/>
                </a:solidFill>
                <a:latin typeface="Consolas" pitchFamily="34" charset="0"/>
                <a:ea typeface="Consolas" pitchFamily="34" charset="-122"/>
                <a:cs typeface="Consolas" pitchFamily="34" charset="-120"/>
              </a:rPr>
              <a:t>:-</a:t>
            </a:r>
            <a:endParaRPr lang="en-US" sz="18000" dirty="0"/>
          </a:p>
        </p:txBody>
      </p:sp>
      <p:sp>
        <p:nvSpPr>
          <p:cNvPr id="3" name="Text 1"/>
          <p:cNvSpPr txBox="1"/>
          <p:nvPr/>
        </p:nvSpPr>
        <p:spPr>
          <a:xfrm>
            <a:off x="812810" y="812810"/>
            <a:ext cx="9525030" cy="279441"/>
          </a:xfrm>
          <a:prstGeom prst="rect">
            <a:avLst/>
          </a:prstGeom>
          <a:noFill/>
          <a:ln/>
        </p:spPr>
        <p:txBody>
          <a:bodyPr wrap="square" lIns="0" tIns="0" rIns="0" bIns="0" rtlCol="0" anchor="t"/>
          <a:lstStyle/>
          <a:p>
            <a:pPr marL="0" indent="0">
              <a:buNone/>
            </a:pPr>
            <a:r>
              <a:rPr lang="en-US" sz="1400" b="1" kern="0" spc="300" dirty="0">
                <a:solidFill>
                  <a:srgbClr val="F2A65A"/>
                </a:solidFill>
                <a:latin typeface="Calibri" pitchFamily="34" charset="0"/>
                <a:ea typeface="Calibri" pitchFamily="34" charset="-122"/>
                <a:cs typeface="Calibri" pitchFamily="34" charset="-120"/>
              </a:rPr>
              <a:t>KNOWLEDGE BASED SYSTEMS · UNIT II · GROUP PRESENTATION</a:t>
            </a:r>
            <a:endParaRPr lang="en-US" sz="1400" dirty="0"/>
          </a:p>
        </p:txBody>
      </p:sp>
      <p:sp>
        <p:nvSpPr>
          <p:cNvPr id="4" name="Text 2"/>
          <p:cNvSpPr txBox="1"/>
          <p:nvPr/>
        </p:nvSpPr>
        <p:spPr>
          <a:xfrm>
            <a:off x="812810" y="1244590"/>
            <a:ext cx="7619970" cy="1651041"/>
          </a:xfrm>
          <a:prstGeom prst="rect">
            <a:avLst/>
          </a:prstGeom>
          <a:noFill/>
          <a:ln/>
        </p:spPr>
        <p:txBody>
          <a:bodyPr wrap="square" lIns="0" tIns="0" rIns="0" bIns="0" rtlCol="0" anchor="t"/>
          <a:lstStyle/>
          <a:p>
            <a:pPr marL="0" indent="0">
              <a:lnSpc>
                <a:spcPct val="95000"/>
              </a:lnSpc>
              <a:buNone/>
            </a:pPr>
            <a:r>
              <a:rPr lang="en-US" sz="5200" b="1" dirty="0">
                <a:solidFill>
                  <a:srgbClr val="F3EFE4"/>
                </a:solidFill>
                <a:latin typeface="Cambria" pitchFamily="34" charset="0"/>
                <a:ea typeface="Cambria" pitchFamily="34" charset="-122"/>
                <a:cs typeface="Cambria" pitchFamily="34" charset="-120"/>
              </a:rPr>
              <a:t>Rule-Based Programming in PROLOG</a:t>
            </a:r>
            <a:endParaRPr lang="en-US" sz="5200" dirty="0"/>
          </a:p>
        </p:txBody>
      </p:sp>
      <p:sp>
        <p:nvSpPr>
          <p:cNvPr id="5" name="Text 3"/>
          <p:cNvSpPr txBox="1"/>
          <p:nvPr/>
        </p:nvSpPr>
        <p:spPr>
          <a:xfrm>
            <a:off x="812810" y="3047970"/>
            <a:ext cx="7302490" cy="698510"/>
          </a:xfrm>
          <a:prstGeom prst="rect">
            <a:avLst/>
          </a:prstGeom>
          <a:noFill/>
          <a:ln/>
        </p:spPr>
        <p:txBody>
          <a:bodyPr wrap="square" lIns="0" tIns="0" rIns="0" bIns="0" rtlCol="0" anchor="t"/>
          <a:lstStyle/>
          <a:p>
            <a:pPr marL="0" indent="0">
              <a:lnSpc>
                <a:spcPct val="115000"/>
              </a:lnSpc>
              <a:buNone/>
            </a:pPr>
            <a:r>
              <a:rPr lang="en-US" sz="1600" dirty="0">
                <a:solidFill>
                  <a:srgbClr val="C9D1E0"/>
                </a:solidFill>
                <a:latin typeface="Calibri" pitchFamily="34" charset="0"/>
                <a:ea typeface="Calibri" pitchFamily="34" charset="-122"/>
                <a:cs typeface="Calibri" pitchFamily="34" charset="-120"/>
              </a:rPr>
              <a:t>IF-THEN rules as Prolog clauses · asking the user for missing facts · a small expert system that explains its answers, with a working demo</a:t>
            </a:r>
            <a:endParaRPr lang="en-US" sz="1600" dirty="0"/>
          </a:p>
        </p:txBody>
      </p:sp>
      <p:sp>
        <p:nvSpPr>
          <p:cNvPr id="9" name="Text 7"/>
          <p:cNvSpPr txBox="1"/>
          <p:nvPr/>
        </p:nvSpPr>
        <p:spPr>
          <a:xfrm>
            <a:off x="2641610" y="4953030"/>
            <a:ext cx="3429000" cy="304770"/>
          </a:xfrm>
          <a:prstGeom prst="rect">
            <a:avLst/>
          </a:prstGeom>
          <a:noFill/>
          <a:ln/>
        </p:spPr>
        <p:txBody>
          <a:bodyPr wrap="square" lIns="0" tIns="0" rIns="0" bIns="0" rtlCol="0" anchor="ctr"/>
          <a:lstStyle/>
          <a:p>
            <a:pPr marL="0" indent="0">
              <a:buNone/>
            </a:pPr>
            <a:r>
              <a:rPr lang="en-US" sz="1400" dirty="0">
                <a:solidFill>
                  <a:srgbClr val="F3EFE4"/>
                </a:solidFill>
                <a:latin typeface="Calibri" pitchFamily="34" charset="0"/>
                <a:ea typeface="Calibri" pitchFamily="34" charset="-122"/>
                <a:cs typeface="Calibri" pitchFamily="34" charset="-120"/>
              </a:rPr>
              <a:t>Tushar sachdeva (2023UCA1804)</a:t>
            </a:r>
            <a:endParaRPr lang="en-US" sz="1400" dirty="0"/>
          </a:p>
        </p:txBody>
      </p:sp>
      <p:sp>
        <p:nvSpPr>
          <p:cNvPr id="10" name="Text 8"/>
          <p:cNvSpPr txBox="1"/>
          <p:nvPr/>
        </p:nvSpPr>
        <p:spPr>
          <a:xfrm>
            <a:off x="6197620" y="4953030"/>
            <a:ext cx="3429000" cy="304770"/>
          </a:xfrm>
          <a:prstGeom prst="rect">
            <a:avLst/>
          </a:prstGeom>
          <a:noFill/>
          <a:ln/>
        </p:spPr>
        <p:txBody>
          <a:bodyPr wrap="square" lIns="0" tIns="0" rIns="0" bIns="0" rtlCol="0" anchor="ctr"/>
          <a:lstStyle/>
          <a:p>
            <a:pPr marL="0" indent="0">
              <a:buNone/>
            </a:pPr>
            <a:endParaRPr lang="en-US" sz="1400" dirty="0"/>
          </a:p>
        </p:txBody>
      </p:sp>
      <p:sp>
        <p:nvSpPr>
          <p:cNvPr id="11" name="Text 9"/>
          <p:cNvSpPr txBox="1"/>
          <p:nvPr/>
        </p:nvSpPr>
        <p:spPr>
          <a:xfrm>
            <a:off x="2641610" y="5410230"/>
            <a:ext cx="3429000" cy="304770"/>
          </a:xfrm>
          <a:prstGeom prst="rect">
            <a:avLst/>
          </a:prstGeom>
          <a:noFill/>
          <a:ln/>
        </p:spPr>
        <p:txBody>
          <a:bodyPr wrap="square" lIns="0" tIns="0" rIns="0" bIns="0" rtlCol="0" anchor="ctr"/>
          <a:lstStyle/>
          <a:p>
            <a:r>
              <a:rPr lang="en-US" sz="1400" dirty="0">
                <a:solidFill>
                  <a:srgbClr val="F3EFE4"/>
                </a:solidFill>
                <a:latin typeface="Calibri" pitchFamily="34" charset="0"/>
                <a:ea typeface="Calibri" pitchFamily="34" charset="-122"/>
                <a:cs typeface="Calibri" pitchFamily="34" charset="-120"/>
              </a:rPr>
              <a:t>Pariket (2023UCA1855) </a:t>
            </a:r>
            <a:endParaRPr lang="en-US" sz="1400" dirty="0"/>
          </a:p>
        </p:txBody>
      </p:sp>
      <p:sp>
        <p:nvSpPr>
          <p:cNvPr id="12" name="Text 10"/>
          <p:cNvSpPr txBox="1"/>
          <p:nvPr/>
        </p:nvSpPr>
        <p:spPr>
          <a:xfrm>
            <a:off x="6197620" y="5410230"/>
            <a:ext cx="3429000" cy="30477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Outline</a:t>
            </a:r>
            <a:endParaRPr lang="en-US" sz="3000" dirty="0"/>
          </a:p>
        </p:txBody>
      </p:sp>
      <p:sp>
        <p:nvSpPr>
          <p:cNvPr id="4" name="Text 2"/>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02</a:t>
            </a:r>
            <a:endParaRPr lang="en-US" sz="1200" dirty="0"/>
          </a:p>
        </p:txBody>
      </p:sp>
      <p:sp>
        <p:nvSpPr>
          <p:cNvPr id="6" name="Shape 3"/>
          <p:cNvSpPr/>
          <p:nvPr/>
        </p:nvSpPr>
        <p:spPr>
          <a:xfrm>
            <a:off x="812810" y="1727210"/>
            <a:ext cx="3384560" cy="1892259"/>
          </a:xfrm>
          <a:prstGeom prst="roundRect">
            <a:avLst>
              <a:gd name="adj" fmla="val 4832"/>
            </a:avLst>
          </a:prstGeom>
          <a:solidFill>
            <a:srgbClr val="FFFFFF"/>
          </a:solidFill>
          <a:ln w="12700">
            <a:solidFill>
              <a:srgbClr val="E3E1DA"/>
            </a:solidFill>
            <a:prstDash val="solid"/>
          </a:ln>
        </p:spPr>
      </p:sp>
      <p:sp>
        <p:nvSpPr>
          <p:cNvPr id="7" name="Text 4"/>
          <p:cNvSpPr txBox="1"/>
          <p:nvPr/>
        </p:nvSpPr>
        <p:spPr>
          <a:xfrm>
            <a:off x="1041410" y="193039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01</a:t>
            </a:r>
            <a:endParaRPr lang="en-US" sz="2200" dirty="0"/>
          </a:p>
        </p:txBody>
      </p:sp>
      <p:sp>
        <p:nvSpPr>
          <p:cNvPr id="8" name="Text 5"/>
          <p:cNvSpPr txBox="1"/>
          <p:nvPr/>
        </p:nvSpPr>
        <p:spPr>
          <a:xfrm>
            <a:off x="1041410" y="240030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Motivation &amp; background</a:t>
            </a:r>
            <a:endParaRPr lang="en-US" sz="1700" dirty="0"/>
          </a:p>
        </p:txBody>
      </p:sp>
      <p:sp>
        <p:nvSpPr>
          <p:cNvPr id="9" name="Text 6"/>
          <p:cNvSpPr txBox="1"/>
          <p:nvPr/>
        </p:nvSpPr>
        <p:spPr>
          <a:xfrm>
            <a:off x="1041410" y="278133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Why IF-THEN rules matter, and where Prolog came from</a:t>
            </a:r>
            <a:endParaRPr lang="en-US" sz="1300" dirty="0"/>
          </a:p>
        </p:txBody>
      </p:sp>
      <p:sp>
        <p:nvSpPr>
          <p:cNvPr id="10" name="Shape 7"/>
          <p:cNvSpPr/>
          <p:nvPr/>
        </p:nvSpPr>
        <p:spPr>
          <a:xfrm>
            <a:off x="4400550" y="1727210"/>
            <a:ext cx="3384560" cy="1892259"/>
          </a:xfrm>
          <a:prstGeom prst="roundRect">
            <a:avLst>
              <a:gd name="adj" fmla="val 4832"/>
            </a:avLst>
          </a:prstGeom>
          <a:solidFill>
            <a:srgbClr val="FFFFFF"/>
          </a:solidFill>
          <a:ln w="12700">
            <a:solidFill>
              <a:srgbClr val="E3E1DA"/>
            </a:solidFill>
            <a:prstDash val="solid"/>
          </a:ln>
        </p:spPr>
      </p:sp>
      <p:sp>
        <p:nvSpPr>
          <p:cNvPr id="11" name="Text 8"/>
          <p:cNvSpPr txBox="1"/>
          <p:nvPr/>
        </p:nvSpPr>
        <p:spPr>
          <a:xfrm>
            <a:off x="4629150" y="193039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629150" y="240030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Core concepts</a:t>
            </a:r>
            <a:endParaRPr lang="en-US" sz="1700" dirty="0"/>
          </a:p>
        </p:txBody>
      </p:sp>
      <p:sp>
        <p:nvSpPr>
          <p:cNvPr id="13" name="Text 10"/>
          <p:cNvSpPr txBox="1"/>
          <p:nvPr/>
        </p:nvSpPr>
        <p:spPr>
          <a:xfrm>
            <a:off x="4629150" y="278133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Rules as clauses, backward chaining, asking the user for facts</a:t>
            </a:r>
            <a:endParaRPr lang="en-US" sz="1300" dirty="0"/>
          </a:p>
        </p:txBody>
      </p:sp>
      <p:sp>
        <p:nvSpPr>
          <p:cNvPr id="14" name="Shape 11"/>
          <p:cNvSpPr/>
          <p:nvPr/>
        </p:nvSpPr>
        <p:spPr>
          <a:xfrm>
            <a:off x="7988290" y="1727210"/>
            <a:ext cx="3384560" cy="1892259"/>
          </a:xfrm>
          <a:prstGeom prst="roundRect">
            <a:avLst>
              <a:gd name="adj" fmla="val 4832"/>
            </a:avLst>
          </a:prstGeom>
          <a:solidFill>
            <a:srgbClr val="FFFFFF"/>
          </a:solidFill>
          <a:ln w="12700">
            <a:solidFill>
              <a:srgbClr val="E3E1DA"/>
            </a:solidFill>
            <a:prstDash val="solid"/>
          </a:ln>
        </p:spPr>
      </p:sp>
      <p:sp>
        <p:nvSpPr>
          <p:cNvPr id="15" name="Text 12"/>
          <p:cNvSpPr txBox="1"/>
          <p:nvPr/>
        </p:nvSpPr>
        <p:spPr>
          <a:xfrm>
            <a:off x="8216890" y="193039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03</a:t>
            </a:r>
            <a:endParaRPr lang="en-US" sz="2200" dirty="0"/>
          </a:p>
        </p:txBody>
      </p:sp>
      <p:sp>
        <p:nvSpPr>
          <p:cNvPr id="16" name="Text 13"/>
          <p:cNvSpPr txBox="1"/>
          <p:nvPr/>
        </p:nvSpPr>
        <p:spPr>
          <a:xfrm>
            <a:off x="8216890" y="240030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Building the system</a:t>
            </a:r>
            <a:endParaRPr lang="en-US" sz="1700" dirty="0"/>
          </a:p>
        </p:txBody>
      </p:sp>
      <p:sp>
        <p:nvSpPr>
          <p:cNvPr id="17" name="Text 14"/>
          <p:cNvSpPr txBox="1"/>
          <p:nvPr/>
        </p:nvSpPr>
        <p:spPr>
          <a:xfrm>
            <a:off x="8216890" y="278133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Knowledge base, inference engine, WHY and HOW explanations</a:t>
            </a:r>
            <a:endParaRPr lang="en-US" sz="1300" dirty="0"/>
          </a:p>
        </p:txBody>
      </p:sp>
      <p:sp>
        <p:nvSpPr>
          <p:cNvPr id="18" name="Shape 15"/>
          <p:cNvSpPr/>
          <p:nvPr/>
        </p:nvSpPr>
        <p:spPr>
          <a:xfrm>
            <a:off x="812810" y="3822741"/>
            <a:ext cx="3384560" cy="1892259"/>
          </a:xfrm>
          <a:prstGeom prst="roundRect">
            <a:avLst>
              <a:gd name="adj" fmla="val 4832"/>
            </a:avLst>
          </a:prstGeom>
          <a:solidFill>
            <a:srgbClr val="FFFFFF"/>
          </a:solidFill>
          <a:ln w="12700">
            <a:solidFill>
              <a:srgbClr val="E3E1DA"/>
            </a:solidFill>
            <a:prstDash val="solid"/>
          </a:ln>
        </p:spPr>
      </p:sp>
      <p:sp>
        <p:nvSpPr>
          <p:cNvPr id="19" name="Text 16"/>
          <p:cNvSpPr txBox="1"/>
          <p:nvPr/>
        </p:nvSpPr>
        <p:spPr>
          <a:xfrm>
            <a:off x="1041410" y="402592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04</a:t>
            </a:r>
            <a:endParaRPr lang="en-US" sz="2200" dirty="0"/>
          </a:p>
        </p:txBody>
      </p:sp>
      <p:sp>
        <p:nvSpPr>
          <p:cNvPr id="20" name="Text 17"/>
          <p:cNvSpPr txBox="1"/>
          <p:nvPr/>
        </p:nvSpPr>
        <p:spPr>
          <a:xfrm>
            <a:off x="1041410" y="449583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Working demo</a:t>
            </a:r>
            <a:endParaRPr lang="en-US" sz="1700" dirty="0"/>
          </a:p>
        </p:txBody>
      </p:sp>
      <p:sp>
        <p:nvSpPr>
          <p:cNvPr id="21" name="Text 18"/>
          <p:cNvSpPr txBox="1"/>
          <p:nvPr/>
        </p:nvSpPr>
        <p:spPr>
          <a:xfrm>
            <a:off x="1041410" y="487677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Animal identification and fever / flu, with real output</a:t>
            </a:r>
            <a:endParaRPr lang="en-US" sz="1300" dirty="0"/>
          </a:p>
        </p:txBody>
      </p:sp>
      <p:sp>
        <p:nvSpPr>
          <p:cNvPr id="22" name="Shape 19"/>
          <p:cNvSpPr/>
          <p:nvPr/>
        </p:nvSpPr>
        <p:spPr>
          <a:xfrm>
            <a:off x="4400550" y="3822741"/>
            <a:ext cx="3384560" cy="1892259"/>
          </a:xfrm>
          <a:prstGeom prst="roundRect">
            <a:avLst>
              <a:gd name="adj" fmla="val 4832"/>
            </a:avLst>
          </a:prstGeom>
          <a:solidFill>
            <a:srgbClr val="FFFFFF"/>
          </a:solidFill>
          <a:ln w="12700">
            <a:solidFill>
              <a:srgbClr val="E3E1DA"/>
            </a:solidFill>
            <a:prstDash val="solid"/>
          </a:ln>
        </p:spPr>
      </p:sp>
      <p:sp>
        <p:nvSpPr>
          <p:cNvPr id="23" name="Text 20"/>
          <p:cNvSpPr txBox="1"/>
          <p:nvPr/>
        </p:nvSpPr>
        <p:spPr>
          <a:xfrm>
            <a:off x="4629150" y="402592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05</a:t>
            </a:r>
            <a:endParaRPr lang="en-US" sz="2200" dirty="0"/>
          </a:p>
        </p:txBody>
      </p:sp>
      <p:sp>
        <p:nvSpPr>
          <p:cNvPr id="24" name="Text 21"/>
          <p:cNvSpPr txBox="1"/>
          <p:nvPr/>
        </p:nvSpPr>
        <p:spPr>
          <a:xfrm>
            <a:off x="4629150" y="449583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Case studies</a:t>
            </a:r>
            <a:endParaRPr lang="en-US" sz="1700" dirty="0"/>
          </a:p>
        </p:txBody>
      </p:sp>
      <p:sp>
        <p:nvSpPr>
          <p:cNvPr id="25" name="Text 22"/>
          <p:cNvSpPr txBox="1"/>
          <p:nvPr/>
        </p:nvSpPr>
        <p:spPr>
          <a:xfrm>
            <a:off x="4629150" y="487677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MYCIN, the British Nationality Act, Prolog in IBM Watson and at NASA</a:t>
            </a:r>
            <a:endParaRPr lang="en-US" sz="1300" dirty="0"/>
          </a:p>
        </p:txBody>
      </p:sp>
      <p:sp>
        <p:nvSpPr>
          <p:cNvPr id="26" name="Shape 23"/>
          <p:cNvSpPr/>
          <p:nvPr/>
        </p:nvSpPr>
        <p:spPr>
          <a:xfrm>
            <a:off x="7988290" y="3822741"/>
            <a:ext cx="3384560" cy="1892259"/>
          </a:xfrm>
          <a:prstGeom prst="roundRect">
            <a:avLst>
              <a:gd name="adj" fmla="val 4832"/>
            </a:avLst>
          </a:prstGeom>
          <a:solidFill>
            <a:srgbClr val="FFFFFF"/>
          </a:solidFill>
          <a:ln w="12700">
            <a:solidFill>
              <a:srgbClr val="E3E1DA"/>
            </a:solidFill>
            <a:prstDash val="solid"/>
          </a:ln>
        </p:spPr>
      </p:sp>
      <p:sp>
        <p:nvSpPr>
          <p:cNvPr id="27" name="Text 24"/>
          <p:cNvSpPr txBox="1"/>
          <p:nvPr/>
        </p:nvSpPr>
        <p:spPr>
          <a:xfrm>
            <a:off x="8216890" y="4025920"/>
            <a:ext cx="1270010"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06</a:t>
            </a:r>
            <a:endParaRPr lang="en-US" sz="2200" dirty="0"/>
          </a:p>
        </p:txBody>
      </p:sp>
      <p:sp>
        <p:nvSpPr>
          <p:cNvPr id="28" name="Text 25"/>
          <p:cNvSpPr txBox="1"/>
          <p:nvPr/>
        </p:nvSpPr>
        <p:spPr>
          <a:xfrm>
            <a:off x="8216890" y="4495830"/>
            <a:ext cx="2927360" cy="317480"/>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Limits &amp; takeaways</a:t>
            </a:r>
            <a:endParaRPr lang="en-US" sz="1700" dirty="0"/>
          </a:p>
        </p:txBody>
      </p:sp>
      <p:sp>
        <p:nvSpPr>
          <p:cNvPr id="29" name="Text 26"/>
          <p:cNvSpPr txBox="1"/>
          <p:nvPr/>
        </p:nvSpPr>
        <p:spPr>
          <a:xfrm>
            <a:off x="8216890" y="4876770"/>
            <a:ext cx="2927360" cy="634959"/>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What rule-based systems cannot do, and what to remember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01 · MOTIVATION</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Why rule-based programming?</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Durkin (1994);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03</a:t>
            </a:r>
            <a:endParaRPr lang="en-US" sz="1200" dirty="0"/>
          </a:p>
        </p:txBody>
      </p:sp>
      <p:sp>
        <p:nvSpPr>
          <p:cNvPr id="7" name="Shape 4"/>
          <p:cNvSpPr/>
          <p:nvPr/>
        </p:nvSpPr>
        <p:spPr>
          <a:xfrm>
            <a:off x="812810" y="1727210"/>
            <a:ext cx="5181630" cy="1841510"/>
          </a:xfrm>
          <a:prstGeom prst="roundRect">
            <a:avLst>
              <a:gd name="adj" fmla="val 4965"/>
            </a:avLst>
          </a:prstGeom>
          <a:solidFill>
            <a:srgbClr val="FFFFFF"/>
          </a:solidFill>
          <a:ln w="12700">
            <a:solidFill>
              <a:srgbClr val="E3E1DA"/>
            </a:solidFill>
            <a:prstDash val="solid"/>
          </a:ln>
        </p:spPr>
      </p:sp>
      <p:sp>
        <p:nvSpPr>
          <p:cNvPr id="8" name="Shape 5"/>
          <p:cNvSpPr/>
          <p:nvPr/>
        </p:nvSpPr>
        <p:spPr>
          <a:xfrm>
            <a:off x="1041410" y="1955810"/>
            <a:ext cx="381030" cy="381030"/>
          </a:xfrm>
          <a:prstGeom prst="ellipse">
            <a:avLst/>
          </a:prstGeom>
          <a:solidFill>
            <a:srgbClr val="A8441A"/>
          </a:solidFill>
          <a:ln/>
        </p:spPr>
      </p:sp>
      <p:sp>
        <p:nvSpPr>
          <p:cNvPr id="9" name="Text 6"/>
          <p:cNvSpPr txBox="1"/>
          <p:nvPr/>
        </p:nvSpPr>
        <p:spPr>
          <a:xfrm>
            <a:off x="1041410" y="1955810"/>
            <a:ext cx="381030" cy="38103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574780" y="1955810"/>
            <a:ext cx="4229100" cy="38103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Experts think in rules</a:t>
            </a:r>
            <a:endParaRPr lang="en-US" sz="1700" dirty="0"/>
          </a:p>
        </p:txBody>
      </p:sp>
      <p:sp>
        <p:nvSpPr>
          <p:cNvPr id="11" name="Text 8"/>
          <p:cNvSpPr txBox="1"/>
          <p:nvPr/>
        </p:nvSpPr>
        <p:spPr>
          <a:xfrm>
            <a:off x="1041410" y="2540020"/>
            <a:ext cx="4724430" cy="825520"/>
          </a:xfrm>
          <a:prstGeom prst="rect">
            <a:avLst/>
          </a:prstGeom>
          <a:noFill/>
          <a:ln/>
        </p:spPr>
        <p:txBody>
          <a:bodyPr wrap="square" lIns="0" tIns="0" rIns="0" bIns="0" rtlCol="0" anchor="t"/>
          <a:lstStyle/>
          <a:p>
            <a:pPr marL="0" indent="0">
              <a:lnSpc>
                <a:spcPct val="115000"/>
              </a:lnSpc>
              <a:buNone/>
            </a:pPr>
            <a:r>
              <a:rPr lang="en-US" sz="1400" dirty="0">
                <a:solidFill>
                  <a:srgbClr val="4A5264"/>
                </a:solidFill>
                <a:latin typeface="Calibri" pitchFamily="34" charset="0"/>
                <a:ea typeface="Calibri" pitchFamily="34" charset="-122"/>
                <a:cs typeface="Calibri" pitchFamily="34" charset="-120"/>
              </a:rPr>
              <a:t>Doctors, mechanics and zoologists state know-how as rules of thumb: IF fever AND body ache THEN suspect flu.</a:t>
            </a:r>
            <a:endParaRPr lang="en-US" sz="1400" dirty="0"/>
          </a:p>
        </p:txBody>
      </p:sp>
      <p:sp>
        <p:nvSpPr>
          <p:cNvPr id="12" name="Shape 9"/>
          <p:cNvSpPr/>
          <p:nvPr/>
        </p:nvSpPr>
        <p:spPr>
          <a:xfrm>
            <a:off x="6197620" y="1727210"/>
            <a:ext cx="5181630" cy="1841510"/>
          </a:xfrm>
          <a:prstGeom prst="roundRect">
            <a:avLst>
              <a:gd name="adj" fmla="val 4965"/>
            </a:avLst>
          </a:prstGeom>
          <a:solidFill>
            <a:srgbClr val="FFFFFF"/>
          </a:solidFill>
          <a:ln w="12700">
            <a:solidFill>
              <a:srgbClr val="E3E1DA"/>
            </a:solidFill>
            <a:prstDash val="solid"/>
          </a:ln>
        </p:spPr>
      </p:sp>
      <p:sp>
        <p:nvSpPr>
          <p:cNvPr id="13" name="Shape 10"/>
          <p:cNvSpPr/>
          <p:nvPr/>
        </p:nvSpPr>
        <p:spPr>
          <a:xfrm>
            <a:off x="6426220" y="1955810"/>
            <a:ext cx="381030" cy="381030"/>
          </a:xfrm>
          <a:prstGeom prst="ellipse">
            <a:avLst/>
          </a:prstGeom>
          <a:solidFill>
            <a:srgbClr val="A8441A"/>
          </a:solidFill>
          <a:ln/>
        </p:spPr>
      </p:sp>
      <p:sp>
        <p:nvSpPr>
          <p:cNvPr id="14" name="Text 11"/>
          <p:cNvSpPr txBox="1"/>
          <p:nvPr/>
        </p:nvSpPr>
        <p:spPr>
          <a:xfrm>
            <a:off x="6426220" y="1955810"/>
            <a:ext cx="381030" cy="38103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6959590" y="1955810"/>
            <a:ext cx="4229100" cy="38103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Knowledge stays separate from code</a:t>
            </a:r>
            <a:endParaRPr lang="en-US" sz="1700" dirty="0"/>
          </a:p>
        </p:txBody>
      </p:sp>
      <p:sp>
        <p:nvSpPr>
          <p:cNvPr id="16" name="Text 13"/>
          <p:cNvSpPr txBox="1"/>
          <p:nvPr/>
        </p:nvSpPr>
        <p:spPr>
          <a:xfrm>
            <a:off x="6426220" y="2540020"/>
            <a:ext cx="4724430" cy="825520"/>
          </a:xfrm>
          <a:prstGeom prst="rect">
            <a:avLst/>
          </a:prstGeom>
          <a:noFill/>
          <a:ln/>
        </p:spPr>
        <p:txBody>
          <a:bodyPr wrap="square" lIns="0" tIns="0" rIns="0" bIns="0" rtlCol="0" anchor="t"/>
          <a:lstStyle/>
          <a:p>
            <a:pPr marL="0" indent="0">
              <a:lnSpc>
                <a:spcPct val="115000"/>
              </a:lnSpc>
              <a:buNone/>
            </a:pPr>
            <a:r>
              <a:rPr lang="en-US" sz="1400" dirty="0">
                <a:solidFill>
                  <a:srgbClr val="4A5264"/>
                </a:solidFill>
                <a:latin typeface="Calibri" pitchFamily="34" charset="0"/>
                <a:ea typeface="Calibri" pitchFamily="34" charset="-122"/>
                <a:cs typeface="Calibri" pitchFamily="34" charset="-120"/>
              </a:rPr>
              <a:t>Rules live in a knowledge base; a generic inference engine applies them. Edit the rules, not the program.</a:t>
            </a:r>
            <a:endParaRPr lang="en-US" sz="1400" dirty="0"/>
          </a:p>
        </p:txBody>
      </p:sp>
      <p:sp>
        <p:nvSpPr>
          <p:cNvPr id="17" name="Shape 14"/>
          <p:cNvSpPr/>
          <p:nvPr/>
        </p:nvSpPr>
        <p:spPr>
          <a:xfrm>
            <a:off x="812810" y="3771900"/>
            <a:ext cx="5181630" cy="1841510"/>
          </a:xfrm>
          <a:prstGeom prst="roundRect">
            <a:avLst>
              <a:gd name="adj" fmla="val 4965"/>
            </a:avLst>
          </a:prstGeom>
          <a:solidFill>
            <a:srgbClr val="FFFFFF"/>
          </a:solidFill>
          <a:ln w="12700">
            <a:solidFill>
              <a:srgbClr val="E3E1DA"/>
            </a:solidFill>
            <a:prstDash val="solid"/>
          </a:ln>
        </p:spPr>
      </p:sp>
      <p:sp>
        <p:nvSpPr>
          <p:cNvPr id="18" name="Shape 15"/>
          <p:cNvSpPr/>
          <p:nvPr/>
        </p:nvSpPr>
        <p:spPr>
          <a:xfrm>
            <a:off x="1041410" y="4000500"/>
            <a:ext cx="381030" cy="381030"/>
          </a:xfrm>
          <a:prstGeom prst="ellipse">
            <a:avLst/>
          </a:prstGeom>
          <a:solidFill>
            <a:srgbClr val="A8441A"/>
          </a:solidFill>
          <a:ln/>
        </p:spPr>
      </p:sp>
      <p:sp>
        <p:nvSpPr>
          <p:cNvPr id="19" name="Text 16"/>
          <p:cNvSpPr txBox="1"/>
          <p:nvPr/>
        </p:nvSpPr>
        <p:spPr>
          <a:xfrm>
            <a:off x="1041410" y="4000500"/>
            <a:ext cx="381030" cy="38103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1574780" y="4000500"/>
            <a:ext cx="4229100" cy="38103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Every answer can be explained</a:t>
            </a:r>
            <a:endParaRPr lang="en-US" sz="1700" dirty="0"/>
          </a:p>
        </p:txBody>
      </p:sp>
      <p:sp>
        <p:nvSpPr>
          <p:cNvPr id="21" name="Text 18"/>
          <p:cNvSpPr txBox="1"/>
          <p:nvPr/>
        </p:nvSpPr>
        <p:spPr>
          <a:xfrm>
            <a:off x="1041410" y="4584710"/>
            <a:ext cx="4724430" cy="825520"/>
          </a:xfrm>
          <a:prstGeom prst="rect">
            <a:avLst/>
          </a:prstGeom>
          <a:noFill/>
          <a:ln/>
        </p:spPr>
        <p:txBody>
          <a:bodyPr wrap="square" lIns="0" tIns="0" rIns="0" bIns="0" rtlCol="0" anchor="t"/>
          <a:lstStyle/>
          <a:p>
            <a:pPr marL="0" indent="0">
              <a:lnSpc>
                <a:spcPct val="115000"/>
              </a:lnSpc>
              <a:buNone/>
            </a:pPr>
            <a:r>
              <a:rPr lang="en-US" sz="1400" dirty="0">
                <a:solidFill>
                  <a:srgbClr val="4A5264"/>
                </a:solidFill>
                <a:latin typeface="Calibri" pitchFamily="34" charset="0"/>
                <a:ea typeface="Calibri" pitchFamily="34" charset="-122"/>
                <a:cs typeface="Calibri" pitchFamily="34" charset="-120"/>
              </a:rPr>
              <a:t>The chain of rules used is a proof, so the system can say HOW it concluded and WHY it asks a question.</a:t>
            </a:r>
            <a:endParaRPr lang="en-US" sz="1400" dirty="0"/>
          </a:p>
        </p:txBody>
      </p:sp>
      <p:sp>
        <p:nvSpPr>
          <p:cNvPr id="22" name="Shape 19"/>
          <p:cNvSpPr/>
          <p:nvPr/>
        </p:nvSpPr>
        <p:spPr>
          <a:xfrm>
            <a:off x="6197620" y="3771900"/>
            <a:ext cx="5181630" cy="1841510"/>
          </a:xfrm>
          <a:prstGeom prst="roundRect">
            <a:avLst>
              <a:gd name="adj" fmla="val 4965"/>
            </a:avLst>
          </a:prstGeom>
          <a:solidFill>
            <a:srgbClr val="FFFFFF"/>
          </a:solidFill>
          <a:ln w="12700">
            <a:solidFill>
              <a:srgbClr val="E3E1DA"/>
            </a:solidFill>
            <a:prstDash val="solid"/>
          </a:ln>
        </p:spPr>
      </p:sp>
      <p:sp>
        <p:nvSpPr>
          <p:cNvPr id="23" name="Shape 20"/>
          <p:cNvSpPr/>
          <p:nvPr/>
        </p:nvSpPr>
        <p:spPr>
          <a:xfrm>
            <a:off x="6426220" y="4000500"/>
            <a:ext cx="381030" cy="381030"/>
          </a:xfrm>
          <a:prstGeom prst="ellipse">
            <a:avLst/>
          </a:prstGeom>
          <a:solidFill>
            <a:srgbClr val="A8441A"/>
          </a:solidFill>
          <a:ln/>
        </p:spPr>
      </p:sp>
      <p:sp>
        <p:nvSpPr>
          <p:cNvPr id="24" name="Text 21"/>
          <p:cNvSpPr txBox="1"/>
          <p:nvPr/>
        </p:nvSpPr>
        <p:spPr>
          <a:xfrm>
            <a:off x="6426220" y="4000500"/>
            <a:ext cx="381030" cy="38103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6959590" y="4000500"/>
            <a:ext cx="4229100" cy="38103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Prolog is already a rule engine</a:t>
            </a:r>
            <a:endParaRPr lang="en-US" sz="1700" dirty="0"/>
          </a:p>
        </p:txBody>
      </p:sp>
      <p:sp>
        <p:nvSpPr>
          <p:cNvPr id="26" name="Text 23"/>
          <p:cNvSpPr txBox="1"/>
          <p:nvPr/>
        </p:nvSpPr>
        <p:spPr>
          <a:xfrm>
            <a:off x="6426220" y="4584710"/>
            <a:ext cx="4724430" cy="825520"/>
          </a:xfrm>
          <a:prstGeom prst="rect">
            <a:avLst/>
          </a:prstGeom>
          <a:noFill/>
          <a:ln/>
        </p:spPr>
        <p:txBody>
          <a:bodyPr wrap="square" lIns="0" tIns="0" rIns="0" bIns="0" rtlCol="0" anchor="t"/>
          <a:lstStyle/>
          <a:p>
            <a:pPr marL="0" indent="0">
              <a:lnSpc>
                <a:spcPct val="115000"/>
              </a:lnSpc>
              <a:buNone/>
            </a:pPr>
            <a:r>
              <a:rPr lang="en-US" sz="1400" dirty="0">
                <a:solidFill>
                  <a:srgbClr val="4A5264"/>
                </a:solidFill>
                <a:latin typeface="Calibri" pitchFamily="34" charset="0"/>
                <a:ea typeface="Calibri" pitchFamily="34" charset="-122"/>
                <a:cs typeface="Calibri" pitchFamily="34" charset="-120"/>
              </a:rPr>
              <a:t>A clause is an IF-THEN rule and running it is backward chaining. Our full expert-system shell is about 60 lines.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01 · BACKGROUND</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From expert systems to Prolog: a short history</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Russell &amp; Norvig (2020), Ch. 1; Kowalski (1979); Lally &amp; Fodor (2011)</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04</a:t>
            </a:r>
            <a:endParaRPr lang="en-US" sz="1200" dirty="0"/>
          </a:p>
        </p:txBody>
      </p:sp>
      <p:sp>
        <p:nvSpPr>
          <p:cNvPr id="7" name="Shape 4"/>
          <p:cNvSpPr/>
          <p:nvPr/>
        </p:nvSpPr>
        <p:spPr>
          <a:xfrm>
            <a:off x="812810" y="1904970"/>
            <a:ext cx="10566441" cy="0"/>
          </a:xfrm>
          <a:prstGeom prst="line">
            <a:avLst/>
          </a:prstGeom>
          <a:noFill/>
          <a:ln w="38100">
            <a:solidFill>
              <a:srgbClr val="1B2233"/>
            </a:solidFill>
            <a:prstDash val="solid"/>
          </a:ln>
        </p:spPr>
      </p:sp>
      <p:sp>
        <p:nvSpPr>
          <p:cNvPr id="8" name="Shape 5"/>
          <p:cNvSpPr/>
          <p:nvPr/>
        </p:nvSpPr>
        <p:spPr>
          <a:xfrm>
            <a:off x="812810" y="1828800"/>
            <a:ext cx="152430" cy="152430"/>
          </a:xfrm>
          <a:prstGeom prst="ellipse">
            <a:avLst/>
          </a:prstGeom>
          <a:solidFill>
            <a:srgbClr val="A8441A"/>
          </a:solidFill>
          <a:ln/>
        </p:spPr>
      </p:sp>
      <p:sp>
        <p:nvSpPr>
          <p:cNvPr id="9" name="Text 6"/>
          <p:cNvSpPr txBox="1"/>
          <p:nvPr/>
        </p:nvSpPr>
        <p:spPr>
          <a:xfrm>
            <a:off x="812810"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1965</a:t>
            </a:r>
            <a:endParaRPr lang="en-US" sz="2200" dirty="0"/>
          </a:p>
        </p:txBody>
      </p:sp>
      <p:sp>
        <p:nvSpPr>
          <p:cNvPr id="10" name="Text 7"/>
          <p:cNvSpPr txBox="1"/>
          <p:nvPr/>
        </p:nvSpPr>
        <p:spPr>
          <a:xfrm>
            <a:off x="812810"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DENDRAL</a:t>
            </a:r>
            <a:endParaRPr lang="en-US" sz="1400" dirty="0"/>
          </a:p>
        </p:txBody>
      </p:sp>
      <p:sp>
        <p:nvSpPr>
          <p:cNvPr id="11" name="Text 8"/>
          <p:cNvSpPr txBox="1"/>
          <p:nvPr/>
        </p:nvSpPr>
        <p:spPr>
          <a:xfrm>
            <a:off x="812810"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First expert system (Stanford): infers molecular structure from mass-spectra</a:t>
            </a:r>
            <a:endParaRPr lang="en-US" sz="1200" dirty="0"/>
          </a:p>
        </p:txBody>
      </p:sp>
      <p:sp>
        <p:nvSpPr>
          <p:cNvPr id="12" name="Shape 9"/>
          <p:cNvSpPr/>
          <p:nvPr/>
        </p:nvSpPr>
        <p:spPr>
          <a:xfrm>
            <a:off x="2571750" y="1828800"/>
            <a:ext cx="152430" cy="152430"/>
          </a:xfrm>
          <a:prstGeom prst="ellipse">
            <a:avLst/>
          </a:prstGeom>
          <a:solidFill>
            <a:srgbClr val="A8441A"/>
          </a:solidFill>
          <a:ln/>
        </p:spPr>
      </p:sp>
      <p:sp>
        <p:nvSpPr>
          <p:cNvPr id="13" name="Text 10"/>
          <p:cNvSpPr txBox="1"/>
          <p:nvPr/>
        </p:nvSpPr>
        <p:spPr>
          <a:xfrm>
            <a:off x="2571750"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1972</a:t>
            </a:r>
            <a:endParaRPr lang="en-US" sz="2200" dirty="0"/>
          </a:p>
        </p:txBody>
      </p:sp>
      <p:sp>
        <p:nvSpPr>
          <p:cNvPr id="14" name="Text 11"/>
          <p:cNvSpPr txBox="1"/>
          <p:nvPr/>
        </p:nvSpPr>
        <p:spPr>
          <a:xfrm>
            <a:off x="2571750"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Prolog</a:t>
            </a:r>
            <a:endParaRPr lang="en-US" sz="1400" dirty="0"/>
          </a:p>
        </p:txBody>
      </p:sp>
      <p:sp>
        <p:nvSpPr>
          <p:cNvPr id="15" name="Text 12"/>
          <p:cNvSpPr txBox="1"/>
          <p:nvPr/>
        </p:nvSpPr>
        <p:spPr>
          <a:xfrm>
            <a:off x="2571750"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Colmerauer &amp; Roussel (Marseille), on Kowalski's logic reading of Horn clauses</a:t>
            </a:r>
            <a:endParaRPr lang="en-US" sz="1200" dirty="0"/>
          </a:p>
        </p:txBody>
      </p:sp>
      <p:sp>
        <p:nvSpPr>
          <p:cNvPr id="16" name="Shape 13"/>
          <p:cNvSpPr/>
          <p:nvPr/>
        </p:nvSpPr>
        <p:spPr>
          <a:xfrm>
            <a:off x="4330690" y="1828800"/>
            <a:ext cx="152430" cy="152430"/>
          </a:xfrm>
          <a:prstGeom prst="ellipse">
            <a:avLst/>
          </a:prstGeom>
          <a:solidFill>
            <a:srgbClr val="A8441A"/>
          </a:solidFill>
          <a:ln/>
        </p:spPr>
      </p:sp>
      <p:sp>
        <p:nvSpPr>
          <p:cNvPr id="17" name="Text 14"/>
          <p:cNvSpPr txBox="1"/>
          <p:nvPr/>
        </p:nvSpPr>
        <p:spPr>
          <a:xfrm>
            <a:off x="4330690"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1976</a:t>
            </a:r>
            <a:endParaRPr lang="en-US" sz="2200" dirty="0"/>
          </a:p>
        </p:txBody>
      </p:sp>
      <p:sp>
        <p:nvSpPr>
          <p:cNvPr id="18" name="Text 15"/>
          <p:cNvSpPr txBox="1"/>
          <p:nvPr/>
        </p:nvSpPr>
        <p:spPr>
          <a:xfrm>
            <a:off x="4330690"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MYCIN</a:t>
            </a:r>
            <a:endParaRPr lang="en-US" sz="1400" dirty="0"/>
          </a:p>
        </p:txBody>
      </p:sp>
      <p:sp>
        <p:nvSpPr>
          <p:cNvPr id="19" name="Text 16"/>
          <p:cNvSpPr txBox="1"/>
          <p:nvPr/>
        </p:nvSpPr>
        <p:spPr>
          <a:xfrm>
            <a:off x="4330690"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About 450 rules diagnose blood infections and explain HOW and WHY</a:t>
            </a:r>
            <a:endParaRPr lang="en-US" sz="1200" dirty="0"/>
          </a:p>
        </p:txBody>
      </p:sp>
      <p:sp>
        <p:nvSpPr>
          <p:cNvPr id="20" name="Shape 17"/>
          <p:cNvSpPr/>
          <p:nvPr/>
        </p:nvSpPr>
        <p:spPr>
          <a:xfrm>
            <a:off x="6089630" y="1828800"/>
            <a:ext cx="152430" cy="152430"/>
          </a:xfrm>
          <a:prstGeom prst="ellipse">
            <a:avLst/>
          </a:prstGeom>
          <a:solidFill>
            <a:srgbClr val="A8441A"/>
          </a:solidFill>
          <a:ln/>
        </p:spPr>
      </p:sp>
      <p:sp>
        <p:nvSpPr>
          <p:cNvPr id="21" name="Text 18"/>
          <p:cNvSpPr txBox="1"/>
          <p:nvPr/>
        </p:nvSpPr>
        <p:spPr>
          <a:xfrm>
            <a:off x="6089630"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1980</a:t>
            </a:r>
            <a:endParaRPr lang="en-US" sz="2200" dirty="0"/>
          </a:p>
        </p:txBody>
      </p:sp>
      <p:sp>
        <p:nvSpPr>
          <p:cNvPr id="22" name="Text 19"/>
          <p:cNvSpPr txBox="1"/>
          <p:nvPr/>
        </p:nvSpPr>
        <p:spPr>
          <a:xfrm>
            <a:off x="6089630"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R1 / XCON</a:t>
            </a:r>
            <a:endParaRPr lang="en-US" sz="1400" dirty="0"/>
          </a:p>
        </p:txBody>
      </p:sp>
      <p:sp>
        <p:nvSpPr>
          <p:cNvPr id="23" name="Text 20"/>
          <p:cNvSpPr txBox="1"/>
          <p:nvPr/>
        </p:nvSpPr>
        <p:spPr>
          <a:xfrm>
            <a:off x="6089630"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Configures VAX orders at DEC; by 1986 saving an estimated $40M a year</a:t>
            </a:r>
            <a:endParaRPr lang="en-US" sz="1200" dirty="0"/>
          </a:p>
        </p:txBody>
      </p:sp>
      <p:sp>
        <p:nvSpPr>
          <p:cNvPr id="24" name="Shape 21"/>
          <p:cNvSpPr/>
          <p:nvPr/>
        </p:nvSpPr>
        <p:spPr>
          <a:xfrm>
            <a:off x="7848570" y="1828800"/>
            <a:ext cx="152430" cy="152430"/>
          </a:xfrm>
          <a:prstGeom prst="ellipse">
            <a:avLst/>
          </a:prstGeom>
          <a:solidFill>
            <a:srgbClr val="A8441A"/>
          </a:solidFill>
          <a:ln/>
        </p:spPr>
      </p:sp>
      <p:sp>
        <p:nvSpPr>
          <p:cNvPr id="25" name="Text 22"/>
          <p:cNvSpPr txBox="1"/>
          <p:nvPr/>
        </p:nvSpPr>
        <p:spPr>
          <a:xfrm>
            <a:off x="7848570"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1982</a:t>
            </a:r>
            <a:endParaRPr lang="en-US" sz="2200" dirty="0"/>
          </a:p>
        </p:txBody>
      </p:sp>
      <p:sp>
        <p:nvSpPr>
          <p:cNvPr id="26" name="Text 23"/>
          <p:cNvSpPr txBox="1"/>
          <p:nvPr/>
        </p:nvSpPr>
        <p:spPr>
          <a:xfrm>
            <a:off x="7848570"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Fifth Generation</a:t>
            </a:r>
            <a:endParaRPr lang="en-US" sz="1400" dirty="0"/>
          </a:p>
        </p:txBody>
      </p:sp>
      <p:sp>
        <p:nvSpPr>
          <p:cNvPr id="27" name="Text 24"/>
          <p:cNvSpPr txBox="1"/>
          <p:nvPr/>
        </p:nvSpPr>
        <p:spPr>
          <a:xfrm>
            <a:off x="7848570"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Japan's national project (1982–92) builds on logic programming</a:t>
            </a:r>
            <a:endParaRPr lang="en-US" sz="1200" dirty="0"/>
          </a:p>
        </p:txBody>
      </p:sp>
      <p:sp>
        <p:nvSpPr>
          <p:cNvPr id="28" name="Shape 25"/>
          <p:cNvSpPr/>
          <p:nvPr/>
        </p:nvSpPr>
        <p:spPr>
          <a:xfrm>
            <a:off x="9607509" y="1828800"/>
            <a:ext cx="152430" cy="152430"/>
          </a:xfrm>
          <a:prstGeom prst="ellipse">
            <a:avLst/>
          </a:prstGeom>
          <a:solidFill>
            <a:srgbClr val="A8441A"/>
          </a:solidFill>
          <a:ln/>
        </p:spPr>
      </p:sp>
      <p:sp>
        <p:nvSpPr>
          <p:cNvPr id="29" name="Text 26"/>
          <p:cNvSpPr txBox="1"/>
          <p:nvPr/>
        </p:nvSpPr>
        <p:spPr>
          <a:xfrm>
            <a:off x="9607509" y="2095530"/>
            <a:ext cx="1651041" cy="381030"/>
          </a:xfrm>
          <a:prstGeom prst="rect">
            <a:avLst/>
          </a:prstGeom>
          <a:noFill/>
          <a:ln/>
        </p:spPr>
        <p:txBody>
          <a:bodyPr wrap="square" lIns="0" tIns="0" rIns="0" bIns="0" rtlCol="0" anchor="ctr"/>
          <a:lstStyle/>
          <a:p>
            <a:pPr marL="0" indent="0">
              <a:buNone/>
            </a:pPr>
            <a:r>
              <a:rPr lang="en-US" sz="2200" b="1" dirty="0">
                <a:solidFill>
                  <a:srgbClr val="A8441A"/>
                </a:solidFill>
                <a:latin typeface="Consolas" pitchFamily="34" charset="0"/>
                <a:ea typeface="Consolas" pitchFamily="34" charset="-122"/>
                <a:cs typeface="Consolas" pitchFamily="34" charset="-120"/>
              </a:rPr>
              <a:t>2011</a:t>
            </a:r>
            <a:endParaRPr lang="en-US" sz="2200" dirty="0"/>
          </a:p>
        </p:txBody>
      </p:sp>
      <p:sp>
        <p:nvSpPr>
          <p:cNvPr id="30" name="Text 27"/>
          <p:cNvSpPr txBox="1"/>
          <p:nvPr/>
        </p:nvSpPr>
        <p:spPr>
          <a:xfrm>
            <a:off x="9607509" y="2514600"/>
            <a:ext cx="1651041" cy="279441"/>
          </a:xfrm>
          <a:prstGeom prst="rect">
            <a:avLst/>
          </a:prstGeom>
          <a:noFill/>
          <a:ln/>
        </p:spPr>
        <p:txBody>
          <a:bodyPr wrap="square" lIns="0" tIns="0" rIns="0" bIns="0" rtlCol="0" anchor="t"/>
          <a:lstStyle/>
          <a:p>
            <a:pPr marL="0" indent="0">
              <a:buNone/>
            </a:pPr>
            <a:r>
              <a:rPr lang="en-US" sz="1400" b="1" dirty="0">
                <a:solidFill>
                  <a:srgbClr val="1B2233"/>
                </a:solidFill>
                <a:latin typeface="Calibri" pitchFamily="34" charset="0"/>
                <a:ea typeface="Calibri" pitchFamily="34" charset="-122"/>
                <a:cs typeface="Calibri" pitchFamily="34" charset="-120"/>
              </a:rPr>
              <a:t>IBM Watson</a:t>
            </a:r>
            <a:endParaRPr lang="en-US" sz="1400" dirty="0"/>
          </a:p>
        </p:txBody>
      </p:sp>
      <p:sp>
        <p:nvSpPr>
          <p:cNvPr id="31" name="Text 28"/>
          <p:cNvSpPr txBox="1"/>
          <p:nvPr/>
        </p:nvSpPr>
        <p:spPr>
          <a:xfrm>
            <a:off x="9607509" y="2832080"/>
            <a:ext cx="1587490" cy="1397020"/>
          </a:xfrm>
          <a:prstGeom prst="rect">
            <a:avLst/>
          </a:prstGeom>
          <a:noFill/>
          <a:ln/>
        </p:spPr>
        <p:txBody>
          <a:bodyPr wrap="square" lIns="0" tIns="0" rIns="0" bIns="0" rtlCol="0" anchor="t"/>
          <a:lstStyle/>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Wins Jeopardy!; Prolog rules help it analyse the questions</a:t>
            </a:r>
            <a:endParaRPr lang="en-US" sz="1200" dirty="0"/>
          </a:p>
        </p:txBody>
      </p:sp>
      <p:sp>
        <p:nvSpPr>
          <p:cNvPr id="32" name="Shape 29"/>
          <p:cNvSpPr/>
          <p:nvPr/>
        </p:nvSpPr>
        <p:spPr>
          <a:xfrm>
            <a:off x="812810" y="4572000"/>
            <a:ext cx="10566441" cy="698510"/>
          </a:xfrm>
          <a:prstGeom prst="roundRect">
            <a:avLst>
              <a:gd name="adj" fmla="val 10473"/>
            </a:avLst>
          </a:prstGeom>
          <a:solidFill>
            <a:srgbClr val="F6E9E1"/>
          </a:solidFill>
          <a:ln/>
        </p:spPr>
      </p:sp>
      <p:sp>
        <p:nvSpPr>
          <p:cNvPr id="33" name="Text 30"/>
          <p:cNvSpPr txBox="1"/>
          <p:nvPr/>
        </p:nvSpPr>
        <p:spPr>
          <a:xfrm>
            <a:off x="990570" y="4572000"/>
            <a:ext cx="10210830" cy="698510"/>
          </a:xfrm>
          <a:prstGeom prst="rect">
            <a:avLst/>
          </a:prstGeom>
          <a:noFill/>
          <a:ln/>
        </p:spPr>
        <p:txBody>
          <a:bodyPr wrap="square" lIns="0" tIns="0" rIns="0" bIns="0" rtlCol="0" anchor="ctr"/>
          <a:lstStyle/>
          <a:p>
            <a:pPr marL="0" indent="0">
              <a:lnSpc>
                <a:spcPct val="110000"/>
              </a:lnSpc>
              <a:buNone/>
            </a:pPr>
            <a:r>
              <a:rPr lang="en-US" sz="1500" b="1" dirty="0">
                <a:solidFill>
                  <a:srgbClr val="1B2233"/>
                </a:solidFill>
                <a:latin typeface="Calibri" pitchFamily="34" charset="0"/>
                <a:ea typeface="Calibri" pitchFamily="34" charset="-122"/>
                <a:cs typeface="Calibri" pitchFamily="34" charset="-120"/>
              </a:rPr>
              <a:t>Lesson:</a:t>
            </a:r>
            <a:r>
              <a:rPr lang="en-US" sz="1500" dirty="0">
                <a:solidFill>
                  <a:srgbClr val="1B2233"/>
                </a:solidFill>
                <a:latin typeface="Calibri" pitchFamily="34" charset="0"/>
                <a:ea typeface="Calibri" pitchFamily="34" charset="-122"/>
                <a:cs typeface="Calibri" pitchFamily="34" charset="-120"/>
              </a:rPr>
              <a:t> rule-based AI and Prolog grew up together; both treat knowledge as logic that a machine can reason with.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Anatomy of a rule-based expert system</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architecture adapted from Durkin (1994); Prolog mapping after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05</a:t>
            </a:r>
            <a:endParaRPr lang="en-US" sz="1200" dirty="0"/>
          </a:p>
        </p:txBody>
      </p:sp>
      <p:sp>
        <p:nvSpPr>
          <p:cNvPr id="7" name="Shape 4"/>
          <p:cNvSpPr/>
          <p:nvPr/>
        </p:nvSpPr>
        <p:spPr>
          <a:xfrm>
            <a:off x="812810" y="3200400"/>
            <a:ext cx="2184410" cy="1015990"/>
          </a:xfrm>
          <a:prstGeom prst="roundRect">
            <a:avLst>
              <a:gd name="adj" fmla="val 9000"/>
            </a:avLst>
          </a:prstGeom>
          <a:solidFill>
            <a:srgbClr val="FFFFFF"/>
          </a:solidFill>
          <a:ln w="19050">
            <a:solidFill>
              <a:srgbClr val="1B2233"/>
            </a:solidFill>
            <a:prstDash val="solid"/>
          </a:ln>
        </p:spPr>
      </p:sp>
      <p:sp>
        <p:nvSpPr>
          <p:cNvPr id="8" name="Text 5"/>
          <p:cNvSpPr txBox="1"/>
          <p:nvPr/>
        </p:nvSpPr>
        <p:spPr>
          <a:xfrm>
            <a:off x="965241" y="3276570"/>
            <a:ext cx="1879641" cy="863559"/>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User</a:t>
            </a:r>
            <a:endParaRPr lang="en-US" sz="1300" dirty="0"/>
          </a:p>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answers yes / no / why</a:t>
            </a:r>
            <a:endParaRPr lang="en-US" sz="1300" dirty="0"/>
          </a:p>
        </p:txBody>
      </p:sp>
      <p:sp>
        <p:nvSpPr>
          <p:cNvPr id="9" name="Shape 6"/>
          <p:cNvSpPr/>
          <p:nvPr/>
        </p:nvSpPr>
        <p:spPr>
          <a:xfrm>
            <a:off x="3606759" y="2692359"/>
            <a:ext cx="2184410" cy="2031980"/>
          </a:xfrm>
          <a:prstGeom prst="roundRect">
            <a:avLst>
              <a:gd name="adj" fmla="val 4500"/>
            </a:avLst>
          </a:prstGeom>
          <a:solidFill>
            <a:srgbClr val="FFFFFF"/>
          </a:solidFill>
          <a:ln w="19050">
            <a:solidFill>
              <a:srgbClr val="1B2233"/>
            </a:solidFill>
            <a:prstDash val="solid"/>
          </a:ln>
        </p:spPr>
      </p:sp>
      <p:sp>
        <p:nvSpPr>
          <p:cNvPr id="10" name="Text 7"/>
          <p:cNvSpPr txBox="1"/>
          <p:nvPr/>
        </p:nvSpPr>
        <p:spPr>
          <a:xfrm>
            <a:off x="3759190" y="2768620"/>
            <a:ext cx="1879641" cy="1879641"/>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User interface</a:t>
            </a:r>
            <a:endParaRPr lang="en-US" sz="1300" dirty="0"/>
          </a:p>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asks for missing facts, shows results</a:t>
            </a:r>
            <a:endParaRPr lang="en-US" sz="1300" dirty="0"/>
          </a:p>
          <a:p>
            <a:pPr marL="0" indent="0">
              <a:lnSpc>
                <a:spcPct val="115000"/>
              </a:lnSpc>
              <a:buNone/>
            </a:pPr>
            <a:r>
              <a:rPr lang="en-US" sz="1200" dirty="0">
                <a:solidFill>
                  <a:srgbClr val="A8441A"/>
                </a:solidFill>
                <a:latin typeface="Consolas" pitchFamily="34" charset="0"/>
                <a:ea typeface="Consolas" pitchFamily="34" charset="-122"/>
                <a:cs typeface="Consolas" pitchFamily="34" charset="-120"/>
              </a:rPr>
              <a:t>ask/2 · read/1</a:t>
            </a:r>
            <a:endParaRPr lang="en-US" sz="1300" dirty="0"/>
          </a:p>
        </p:txBody>
      </p:sp>
      <p:sp>
        <p:nvSpPr>
          <p:cNvPr id="11" name="Shape 8"/>
          <p:cNvSpPr/>
          <p:nvPr/>
        </p:nvSpPr>
        <p:spPr>
          <a:xfrm>
            <a:off x="6400800" y="2692359"/>
            <a:ext cx="2184410" cy="2031980"/>
          </a:xfrm>
          <a:prstGeom prst="roundRect">
            <a:avLst>
              <a:gd name="adj" fmla="val 4500"/>
            </a:avLst>
          </a:prstGeom>
          <a:solidFill>
            <a:srgbClr val="1E2433"/>
          </a:solidFill>
          <a:ln w="19050">
            <a:solidFill>
              <a:srgbClr val="1E2433"/>
            </a:solidFill>
            <a:prstDash val="solid"/>
          </a:ln>
        </p:spPr>
      </p:sp>
      <p:sp>
        <p:nvSpPr>
          <p:cNvPr id="12" name="Text 9"/>
          <p:cNvSpPr txBox="1"/>
          <p:nvPr/>
        </p:nvSpPr>
        <p:spPr>
          <a:xfrm>
            <a:off x="6553230" y="2768620"/>
            <a:ext cx="1879641" cy="1879641"/>
          </a:xfrm>
          <a:prstGeom prst="rect">
            <a:avLst/>
          </a:prstGeom>
          <a:noFill/>
          <a:ln/>
        </p:spPr>
        <p:txBody>
          <a:bodyPr wrap="square" lIns="0" tIns="0" rIns="0" bIns="0" rtlCol="0" anchor="ctr"/>
          <a:lstStyle/>
          <a:p>
            <a:pPr marL="0" indent="0">
              <a:lnSpc>
                <a:spcPct val="115000"/>
              </a:lnSpc>
              <a:buNone/>
            </a:pPr>
            <a:r>
              <a:rPr lang="en-US" sz="1400" b="1" dirty="0">
                <a:solidFill>
                  <a:srgbClr val="F3EFE4"/>
                </a:solidFill>
                <a:latin typeface="Calibri" pitchFamily="34" charset="0"/>
                <a:ea typeface="Calibri" pitchFamily="34" charset="-122"/>
                <a:cs typeface="Calibri" pitchFamily="34" charset="-120"/>
              </a:rPr>
              <a:t>Inference engine</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backward chaining (goal-driven)</a:t>
            </a:r>
            <a:endParaRPr lang="en-US" sz="1300" dirty="0"/>
          </a:p>
          <a:p>
            <a:pPr marL="0" indent="0">
              <a:lnSpc>
                <a:spcPct val="115000"/>
              </a:lnSpc>
              <a:buNone/>
            </a:pPr>
            <a:r>
              <a:rPr lang="en-US" sz="1200" dirty="0">
                <a:solidFill>
                  <a:srgbClr val="F2A65A"/>
                </a:solidFill>
                <a:latin typeface="Consolas" pitchFamily="34" charset="0"/>
                <a:ea typeface="Consolas" pitchFamily="34" charset="-122"/>
                <a:cs typeface="Consolas" pitchFamily="34" charset="-120"/>
              </a:rPr>
              <a:t>prove/3</a:t>
            </a:r>
            <a:endParaRPr lang="en-US" sz="1300" dirty="0"/>
          </a:p>
        </p:txBody>
      </p:sp>
      <p:sp>
        <p:nvSpPr>
          <p:cNvPr id="13" name="Shape 10"/>
          <p:cNvSpPr/>
          <p:nvPr/>
        </p:nvSpPr>
        <p:spPr>
          <a:xfrm>
            <a:off x="9194841" y="1676370"/>
            <a:ext cx="2184410" cy="761970"/>
          </a:xfrm>
          <a:prstGeom prst="roundRect">
            <a:avLst>
              <a:gd name="adj" fmla="val 12000"/>
            </a:avLst>
          </a:prstGeom>
          <a:solidFill>
            <a:srgbClr val="EFEEE9"/>
          </a:solidFill>
          <a:ln w="19050">
            <a:solidFill>
              <a:srgbClr val="4A5264"/>
            </a:solidFill>
            <a:prstDash val="dash"/>
          </a:ln>
        </p:spPr>
      </p:sp>
      <p:sp>
        <p:nvSpPr>
          <p:cNvPr id="14" name="Text 11"/>
          <p:cNvSpPr txBox="1"/>
          <p:nvPr/>
        </p:nvSpPr>
        <p:spPr>
          <a:xfrm>
            <a:off x="9347180" y="1752630"/>
            <a:ext cx="1879641" cy="609630"/>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Domain expert</a:t>
            </a:r>
            <a:endParaRPr lang="en-US" sz="1300" dirty="0"/>
          </a:p>
          <a:p>
            <a:pPr marL="0" indent="0">
              <a:lnSpc>
                <a:spcPct val="115000"/>
              </a:lnSpc>
              <a:buNone/>
            </a:pPr>
            <a:r>
              <a:rPr lang="en-US" sz="1200" dirty="0">
                <a:solidFill>
                  <a:srgbClr val="4A5264"/>
                </a:solidFill>
                <a:latin typeface="Calibri" pitchFamily="34" charset="0"/>
                <a:ea typeface="Calibri" pitchFamily="34" charset="-122"/>
                <a:cs typeface="Calibri" pitchFamily="34" charset="-120"/>
              </a:rPr>
              <a:t>supplies the rules</a:t>
            </a:r>
            <a:endParaRPr lang="en-US" sz="1300" dirty="0"/>
          </a:p>
        </p:txBody>
      </p:sp>
      <p:sp>
        <p:nvSpPr>
          <p:cNvPr id="15" name="Shape 12"/>
          <p:cNvSpPr/>
          <p:nvPr/>
        </p:nvSpPr>
        <p:spPr>
          <a:xfrm>
            <a:off x="9194841" y="2692359"/>
            <a:ext cx="2184410" cy="888980"/>
          </a:xfrm>
          <a:prstGeom prst="roundRect">
            <a:avLst>
              <a:gd name="adj" fmla="val 10286"/>
            </a:avLst>
          </a:prstGeom>
          <a:solidFill>
            <a:srgbClr val="FFFFFF"/>
          </a:solidFill>
          <a:ln w="28575">
            <a:solidFill>
              <a:srgbClr val="A8441A"/>
            </a:solidFill>
            <a:prstDash val="solid"/>
          </a:ln>
        </p:spPr>
      </p:sp>
      <p:sp>
        <p:nvSpPr>
          <p:cNvPr id="16" name="Text 13"/>
          <p:cNvSpPr txBox="1"/>
          <p:nvPr/>
        </p:nvSpPr>
        <p:spPr>
          <a:xfrm>
            <a:off x="9347180" y="2768620"/>
            <a:ext cx="1879641" cy="736641"/>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Knowledge base</a:t>
            </a:r>
            <a:endParaRPr lang="en-US" sz="1300" dirty="0"/>
          </a:p>
          <a:p>
            <a:pPr marL="0" indent="0">
              <a:lnSpc>
                <a:spcPct val="115000"/>
              </a:lnSpc>
              <a:buNone/>
            </a:pPr>
            <a:r>
              <a:rPr lang="en-US" sz="1200" dirty="0">
                <a:solidFill>
                  <a:srgbClr val="A8441A"/>
                </a:solidFill>
                <a:latin typeface="Consolas" pitchFamily="34" charset="0"/>
                <a:ea typeface="Consolas" pitchFamily="34" charset="-122"/>
                <a:cs typeface="Consolas" pitchFamily="34" charset="-120"/>
              </a:rPr>
              <a:t>Id :: if … then …</a:t>
            </a:r>
            <a:endParaRPr lang="en-US" sz="1300" dirty="0"/>
          </a:p>
        </p:txBody>
      </p:sp>
      <p:sp>
        <p:nvSpPr>
          <p:cNvPr id="17" name="Shape 14"/>
          <p:cNvSpPr/>
          <p:nvPr/>
        </p:nvSpPr>
        <p:spPr>
          <a:xfrm>
            <a:off x="9194841" y="3835359"/>
            <a:ext cx="2184410" cy="888980"/>
          </a:xfrm>
          <a:prstGeom prst="roundRect">
            <a:avLst>
              <a:gd name="adj" fmla="val 10286"/>
            </a:avLst>
          </a:prstGeom>
          <a:solidFill>
            <a:srgbClr val="FFFFFF"/>
          </a:solidFill>
          <a:ln w="28575">
            <a:solidFill>
              <a:srgbClr val="2F5DA8"/>
            </a:solidFill>
            <a:prstDash val="solid"/>
          </a:ln>
        </p:spPr>
      </p:sp>
      <p:sp>
        <p:nvSpPr>
          <p:cNvPr id="18" name="Text 15"/>
          <p:cNvSpPr txBox="1"/>
          <p:nvPr/>
        </p:nvSpPr>
        <p:spPr>
          <a:xfrm>
            <a:off x="9347180" y="3911620"/>
            <a:ext cx="1879641" cy="736641"/>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Working memory</a:t>
            </a:r>
            <a:endParaRPr lang="en-US" sz="1300" dirty="0"/>
          </a:p>
          <a:p>
            <a:pPr marL="0" indent="0">
              <a:lnSpc>
                <a:spcPct val="115000"/>
              </a:lnSpc>
              <a:buNone/>
            </a:pPr>
            <a:r>
              <a:rPr lang="en-US" sz="1200" dirty="0">
                <a:solidFill>
                  <a:srgbClr val="2F5DA8"/>
                </a:solidFill>
                <a:latin typeface="Consolas" pitchFamily="34" charset="0"/>
                <a:ea typeface="Consolas" pitchFamily="34" charset="-122"/>
                <a:cs typeface="Consolas" pitchFamily="34" charset="-120"/>
              </a:rPr>
              <a:t>known/2 facts</a:t>
            </a:r>
            <a:endParaRPr lang="en-US" sz="1300" dirty="0"/>
          </a:p>
        </p:txBody>
      </p:sp>
      <p:sp>
        <p:nvSpPr>
          <p:cNvPr id="19" name="Shape 16"/>
          <p:cNvSpPr/>
          <p:nvPr/>
        </p:nvSpPr>
        <p:spPr>
          <a:xfrm>
            <a:off x="6400800" y="4978359"/>
            <a:ext cx="2184410" cy="761970"/>
          </a:xfrm>
          <a:prstGeom prst="roundRect">
            <a:avLst>
              <a:gd name="adj" fmla="val 12000"/>
            </a:avLst>
          </a:prstGeom>
          <a:solidFill>
            <a:srgbClr val="FFFFFF"/>
          </a:solidFill>
          <a:ln w="19050">
            <a:solidFill>
              <a:srgbClr val="1B2233"/>
            </a:solidFill>
            <a:prstDash val="solid"/>
          </a:ln>
        </p:spPr>
      </p:sp>
      <p:sp>
        <p:nvSpPr>
          <p:cNvPr id="20" name="Text 17"/>
          <p:cNvSpPr txBox="1"/>
          <p:nvPr/>
        </p:nvSpPr>
        <p:spPr>
          <a:xfrm>
            <a:off x="6553230" y="5054620"/>
            <a:ext cx="1879641" cy="609630"/>
          </a:xfrm>
          <a:prstGeom prst="rect">
            <a:avLst/>
          </a:prstGeom>
          <a:noFill/>
          <a:ln/>
        </p:spPr>
        <p:txBody>
          <a:bodyPr wrap="square" lIns="0" tIns="0" rIns="0" bIns="0" rtlCol="0" anchor="ctr"/>
          <a:lstStyle/>
          <a:p>
            <a:pPr marL="0" indent="0">
              <a:lnSpc>
                <a:spcPct val="115000"/>
              </a:lnSpc>
              <a:buNone/>
            </a:pPr>
            <a:r>
              <a:rPr lang="en-US" sz="1400" b="1" dirty="0">
                <a:solidFill>
                  <a:srgbClr val="1B2233"/>
                </a:solidFill>
                <a:latin typeface="Calibri" pitchFamily="34" charset="0"/>
                <a:ea typeface="Calibri" pitchFamily="34" charset="-122"/>
                <a:cs typeface="Calibri" pitchFamily="34" charset="-120"/>
              </a:rPr>
              <a:t>Explanation</a:t>
            </a:r>
            <a:endParaRPr lang="en-US" sz="1300" dirty="0"/>
          </a:p>
          <a:p>
            <a:pPr marL="0" indent="0">
              <a:lnSpc>
                <a:spcPct val="115000"/>
              </a:lnSpc>
              <a:buNone/>
            </a:pPr>
            <a:r>
              <a:rPr lang="en-US" sz="1200" dirty="0">
                <a:solidFill>
                  <a:srgbClr val="A8441A"/>
                </a:solidFill>
                <a:latin typeface="Consolas" pitchFamily="34" charset="0"/>
                <a:ea typeface="Consolas" pitchFamily="34" charset="-122"/>
                <a:cs typeface="Consolas" pitchFamily="34" charset="-120"/>
              </a:rPr>
              <a:t>why/1 · how/2</a:t>
            </a:r>
            <a:endParaRPr lang="en-US" sz="1300" dirty="0"/>
          </a:p>
        </p:txBody>
      </p:sp>
      <p:sp>
        <p:nvSpPr>
          <p:cNvPr id="21" name="Shape 18"/>
          <p:cNvSpPr/>
          <p:nvPr/>
        </p:nvSpPr>
        <p:spPr>
          <a:xfrm>
            <a:off x="2997220" y="3708441"/>
            <a:ext cx="609630" cy="0"/>
          </a:xfrm>
          <a:prstGeom prst="line">
            <a:avLst/>
          </a:prstGeom>
          <a:noFill/>
          <a:ln w="28575">
            <a:solidFill>
              <a:srgbClr val="4A5264"/>
            </a:solidFill>
            <a:prstDash val="solid"/>
            <a:headEnd type="triangle"/>
            <a:tailEnd type="triangle"/>
          </a:ln>
        </p:spPr>
      </p:sp>
      <p:sp>
        <p:nvSpPr>
          <p:cNvPr id="22" name="Shape 19"/>
          <p:cNvSpPr/>
          <p:nvPr/>
        </p:nvSpPr>
        <p:spPr>
          <a:xfrm>
            <a:off x="5791170" y="3708441"/>
            <a:ext cx="609630" cy="0"/>
          </a:xfrm>
          <a:prstGeom prst="line">
            <a:avLst/>
          </a:prstGeom>
          <a:noFill/>
          <a:ln w="28575">
            <a:solidFill>
              <a:srgbClr val="4A5264"/>
            </a:solidFill>
            <a:prstDash val="solid"/>
            <a:headEnd type="triangle"/>
            <a:tailEnd type="triangle"/>
          </a:ln>
        </p:spPr>
      </p:sp>
      <p:sp>
        <p:nvSpPr>
          <p:cNvPr id="23" name="Shape 20"/>
          <p:cNvSpPr/>
          <p:nvPr/>
        </p:nvSpPr>
        <p:spPr>
          <a:xfrm flipH="1">
            <a:off x="8585210" y="3136941"/>
            <a:ext cx="609630" cy="0"/>
          </a:xfrm>
          <a:prstGeom prst="line">
            <a:avLst/>
          </a:prstGeom>
          <a:noFill/>
          <a:ln w="28575">
            <a:solidFill>
              <a:srgbClr val="A8441A"/>
            </a:solidFill>
            <a:prstDash val="solid"/>
            <a:tailEnd type="triangle"/>
          </a:ln>
        </p:spPr>
      </p:sp>
      <p:sp>
        <p:nvSpPr>
          <p:cNvPr id="24" name="Shape 21"/>
          <p:cNvSpPr/>
          <p:nvPr/>
        </p:nvSpPr>
        <p:spPr>
          <a:xfrm>
            <a:off x="8585210" y="4279941"/>
            <a:ext cx="609630" cy="0"/>
          </a:xfrm>
          <a:prstGeom prst="line">
            <a:avLst/>
          </a:prstGeom>
          <a:noFill/>
          <a:ln w="28575">
            <a:solidFill>
              <a:srgbClr val="2F5DA8"/>
            </a:solidFill>
            <a:prstDash val="solid"/>
            <a:headEnd type="triangle"/>
            <a:tailEnd type="triangle"/>
          </a:ln>
        </p:spPr>
      </p:sp>
      <p:sp>
        <p:nvSpPr>
          <p:cNvPr id="25" name="Shape 22"/>
          <p:cNvSpPr/>
          <p:nvPr/>
        </p:nvSpPr>
        <p:spPr>
          <a:xfrm>
            <a:off x="10287000" y="2438430"/>
            <a:ext cx="0" cy="254020"/>
          </a:xfrm>
          <a:prstGeom prst="line">
            <a:avLst/>
          </a:prstGeom>
          <a:noFill/>
          <a:ln w="28575">
            <a:solidFill>
              <a:srgbClr val="4A5264"/>
            </a:solidFill>
            <a:prstDash val="solid"/>
            <a:tailEnd type="triangle"/>
          </a:ln>
        </p:spPr>
      </p:sp>
      <p:sp>
        <p:nvSpPr>
          <p:cNvPr id="26" name="Shape 23"/>
          <p:cNvSpPr/>
          <p:nvPr/>
        </p:nvSpPr>
        <p:spPr>
          <a:xfrm>
            <a:off x="7492959" y="4724430"/>
            <a:ext cx="0" cy="254020"/>
          </a:xfrm>
          <a:prstGeom prst="line">
            <a:avLst/>
          </a:prstGeom>
          <a:noFill/>
          <a:ln w="28575">
            <a:solidFill>
              <a:srgbClr val="4A5264"/>
            </a:solidFill>
            <a:prstDash val="solid"/>
            <a:tailEnd type="triangle"/>
          </a:ln>
        </p:spPr>
      </p:sp>
      <p:sp>
        <p:nvSpPr>
          <p:cNvPr id="27" name="Shape 24"/>
          <p:cNvSpPr/>
          <p:nvPr/>
        </p:nvSpPr>
        <p:spPr>
          <a:xfrm flipH="1">
            <a:off x="4699010" y="5359390"/>
            <a:ext cx="1701790" cy="0"/>
          </a:xfrm>
          <a:prstGeom prst="line">
            <a:avLst/>
          </a:prstGeom>
          <a:noFill/>
          <a:ln w="28575">
            <a:solidFill>
              <a:srgbClr val="4A5264"/>
            </a:solidFill>
            <a:prstDash val="solid"/>
          </a:ln>
        </p:spPr>
      </p:sp>
      <p:sp>
        <p:nvSpPr>
          <p:cNvPr id="28" name="Shape 25"/>
          <p:cNvSpPr/>
          <p:nvPr/>
        </p:nvSpPr>
        <p:spPr>
          <a:xfrm flipV="1">
            <a:off x="4699010" y="4724430"/>
            <a:ext cx="0" cy="634959"/>
          </a:xfrm>
          <a:prstGeom prst="line">
            <a:avLst/>
          </a:prstGeom>
          <a:noFill/>
          <a:ln w="28575">
            <a:solidFill>
              <a:srgbClr val="4A5264"/>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IF-THEN rules: the unit of knowledge</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Durkin (1994); rule types and examples adapted from Negnevitsky (2011), Ch. 2</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06</a:t>
            </a:r>
            <a:endParaRPr lang="en-US" sz="1200" dirty="0"/>
          </a:p>
        </p:txBody>
      </p:sp>
      <p:sp>
        <p:nvSpPr>
          <p:cNvPr id="7" name="Text 4"/>
          <p:cNvSpPr txBox="1"/>
          <p:nvPr/>
        </p:nvSpPr>
        <p:spPr>
          <a:xfrm>
            <a:off x="812810" y="1701790"/>
            <a:ext cx="4444990" cy="571500"/>
          </a:xfrm>
          <a:prstGeom prst="rect">
            <a:avLst/>
          </a:prstGeom>
          <a:noFill/>
          <a:ln/>
        </p:spPr>
        <p:txBody>
          <a:bodyPr wrap="square" lIns="0" tIns="0" rIns="0" bIns="0" rtlCol="0" anchor="t"/>
          <a:lstStyle/>
          <a:p>
            <a:pPr marL="0" indent="0">
              <a:lnSpc>
                <a:spcPct val="110000"/>
              </a:lnSpc>
              <a:buNone/>
            </a:pPr>
            <a:r>
              <a:rPr lang="en-US" sz="1500" dirty="0">
                <a:solidFill>
                  <a:srgbClr val="1B2233"/>
                </a:solidFill>
                <a:latin typeface="Calibri" pitchFamily="34" charset="0"/>
                <a:ea typeface="Calibri" pitchFamily="34" charset="-122"/>
                <a:cs typeface="Calibri" pitchFamily="34" charset="-120"/>
              </a:rPr>
              <a:t>A rule links what is </a:t>
            </a:r>
            <a:r>
              <a:rPr lang="en-US" sz="1500" b="1" dirty="0">
                <a:solidFill>
                  <a:srgbClr val="1B2233"/>
                </a:solidFill>
                <a:latin typeface="Calibri" pitchFamily="34" charset="0"/>
                <a:ea typeface="Calibri" pitchFamily="34" charset="-122"/>
                <a:cs typeface="Calibri" pitchFamily="34" charset="-120"/>
              </a:rPr>
              <a:t>known</a:t>
            </a:r>
            <a:r>
              <a:rPr lang="en-US" sz="1500" dirty="0">
                <a:solidFill>
                  <a:srgbClr val="1B2233"/>
                </a:solidFill>
                <a:latin typeface="Calibri" pitchFamily="34" charset="0"/>
                <a:ea typeface="Calibri" pitchFamily="34" charset="-122"/>
                <a:cs typeface="Calibri" pitchFamily="34" charset="-120"/>
              </a:rPr>
              <a:t> (premise) to what can be </a:t>
            </a:r>
            <a:r>
              <a:rPr lang="en-US" sz="1500" b="1" dirty="0">
                <a:solidFill>
                  <a:srgbClr val="1B2233"/>
                </a:solidFill>
                <a:latin typeface="Calibri" pitchFamily="34" charset="0"/>
                <a:ea typeface="Calibri" pitchFamily="34" charset="-122"/>
                <a:cs typeface="Calibri" pitchFamily="34" charset="-120"/>
              </a:rPr>
              <a:t>concluded</a:t>
            </a:r>
            <a:r>
              <a:rPr lang="en-US" sz="1500" dirty="0">
                <a:solidFill>
                  <a:srgbClr val="1B2233"/>
                </a:solidFill>
                <a:latin typeface="Calibri" pitchFamily="34" charset="0"/>
                <a:ea typeface="Calibri" pitchFamily="34" charset="-122"/>
                <a:cs typeface="Calibri" pitchFamily="34" charset="-120"/>
              </a:rPr>
              <a:t> (conclusion).</a:t>
            </a:r>
            <a:endParaRPr lang="en-US" sz="1500" dirty="0"/>
          </a:p>
        </p:txBody>
      </p:sp>
      <p:sp>
        <p:nvSpPr>
          <p:cNvPr id="8" name="Shape 5"/>
          <p:cNvSpPr/>
          <p:nvPr/>
        </p:nvSpPr>
        <p:spPr>
          <a:xfrm>
            <a:off x="812810" y="2362170"/>
            <a:ext cx="4444990" cy="1219170"/>
          </a:xfrm>
          <a:prstGeom prst="roundRect">
            <a:avLst>
              <a:gd name="adj" fmla="val 7500"/>
            </a:avLst>
          </a:prstGeom>
          <a:solidFill>
            <a:srgbClr val="1E2433"/>
          </a:solidFill>
          <a:ln/>
        </p:spPr>
      </p:sp>
      <p:sp>
        <p:nvSpPr>
          <p:cNvPr id="9" name="Text 6"/>
          <p:cNvSpPr txBox="1"/>
          <p:nvPr/>
        </p:nvSpPr>
        <p:spPr>
          <a:xfrm>
            <a:off x="990570" y="2514600"/>
            <a:ext cx="4089380" cy="914400"/>
          </a:xfrm>
          <a:prstGeom prst="rect">
            <a:avLst/>
          </a:prstGeom>
          <a:noFill/>
          <a:ln/>
        </p:spPr>
        <p:txBody>
          <a:bodyPr wrap="square" lIns="0" tIns="0" rIns="0" bIns="0" rtlCol="0" anchor="t"/>
          <a:lstStyle/>
          <a:p>
            <a:pPr marL="0" indent="0">
              <a:lnSpc>
                <a:spcPts val="1800"/>
              </a:lnSpc>
              <a:buNone/>
            </a:pPr>
            <a:r>
              <a:rPr lang="en-US" sz="1200" dirty="0">
                <a:solidFill>
                  <a:srgbClr val="F2A65A"/>
                </a:solidFill>
                <a:latin typeface="Consolas" pitchFamily="34" charset="0"/>
                <a:ea typeface="Consolas" pitchFamily="34" charset="-122"/>
                <a:cs typeface="Consolas" pitchFamily="34" charset="-120"/>
              </a:rPr>
              <a:t>IF</a:t>
            </a:r>
            <a:r>
              <a:rPr lang="en-US" sz="1200" dirty="0">
                <a:solidFill>
                  <a:srgbClr val="E6E1D3"/>
                </a:solidFill>
                <a:latin typeface="Consolas" pitchFamily="34" charset="0"/>
                <a:ea typeface="Consolas" pitchFamily="34" charset="-122"/>
                <a:cs typeface="Consolas" pitchFamily="34" charset="-120"/>
              </a:rPr>
              <a:t>   condition-1</a:t>
            </a:r>
            <a:endParaRPr lang="en-US" sz="1200" dirty="0"/>
          </a:p>
          <a:p>
            <a:pPr marL="0" indent="0">
              <a:lnSpc>
                <a:spcPts val="1800"/>
              </a:lnSpc>
              <a:buNone/>
            </a:pPr>
            <a:r>
              <a:rPr lang="en-US" sz="1200" dirty="0">
                <a:solidFill>
                  <a:srgbClr val="F2A65A"/>
                </a:solidFill>
                <a:latin typeface="Consolas" pitchFamily="34" charset="0"/>
                <a:ea typeface="Consolas" pitchFamily="34" charset="-122"/>
                <a:cs typeface="Consolas" pitchFamily="34" charset="-120"/>
              </a:rPr>
              <a:t>AND</a:t>
            </a: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800"/>
              </a:lnSpc>
              <a:buNone/>
            </a:pPr>
            <a:r>
              <a:rPr lang="en-US" sz="1200" dirty="0">
                <a:solidFill>
                  <a:srgbClr val="F2A65A"/>
                </a:solidFill>
                <a:latin typeface="Consolas" pitchFamily="34" charset="0"/>
                <a:ea typeface="Consolas" pitchFamily="34" charset="-122"/>
                <a:cs typeface="Consolas" pitchFamily="34" charset="-120"/>
              </a:rPr>
              <a:t>AND</a:t>
            </a:r>
            <a:r>
              <a:rPr lang="en-US" sz="1200" dirty="0">
                <a:solidFill>
                  <a:srgbClr val="E6E1D3"/>
                </a:solidFill>
                <a:latin typeface="Consolas" pitchFamily="34" charset="0"/>
                <a:ea typeface="Consolas" pitchFamily="34" charset="-122"/>
                <a:cs typeface="Consolas" pitchFamily="34" charset="-120"/>
              </a:rPr>
              <a:t>  condition-n</a:t>
            </a:r>
            <a:endParaRPr lang="en-US" sz="1200" dirty="0"/>
          </a:p>
          <a:p>
            <a:pPr marL="0" indent="0">
              <a:lnSpc>
                <a:spcPts val="1800"/>
              </a:lnSpc>
              <a:buNone/>
            </a:pPr>
            <a:r>
              <a:rPr lang="en-US" sz="1200" dirty="0">
                <a:solidFill>
                  <a:srgbClr val="F2A65A"/>
                </a:solidFill>
                <a:latin typeface="Consolas" pitchFamily="34" charset="0"/>
                <a:ea typeface="Consolas" pitchFamily="34" charset="-122"/>
                <a:cs typeface="Consolas" pitchFamily="34" charset="-120"/>
              </a:rPr>
              <a:t>THEN</a:t>
            </a:r>
            <a:r>
              <a:rPr lang="en-US" sz="1200" dirty="0">
                <a:solidFill>
                  <a:srgbClr val="E6E1D3"/>
                </a:solidFill>
                <a:latin typeface="Consolas" pitchFamily="34" charset="0"/>
                <a:ea typeface="Consolas" pitchFamily="34" charset="-122"/>
                <a:cs typeface="Consolas" pitchFamily="34" charset="-120"/>
              </a:rPr>
              <a:t> conclusion (or action)</a:t>
            </a:r>
            <a:endParaRPr lang="en-US" sz="1200" dirty="0"/>
          </a:p>
        </p:txBody>
      </p:sp>
      <p:sp>
        <p:nvSpPr>
          <p:cNvPr id="10" name="Text 7"/>
          <p:cNvSpPr txBox="1"/>
          <p:nvPr/>
        </p:nvSpPr>
        <p:spPr>
          <a:xfrm>
            <a:off x="812810" y="3784610"/>
            <a:ext cx="4444990" cy="2031980"/>
          </a:xfrm>
          <a:prstGeom prst="rect">
            <a:avLst/>
          </a:prstGeom>
          <a:noFill/>
          <a:ln/>
        </p:spPr>
        <p:txBody>
          <a:bodyPr wrap="square" lIns="0" tIns="0" rIns="0" bIns="0" rtlCol="0" anchor="t"/>
          <a:lstStyle/>
          <a:p>
            <a:pPr marL="254000" indent="-254000">
              <a:lnSpc>
                <a:spcPct val="110000"/>
              </a:lnSpc>
              <a:spcAft>
                <a:spcPts val="800"/>
              </a:spcAft>
              <a:buSzPct val="100000"/>
              <a:buChar char="•"/>
            </a:pPr>
            <a:r>
              <a:rPr lang="en-US" sz="1300" dirty="0">
                <a:solidFill>
                  <a:srgbClr val="4A5264"/>
                </a:solidFill>
                <a:latin typeface="Calibri" pitchFamily="34" charset="0"/>
                <a:ea typeface="Calibri" pitchFamily="34" charset="-122"/>
                <a:cs typeface="Calibri" pitchFamily="34" charset="-120"/>
              </a:rPr>
              <a:t>IF part = antecedent (premise)</a:t>
            </a:r>
            <a:endParaRPr lang="en-US" sz="1300" dirty="0"/>
          </a:p>
          <a:p>
            <a:pPr marL="254000" indent="-254000">
              <a:lnSpc>
                <a:spcPct val="110000"/>
              </a:lnSpc>
              <a:spcAft>
                <a:spcPts val="800"/>
              </a:spcAft>
              <a:buSzPct val="100000"/>
              <a:buChar char="•"/>
            </a:pPr>
            <a:r>
              <a:rPr lang="en-US" sz="1300" dirty="0">
                <a:solidFill>
                  <a:srgbClr val="4A5264"/>
                </a:solidFill>
                <a:latin typeface="Calibri" pitchFamily="34" charset="0"/>
                <a:ea typeface="Calibri" pitchFamily="34" charset="-122"/>
                <a:cs typeface="Calibri" pitchFamily="34" charset="-120"/>
              </a:rPr>
              <a:t>THEN part = consequent (conclusion)</a:t>
            </a:r>
            <a:endParaRPr lang="en-US" sz="1300" dirty="0"/>
          </a:p>
          <a:p>
            <a:pPr marL="254000" indent="-254000">
              <a:lnSpc>
                <a:spcPct val="110000"/>
              </a:lnSpc>
              <a:spcAft>
                <a:spcPts val="800"/>
              </a:spcAft>
              <a:buSzPct val="100000"/>
              <a:buChar char="•"/>
            </a:pPr>
            <a:r>
              <a:rPr lang="en-US" sz="1300" dirty="0">
                <a:solidFill>
                  <a:srgbClr val="4A5264"/>
                </a:solidFill>
                <a:latin typeface="Calibri" pitchFamily="34" charset="0"/>
                <a:ea typeface="Calibri" pitchFamily="34" charset="-122"/>
                <a:cs typeface="Calibri" pitchFamily="34" charset="-120"/>
              </a:rPr>
              <a:t>A rule fires when all its conditions match known facts</a:t>
            </a:r>
            <a:endParaRPr lang="en-US" sz="1300" dirty="0"/>
          </a:p>
          <a:p>
            <a:pPr marL="254000" indent="-254000">
              <a:lnSpc>
                <a:spcPct val="110000"/>
              </a:lnSpc>
              <a:spcAft>
                <a:spcPts val="800"/>
              </a:spcAft>
              <a:buSzPct val="100000"/>
              <a:buChar char="•"/>
            </a:pPr>
            <a:r>
              <a:rPr lang="en-US" sz="1300" dirty="0">
                <a:solidFill>
                  <a:srgbClr val="4A5264"/>
                </a:solidFill>
                <a:latin typeface="Calibri" pitchFamily="34" charset="0"/>
                <a:ea typeface="Calibri" pitchFamily="34" charset="-122"/>
                <a:cs typeface="Calibri" pitchFamily="34" charset="-120"/>
              </a:rPr>
              <a:t>Its conclusion becomes a new fact that other rules can use: chaining</a:t>
            </a:r>
            <a:endParaRPr lang="en-US" sz="1300" dirty="0"/>
          </a:p>
        </p:txBody>
      </p:sp>
      <p:sp>
        <p:nvSpPr>
          <p:cNvPr id="11" name="Text 8"/>
          <p:cNvSpPr txBox="1"/>
          <p:nvPr/>
        </p:nvSpPr>
        <p:spPr>
          <a:xfrm>
            <a:off x="5562570" y="1701790"/>
            <a:ext cx="5816590" cy="279441"/>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Kinds of rules, with examples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562570" y="2057400"/>
          <a:ext cx="5816590" cy="3154680"/>
        </p:xfrm>
        <a:graphic>
          <a:graphicData uri="http://schemas.openxmlformats.org/drawingml/2006/table">
            <a:tbl>
              <a:tblPr/>
              <a:tblGrid>
                <a:gridCol w="1625620">
                  <a:extLst>
                    <a:ext uri="{9D8B030D-6E8A-4147-A177-3AD203B41FA5}">
                      <a16:colId xmlns:a16="http://schemas.microsoft.com/office/drawing/2014/main" val="20000"/>
                    </a:ext>
                  </a:extLst>
                </a:gridCol>
                <a:gridCol w="419097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3EFE4"/>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tc>
                  <a:txBody>
                    <a:bodyPr/>
                    <a:lstStyle/>
                    <a:p>
                      <a:pPr marL="0" indent="0">
                        <a:buNone/>
                      </a:pPr>
                      <a:r>
                        <a:rPr lang="en-US" sz="1300" b="1" dirty="0">
                          <a:solidFill>
                            <a:srgbClr val="F3EFE4"/>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Relation</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the fuel tank is empty THEN the car is dead</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Recommendation</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it is autumn AND the sky is cloudy THEN take an umbrella</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Directive</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the car is dead AND the tank is empty THEN refuel the car</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the car is dead THEN first check the fuel tank</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Heuristic</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the spill is liquid AND its pH &lt; 6 AND it smells of vinegar THEN it is acetic acid</a:t>
                      </a:r>
                      <a:endParaRPr lang="en-US" sz="1300" dirty="0">
                        <a:latin typeface="Calibri" charset="0"/>
                        <a:ea typeface="Calibri" charset="0"/>
                        <a:cs typeface="Calibri" charset="0"/>
                      </a:endParaRPr>
                    </a:p>
                  </a:txBody>
                  <a:tcPr marL="127000" marR="127000" marT="114300" marB="1143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Prolog in one slide: facts, rules, queries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family example after Bratko (2012), Ch. 1</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07</a:t>
            </a:r>
            <a:endParaRPr lang="en-US" sz="1200" dirty="0"/>
          </a:p>
        </p:txBody>
      </p:sp>
      <p:sp>
        <p:nvSpPr>
          <p:cNvPr id="7" name="Shape 4"/>
          <p:cNvSpPr/>
          <p:nvPr/>
        </p:nvSpPr>
        <p:spPr>
          <a:xfrm>
            <a:off x="812810" y="1701790"/>
            <a:ext cx="3384560" cy="2794041"/>
          </a:xfrm>
          <a:prstGeom prst="roundRect">
            <a:avLst>
              <a:gd name="adj" fmla="val 3273"/>
            </a:avLst>
          </a:prstGeom>
          <a:solidFill>
            <a:srgbClr val="FFFFFF"/>
          </a:solidFill>
          <a:ln w="12700">
            <a:solidFill>
              <a:srgbClr val="E3E1DA"/>
            </a:solidFill>
            <a:prstDash val="solid"/>
          </a:ln>
        </p:spPr>
      </p:sp>
      <p:sp>
        <p:nvSpPr>
          <p:cNvPr id="8" name="Text 5"/>
          <p:cNvSpPr txBox="1"/>
          <p:nvPr/>
        </p:nvSpPr>
        <p:spPr>
          <a:xfrm>
            <a:off x="1015990" y="1879641"/>
            <a:ext cx="2978109" cy="279441"/>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Fact</a:t>
            </a:r>
            <a:endParaRPr lang="en-US" sz="1700" dirty="0"/>
          </a:p>
        </p:txBody>
      </p:sp>
      <p:sp>
        <p:nvSpPr>
          <p:cNvPr id="9" name="Shape 6"/>
          <p:cNvSpPr/>
          <p:nvPr/>
        </p:nvSpPr>
        <p:spPr>
          <a:xfrm>
            <a:off x="1015990" y="2260580"/>
            <a:ext cx="2978109" cy="894100"/>
          </a:xfrm>
          <a:prstGeom prst="roundRect">
            <a:avLst>
              <a:gd name="adj" fmla="val 10227"/>
            </a:avLst>
          </a:prstGeom>
          <a:solidFill>
            <a:srgbClr val="1E2433"/>
          </a:solidFill>
          <a:ln/>
        </p:spPr>
      </p:sp>
      <p:sp>
        <p:nvSpPr>
          <p:cNvPr id="10" name="Text 7"/>
          <p:cNvSpPr txBox="1"/>
          <p:nvPr/>
        </p:nvSpPr>
        <p:spPr>
          <a:xfrm>
            <a:off x="1193841" y="2387590"/>
            <a:ext cx="2622591" cy="640080"/>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parent(tom, bob).</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parent(bob, ann).</a:t>
            </a:r>
            <a:endParaRPr lang="en-US" sz="1200" dirty="0"/>
          </a:p>
        </p:txBody>
      </p:sp>
      <p:sp>
        <p:nvSpPr>
          <p:cNvPr id="11" name="Text 8"/>
          <p:cNvSpPr txBox="1"/>
          <p:nvPr/>
        </p:nvSpPr>
        <p:spPr>
          <a:xfrm>
            <a:off x="1015990" y="3289280"/>
            <a:ext cx="2978109" cy="1015990"/>
          </a:xfrm>
          <a:prstGeom prst="rect">
            <a:avLst/>
          </a:prstGeom>
          <a:noFill/>
          <a:ln/>
        </p:spPr>
        <p:txBody>
          <a:bodyPr wrap="square" lIns="0" tIns="0" rIns="0" bIns="0" rtlCol="0" anchor="t"/>
          <a:lstStyle/>
          <a:p>
            <a:pPr marL="0" indent="0">
              <a:lnSpc>
                <a:spcPct val="115000"/>
              </a:lnSpc>
              <a:buNone/>
            </a:pPr>
            <a:r>
              <a:rPr lang="en-US" sz="1300" dirty="0">
                <a:solidFill>
                  <a:srgbClr val="4A5264"/>
                </a:solidFill>
                <a:latin typeface="Calibri" pitchFamily="34" charset="0"/>
                <a:ea typeface="Calibri" pitchFamily="34" charset="-122"/>
                <a:cs typeface="Calibri" pitchFamily="34" charset="-120"/>
              </a:rPr>
              <a:t>A statement that is simply true. Lower-case names are constants.</a:t>
            </a:r>
            <a:endParaRPr lang="en-US" sz="1300" dirty="0"/>
          </a:p>
        </p:txBody>
      </p:sp>
      <p:sp>
        <p:nvSpPr>
          <p:cNvPr id="12" name="Shape 9"/>
          <p:cNvSpPr/>
          <p:nvPr/>
        </p:nvSpPr>
        <p:spPr>
          <a:xfrm>
            <a:off x="4400550" y="1701790"/>
            <a:ext cx="3384560" cy="2794041"/>
          </a:xfrm>
          <a:prstGeom prst="roundRect">
            <a:avLst>
              <a:gd name="adj" fmla="val 3273"/>
            </a:avLst>
          </a:prstGeom>
          <a:solidFill>
            <a:srgbClr val="FFFFFF"/>
          </a:solidFill>
          <a:ln w="12700">
            <a:solidFill>
              <a:srgbClr val="E3E1DA"/>
            </a:solidFill>
            <a:prstDash val="solid"/>
          </a:ln>
        </p:spPr>
      </p:sp>
      <p:sp>
        <p:nvSpPr>
          <p:cNvPr id="13" name="Text 10"/>
          <p:cNvSpPr txBox="1"/>
          <p:nvPr/>
        </p:nvSpPr>
        <p:spPr>
          <a:xfrm>
            <a:off x="4603730" y="1879641"/>
            <a:ext cx="2978109" cy="279441"/>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Rule</a:t>
            </a:r>
            <a:endParaRPr lang="en-US" sz="1700" dirty="0"/>
          </a:p>
        </p:txBody>
      </p:sp>
      <p:sp>
        <p:nvSpPr>
          <p:cNvPr id="14" name="Shape 11"/>
          <p:cNvSpPr/>
          <p:nvPr/>
        </p:nvSpPr>
        <p:spPr>
          <a:xfrm>
            <a:off x="4603730" y="2260580"/>
            <a:ext cx="2978109" cy="894100"/>
          </a:xfrm>
          <a:prstGeom prst="roundRect">
            <a:avLst>
              <a:gd name="adj" fmla="val 10227"/>
            </a:avLst>
          </a:prstGeom>
          <a:solidFill>
            <a:srgbClr val="1E2433"/>
          </a:solidFill>
          <a:ln/>
        </p:spPr>
      </p:sp>
      <p:sp>
        <p:nvSpPr>
          <p:cNvPr id="15" name="Text 12"/>
          <p:cNvSpPr txBox="1"/>
          <p:nvPr/>
        </p:nvSpPr>
        <p:spPr>
          <a:xfrm>
            <a:off x="4781580" y="2387590"/>
            <a:ext cx="2622591" cy="640080"/>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grandparent(X, Z)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parent(X, Y),</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parent(Y, Z).</a:t>
            </a:r>
            <a:endParaRPr lang="en-US" sz="1200" dirty="0"/>
          </a:p>
        </p:txBody>
      </p:sp>
      <p:sp>
        <p:nvSpPr>
          <p:cNvPr id="16" name="Text 13"/>
          <p:cNvSpPr txBox="1"/>
          <p:nvPr/>
        </p:nvSpPr>
        <p:spPr>
          <a:xfrm>
            <a:off x="4603730" y="3289280"/>
            <a:ext cx="2978109" cy="1015990"/>
          </a:xfrm>
          <a:prstGeom prst="rect">
            <a:avLst/>
          </a:prstGeom>
          <a:noFill/>
          <a:ln/>
        </p:spPr>
        <p:txBody>
          <a:bodyPr wrap="square" lIns="0" tIns="0" rIns="0" bIns="0" rtlCol="0" anchor="t"/>
          <a:lstStyle/>
          <a:p>
            <a:pPr marL="0" indent="0">
              <a:lnSpc>
                <a:spcPct val="115000"/>
              </a:lnSpc>
              <a:buNone/>
            </a:pPr>
            <a:r>
              <a:rPr lang="en-US" sz="1300" dirty="0">
                <a:solidFill>
                  <a:srgbClr val="4A5264"/>
                </a:solidFill>
                <a:latin typeface="Calibri" pitchFamily="34" charset="0"/>
                <a:ea typeface="Calibri" pitchFamily="34" charset="-122"/>
                <a:cs typeface="Calibri" pitchFamily="34" charset="-120"/>
              </a:rPr>
              <a:t>The head is true IF the body is true. Read :- as IF and the comma as AND.</a:t>
            </a:r>
            <a:endParaRPr lang="en-US" sz="1300" dirty="0"/>
          </a:p>
        </p:txBody>
      </p:sp>
      <p:sp>
        <p:nvSpPr>
          <p:cNvPr id="17" name="Shape 14"/>
          <p:cNvSpPr/>
          <p:nvPr/>
        </p:nvSpPr>
        <p:spPr>
          <a:xfrm>
            <a:off x="7988290" y="1701790"/>
            <a:ext cx="3384560" cy="2794041"/>
          </a:xfrm>
          <a:prstGeom prst="roundRect">
            <a:avLst>
              <a:gd name="adj" fmla="val 3273"/>
            </a:avLst>
          </a:prstGeom>
          <a:solidFill>
            <a:srgbClr val="FFFFFF"/>
          </a:solidFill>
          <a:ln w="12700">
            <a:solidFill>
              <a:srgbClr val="E3E1DA"/>
            </a:solidFill>
            <a:prstDash val="solid"/>
          </a:ln>
        </p:spPr>
      </p:sp>
      <p:sp>
        <p:nvSpPr>
          <p:cNvPr id="18" name="Text 15"/>
          <p:cNvSpPr txBox="1"/>
          <p:nvPr/>
        </p:nvSpPr>
        <p:spPr>
          <a:xfrm>
            <a:off x="8191470" y="1879641"/>
            <a:ext cx="2978109" cy="279441"/>
          </a:xfrm>
          <a:prstGeom prst="rect">
            <a:avLst/>
          </a:prstGeom>
          <a:noFill/>
          <a:ln/>
        </p:spPr>
        <p:txBody>
          <a:bodyPr wrap="square" lIns="0" tIns="0" rIns="0" bIns="0" rtlCol="0" anchor="t"/>
          <a:lstStyle/>
          <a:p>
            <a:pPr marL="0" indent="0">
              <a:buNone/>
            </a:pPr>
            <a:r>
              <a:rPr lang="en-US" sz="1700" b="1" dirty="0">
                <a:solidFill>
                  <a:srgbClr val="1B2233"/>
                </a:solidFill>
                <a:latin typeface="Calibri" pitchFamily="34" charset="0"/>
                <a:ea typeface="Calibri" pitchFamily="34" charset="-122"/>
                <a:cs typeface="Calibri" pitchFamily="34" charset="-120"/>
              </a:rPr>
              <a:t>Query</a:t>
            </a:r>
            <a:endParaRPr lang="en-US" sz="1700" dirty="0"/>
          </a:p>
        </p:txBody>
      </p:sp>
      <p:sp>
        <p:nvSpPr>
          <p:cNvPr id="19" name="Shape 16"/>
          <p:cNvSpPr/>
          <p:nvPr/>
        </p:nvSpPr>
        <p:spPr>
          <a:xfrm>
            <a:off x="8191470" y="2260580"/>
            <a:ext cx="2978109" cy="894100"/>
          </a:xfrm>
          <a:prstGeom prst="roundRect">
            <a:avLst>
              <a:gd name="adj" fmla="val 10227"/>
            </a:avLst>
          </a:prstGeom>
          <a:solidFill>
            <a:srgbClr val="1E2433"/>
          </a:solidFill>
          <a:ln/>
        </p:spPr>
      </p:sp>
      <p:sp>
        <p:nvSpPr>
          <p:cNvPr id="20" name="Text 17"/>
          <p:cNvSpPr txBox="1"/>
          <p:nvPr/>
        </p:nvSpPr>
        <p:spPr>
          <a:xfrm>
            <a:off x="8369320" y="2387590"/>
            <a:ext cx="2622591" cy="640080"/>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grandparent(tom, Who).</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Who = ann.</a:t>
            </a:r>
            <a:endParaRPr lang="en-US" sz="1200" dirty="0"/>
          </a:p>
        </p:txBody>
      </p:sp>
      <p:sp>
        <p:nvSpPr>
          <p:cNvPr id="21" name="Text 18"/>
          <p:cNvSpPr txBox="1"/>
          <p:nvPr/>
        </p:nvSpPr>
        <p:spPr>
          <a:xfrm>
            <a:off x="8191470" y="3289280"/>
            <a:ext cx="2978109" cy="1015990"/>
          </a:xfrm>
          <a:prstGeom prst="rect">
            <a:avLst/>
          </a:prstGeom>
          <a:noFill/>
          <a:ln/>
        </p:spPr>
        <p:txBody>
          <a:bodyPr wrap="square" lIns="0" tIns="0" rIns="0" bIns="0" rtlCol="0" anchor="t"/>
          <a:lstStyle/>
          <a:p>
            <a:pPr marL="0" indent="0">
              <a:lnSpc>
                <a:spcPct val="115000"/>
              </a:lnSpc>
              <a:buNone/>
            </a:pPr>
            <a:r>
              <a:rPr lang="en-US" sz="1300" dirty="0">
                <a:solidFill>
                  <a:srgbClr val="4A5264"/>
                </a:solidFill>
                <a:latin typeface="Calibri" pitchFamily="34" charset="0"/>
                <a:ea typeface="Calibri" pitchFamily="34" charset="-122"/>
                <a:cs typeface="Calibri" pitchFamily="34" charset="-120"/>
              </a:rPr>
              <a:t>Prolog searches the clauses and binds variables (capitalised) to make the goal true.</a:t>
            </a:r>
            <a:endParaRPr lang="en-US" sz="1300" dirty="0"/>
          </a:p>
        </p:txBody>
      </p:sp>
      <p:sp>
        <p:nvSpPr>
          <p:cNvPr id="22" name="Shape 19"/>
          <p:cNvSpPr/>
          <p:nvPr/>
        </p:nvSpPr>
        <p:spPr>
          <a:xfrm>
            <a:off x="812810" y="4775180"/>
            <a:ext cx="1503639" cy="368320"/>
          </a:xfrm>
          <a:prstGeom prst="roundRect">
            <a:avLst>
              <a:gd name="adj" fmla="val 19861"/>
            </a:avLst>
          </a:prstGeom>
          <a:solidFill>
            <a:srgbClr val="EFEEE9"/>
          </a:solidFill>
          <a:ln/>
        </p:spPr>
      </p:sp>
      <p:sp>
        <p:nvSpPr>
          <p:cNvPr id="23" name="Text 20"/>
          <p:cNvSpPr txBox="1"/>
          <p:nvPr/>
        </p:nvSpPr>
        <p:spPr>
          <a:xfrm>
            <a:off x="812810" y="4775180"/>
            <a:ext cx="150363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  means IF</a:t>
            </a:r>
            <a:endParaRPr lang="en-US" sz="1200" dirty="0"/>
          </a:p>
        </p:txBody>
      </p:sp>
      <p:sp>
        <p:nvSpPr>
          <p:cNvPr id="24" name="Shape 21"/>
          <p:cNvSpPr/>
          <p:nvPr/>
        </p:nvSpPr>
        <p:spPr>
          <a:xfrm>
            <a:off x="2443460" y="4775180"/>
            <a:ext cx="1503639" cy="368320"/>
          </a:xfrm>
          <a:prstGeom prst="roundRect">
            <a:avLst>
              <a:gd name="adj" fmla="val 19861"/>
            </a:avLst>
          </a:prstGeom>
          <a:solidFill>
            <a:srgbClr val="EFEEE9"/>
          </a:solidFill>
          <a:ln/>
        </p:spPr>
      </p:sp>
      <p:sp>
        <p:nvSpPr>
          <p:cNvPr id="25" name="Text 22"/>
          <p:cNvSpPr txBox="1"/>
          <p:nvPr/>
        </p:nvSpPr>
        <p:spPr>
          <a:xfrm>
            <a:off x="2443460" y="4775180"/>
            <a:ext cx="150363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  means AND</a:t>
            </a:r>
            <a:endParaRPr lang="en-US" sz="1200" dirty="0"/>
          </a:p>
        </p:txBody>
      </p:sp>
      <p:sp>
        <p:nvSpPr>
          <p:cNvPr id="26" name="Shape 23"/>
          <p:cNvSpPr/>
          <p:nvPr/>
        </p:nvSpPr>
        <p:spPr>
          <a:xfrm>
            <a:off x="4074201" y="4775180"/>
            <a:ext cx="1412199" cy="368320"/>
          </a:xfrm>
          <a:prstGeom prst="roundRect">
            <a:avLst>
              <a:gd name="adj" fmla="val 19861"/>
            </a:avLst>
          </a:prstGeom>
          <a:solidFill>
            <a:srgbClr val="EFEEE9"/>
          </a:solidFill>
          <a:ln/>
        </p:spPr>
      </p:sp>
      <p:sp>
        <p:nvSpPr>
          <p:cNvPr id="27" name="Text 24"/>
          <p:cNvSpPr txBox="1"/>
          <p:nvPr/>
        </p:nvSpPr>
        <p:spPr>
          <a:xfrm>
            <a:off x="4074201" y="4775180"/>
            <a:ext cx="141219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  means OR</a:t>
            </a:r>
            <a:endParaRPr lang="en-US" sz="1200" dirty="0"/>
          </a:p>
        </p:txBody>
      </p:sp>
      <p:sp>
        <p:nvSpPr>
          <p:cNvPr id="28" name="Shape 25"/>
          <p:cNvSpPr/>
          <p:nvPr/>
        </p:nvSpPr>
        <p:spPr>
          <a:xfrm>
            <a:off x="5613410" y="4775180"/>
            <a:ext cx="1595079" cy="368320"/>
          </a:xfrm>
          <a:prstGeom prst="roundRect">
            <a:avLst>
              <a:gd name="adj" fmla="val 19861"/>
            </a:avLst>
          </a:prstGeom>
          <a:solidFill>
            <a:srgbClr val="EFEEE9"/>
          </a:solidFill>
          <a:ln/>
        </p:spPr>
      </p:sp>
      <p:sp>
        <p:nvSpPr>
          <p:cNvPr id="29" name="Text 26"/>
          <p:cNvSpPr txBox="1"/>
          <p:nvPr/>
        </p:nvSpPr>
        <p:spPr>
          <a:xfrm>
            <a:off x="5613410" y="4775180"/>
            <a:ext cx="159507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  means NOT</a:t>
            </a:r>
            <a:endParaRPr lang="en-US" sz="1200" dirty="0"/>
          </a:p>
        </p:txBody>
      </p:sp>
      <p:sp>
        <p:nvSpPr>
          <p:cNvPr id="30" name="Shape 27"/>
          <p:cNvSpPr/>
          <p:nvPr/>
        </p:nvSpPr>
        <p:spPr>
          <a:xfrm>
            <a:off x="7335500" y="4775180"/>
            <a:ext cx="1595079" cy="368320"/>
          </a:xfrm>
          <a:prstGeom prst="roundRect">
            <a:avLst>
              <a:gd name="adj" fmla="val 19861"/>
            </a:avLst>
          </a:prstGeom>
          <a:solidFill>
            <a:srgbClr val="EFEEE9"/>
          </a:solidFill>
          <a:ln/>
        </p:spPr>
      </p:sp>
      <p:sp>
        <p:nvSpPr>
          <p:cNvPr id="31" name="Text 28"/>
          <p:cNvSpPr txBox="1"/>
          <p:nvPr/>
        </p:nvSpPr>
        <p:spPr>
          <a:xfrm>
            <a:off x="7335500" y="4775180"/>
            <a:ext cx="159507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X  = variable</a:t>
            </a:r>
            <a:endParaRPr lang="en-US" sz="1200" dirty="0"/>
          </a:p>
        </p:txBody>
      </p:sp>
      <p:sp>
        <p:nvSpPr>
          <p:cNvPr id="32" name="Shape 29"/>
          <p:cNvSpPr/>
          <p:nvPr/>
        </p:nvSpPr>
        <p:spPr>
          <a:xfrm>
            <a:off x="9057681" y="4775180"/>
            <a:ext cx="1777959" cy="368320"/>
          </a:xfrm>
          <a:prstGeom prst="roundRect">
            <a:avLst>
              <a:gd name="adj" fmla="val 19861"/>
            </a:avLst>
          </a:prstGeom>
          <a:solidFill>
            <a:srgbClr val="EFEEE9"/>
          </a:solidFill>
          <a:ln/>
        </p:spPr>
      </p:sp>
      <p:sp>
        <p:nvSpPr>
          <p:cNvPr id="33" name="Text 30"/>
          <p:cNvSpPr txBox="1"/>
          <p:nvPr/>
        </p:nvSpPr>
        <p:spPr>
          <a:xfrm>
            <a:off x="9057681" y="4775180"/>
            <a:ext cx="1777959" cy="36832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tom  = constant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Representing IF-THEN rules as Prolog clauses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Bratko (2012), Ch. 1–2; Kowalski (1979)</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08</a:t>
            </a:r>
            <a:endParaRPr lang="en-US" sz="1200" dirty="0"/>
          </a:p>
        </p:txBody>
      </p:sp>
      <p:sp>
        <p:nvSpPr>
          <p:cNvPr id="7" name="Shape 4"/>
          <p:cNvSpPr/>
          <p:nvPr/>
        </p:nvSpPr>
        <p:spPr>
          <a:xfrm>
            <a:off x="812810" y="1625620"/>
            <a:ext cx="10566441" cy="787390"/>
          </a:xfrm>
          <a:prstGeom prst="roundRect">
            <a:avLst>
              <a:gd name="adj" fmla="val 9290"/>
            </a:avLst>
          </a:prstGeom>
          <a:solidFill>
            <a:srgbClr val="F6E9E1"/>
          </a:solidFill>
          <a:ln/>
        </p:spPr>
      </p:sp>
      <p:sp>
        <p:nvSpPr>
          <p:cNvPr id="8" name="Text 5"/>
          <p:cNvSpPr txBox="1"/>
          <p:nvPr/>
        </p:nvSpPr>
        <p:spPr>
          <a:xfrm>
            <a:off x="1015990" y="1625620"/>
            <a:ext cx="10159990" cy="787390"/>
          </a:xfrm>
          <a:prstGeom prst="rect">
            <a:avLst/>
          </a:prstGeom>
          <a:noFill/>
          <a:ln/>
        </p:spPr>
        <p:txBody>
          <a:bodyPr wrap="square" lIns="0" tIns="0" rIns="0" bIns="0" rtlCol="0" anchor="ctr"/>
          <a:lstStyle/>
          <a:p>
            <a:pPr marL="0" indent="0">
              <a:lnSpc>
                <a:spcPct val="125000"/>
              </a:lnSpc>
              <a:buNone/>
            </a:pPr>
            <a:r>
              <a:rPr lang="en-US" sz="1700" dirty="0">
                <a:solidFill>
                  <a:srgbClr val="1B2233"/>
                </a:solidFill>
                <a:latin typeface="Cambria" pitchFamily="34" charset="0"/>
                <a:ea typeface="Cambria" pitchFamily="34" charset="-122"/>
                <a:cs typeface="Cambria" pitchFamily="34" charset="-120"/>
              </a:rPr>
              <a:t>IF p1 AND … AND pn THEN q    ≡    q ← p1 ∧ … ∧ pn    ≡    ¬p1 ∨ … ∨ ¬pn ∨ q</a:t>
            </a:r>
            <a:endParaRPr lang="en-US" sz="1300" dirty="0"/>
          </a:p>
          <a:p>
            <a:pPr marL="0" indent="0">
              <a:lnSpc>
                <a:spcPct val="125000"/>
              </a:lnSpc>
              <a:buNone/>
            </a:pPr>
            <a:r>
              <a:rPr lang="en-US" sz="1200" dirty="0">
                <a:solidFill>
                  <a:srgbClr val="4A5264"/>
                </a:solidFill>
                <a:latin typeface="Calibri" pitchFamily="34" charset="0"/>
                <a:ea typeface="Calibri" pitchFamily="34" charset="-122"/>
                <a:cs typeface="Calibri" pitchFamily="34" charset="-120"/>
              </a:rPr>
              <a:t>A Horn clause (at most one positive literal): exactly the shape of a Prolog clause, written q :- p1, …, pn.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10" y="2565441"/>
          <a:ext cx="10566440" cy="2651760"/>
        </p:xfrm>
        <a:graphic>
          <a:graphicData uri="http://schemas.openxmlformats.org/drawingml/2006/table">
            <a:tbl>
              <a:tblPr/>
              <a:tblGrid>
                <a:gridCol w="4826020">
                  <a:extLst>
                    <a:ext uri="{9D8B030D-6E8A-4147-A177-3AD203B41FA5}">
                      <a16:colId xmlns:a16="http://schemas.microsoft.com/office/drawing/2014/main" val="20000"/>
                    </a:ext>
                  </a:extLst>
                </a:gridCol>
                <a:gridCol w="574042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3EFE4"/>
                          </a:solidFill>
                          <a:latin typeface="Calibri" pitchFamily="34" charset="0"/>
                          <a:ea typeface="Calibri" pitchFamily="34" charset="-122"/>
                          <a:cs typeface="Calibri" pitchFamily="34" charset="-120"/>
                        </a:rPr>
                        <a:t>IF-THEN rule</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tc>
                  <a:txBody>
                    <a:bodyPr/>
                    <a:lstStyle/>
                    <a:p>
                      <a:pPr marL="0" indent="0">
                        <a:buNone/>
                      </a:pPr>
                      <a:r>
                        <a:rPr lang="en-US" sz="1300" b="1" dirty="0">
                          <a:solidFill>
                            <a:srgbClr val="F3EFE4"/>
                          </a:solidFill>
                          <a:latin typeface="Calibri" pitchFamily="34" charset="0"/>
                          <a:ea typeface="Calibri" pitchFamily="34" charset="-122"/>
                          <a:cs typeface="Calibri" pitchFamily="34" charset="-120"/>
                        </a:rPr>
                        <a:t>Prolog clause</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Fact: the animal has hair</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has(hair).</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p THEN q</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q :- p.</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p AND q THEN r</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r :- p, q.</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p OR q THEN r</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r :- p.   r :- q.   % two clauses</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p AND NOT q THEN r</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r :- p, \+ q.</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IF X is a parent of Y AND Y is a parent of Z THEN X is a grandparent of Z</a:t>
                      </a:r>
                      <a:endParaRPr lang="en-US" sz="1300" dirty="0">
                        <a:latin typeface="Calibri" charset="0"/>
                        <a:ea typeface="Calibri" charset="0"/>
                        <a:cs typeface="Calibri"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200" dirty="0">
                          <a:solidFill>
                            <a:srgbClr val="A8441A"/>
                          </a:solidFill>
                          <a:latin typeface="Consolas" pitchFamily="34" charset="0"/>
                          <a:ea typeface="Consolas" pitchFamily="34" charset="-122"/>
                          <a:cs typeface="Consolas" pitchFamily="34" charset="-120"/>
                        </a:rPr>
                        <a:t>grandparent(X, Z) :-</a:t>
                      </a:r>
                      <a:endParaRPr lang="en-US" sz="1200" dirty="0">
                        <a:latin typeface="Consolas" charset="0"/>
                        <a:ea typeface="Consolas" charset="0"/>
                        <a:cs typeface="Consolas" charset="0"/>
                      </a:endParaRPr>
                    </a:p>
                    <a:p>
                      <a:pPr marL="0" indent="0">
                        <a:buNone/>
                      </a:pPr>
                      <a:r>
                        <a:rPr lang="en-US" sz="1200" dirty="0">
                          <a:solidFill>
                            <a:srgbClr val="A8441A"/>
                          </a:solidFill>
                          <a:latin typeface="Consolas" pitchFamily="34" charset="0"/>
                          <a:ea typeface="Consolas" pitchFamily="34" charset="-122"/>
                          <a:cs typeface="Consolas" pitchFamily="34" charset="-120"/>
                        </a:rPr>
                        <a:t>    parent(X, Y), parent(Y, Z).</a:t>
                      </a:r>
                      <a:endParaRPr lang="en-US" sz="1200" dirty="0">
                        <a:latin typeface="Consolas" charset="0"/>
                        <a:ea typeface="Consolas" charset="0"/>
                        <a:cs typeface="Consolas" charset="0"/>
                      </a:endParaRPr>
                    </a:p>
                  </a:txBody>
                  <a:tcPr marL="127000" marR="127000" marT="76200" marB="762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Example: animal rules written directly in Prolog</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rules adapted from Winston (1992), as used in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09</a:t>
            </a:r>
            <a:endParaRPr lang="en-US" sz="1200" dirty="0"/>
          </a:p>
        </p:txBody>
      </p:sp>
      <p:sp>
        <p:nvSpPr>
          <p:cNvPr id="7" name="Shape 4"/>
          <p:cNvSpPr/>
          <p:nvPr/>
        </p:nvSpPr>
        <p:spPr>
          <a:xfrm>
            <a:off x="812810" y="1701790"/>
            <a:ext cx="5715000" cy="3289280"/>
          </a:xfrm>
          <a:prstGeom prst="roundRect">
            <a:avLst>
              <a:gd name="adj" fmla="val 2780"/>
            </a:avLst>
          </a:prstGeom>
          <a:solidFill>
            <a:srgbClr val="1E2433"/>
          </a:solidFill>
          <a:ln/>
        </p:spPr>
      </p:sp>
      <p:sp>
        <p:nvSpPr>
          <p:cNvPr id="8" name="Text 5"/>
          <p:cNvSpPr txBox="1"/>
          <p:nvPr/>
        </p:nvSpPr>
        <p:spPr>
          <a:xfrm>
            <a:off x="990570" y="1854220"/>
            <a:ext cx="5359390" cy="298451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IF it has hair THEN it is a mammal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mammal :- has(hair).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IF mammal AND eats meat THEN carnivore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carnivore :- mammal, eats(meat).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IF carnivore AND tawny AND dark spots</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THEN it is a cheetah</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animal(cheetah)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carnivore, has(tawny_colour), has(dark_spots).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facts observed about this animal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has(hair).  has(tawny_colour).  has(dark_spots).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eats(meat).</a:t>
            </a:r>
            <a:endParaRPr lang="en-US" sz="1200" dirty="0"/>
          </a:p>
        </p:txBody>
      </p:sp>
      <p:sp>
        <p:nvSpPr>
          <p:cNvPr id="9" name="Shape 6"/>
          <p:cNvSpPr/>
          <p:nvPr/>
        </p:nvSpPr>
        <p:spPr>
          <a:xfrm>
            <a:off x="6781830" y="1701790"/>
            <a:ext cx="4597420" cy="2222541"/>
          </a:xfrm>
          <a:prstGeom prst="roundRect">
            <a:avLst>
              <a:gd name="adj" fmla="val 4114"/>
            </a:avLst>
          </a:prstGeom>
          <a:solidFill>
            <a:srgbClr val="1E2433"/>
          </a:solidFill>
          <a:ln/>
        </p:spPr>
      </p:sp>
      <p:sp>
        <p:nvSpPr>
          <p:cNvPr id="10" name="Text 7"/>
          <p:cNvSpPr txBox="1"/>
          <p:nvPr/>
        </p:nvSpPr>
        <p:spPr>
          <a:xfrm>
            <a:off x="6959590" y="1854220"/>
            <a:ext cx="4241810" cy="191768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SWI-Prolog</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animal(X).</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X = cheetah.</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carnivore.</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true.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animal(tiger).</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false.</a:t>
            </a:r>
            <a:endParaRPr lang="en-US" sz="1200" dirty="0"/>
          </a:p>
        </p:txBody>
      </p:sp>
      <p:sp>
        <p:nvSpPr>
          <p:cNvPr id="11" name="Shape 8"/>
          <p:cNvSpPr/>
          <p:nvPr/>
        </p:nvSpPr>
        <p:spPr>
          <a:xfrm>
            <a:off x="6781830" y="4102090"/>
            <a:ext cx="4597420" cy="952530"/>
          </a:xfrm>
          <a:prstGeom prst="roundRect">
            <a:avLst>
              <a:gd name="adj" fmla="val 7680"/>
            </a:avLst>
          </a:prstGeom>
          <a:solidFill>
            <a:srgbClr val="F6E9E1"/>
          </a:solidFill>
          <a:ln/>
        </p:spPr>
      </p:sp>
      <p:sp>
        <p:nvSpPr>
          <p:cNvPr id="12" name="Text 9"/>
          <p:cNvSpPr txBox="1"/>
          <p:nvPr/>
        </p:nvSpPr>
        <p:spPr>
          <a:xfrm>
            <a:off x="6959590" y="4102090"/>
            <a:ext cx="4241810" cy="95253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Two gaps:</a:t>
            </a:r>
            <a:r>
              <a:rPr lang="en-US" sz="1300" dirty="0">
                <a:solidFill>
                  <a:srgbClr val="1B2233"/>
                </a:solidFill>
                <a:latin typeface="Calibri" pitchFamily="34" charset="0"/>
                <a:ea typeface="Calibri" pitchFamily="34" charset="-122"/>
                <a:cs typeface="Calibri" pitchFamily="34" charset="-120"/>
              </a:rPr>
              <a:t> every fact must be typed in beforehand, and the answer comes with no explanation. Next: ask for facts and explain.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How Prolog runs rules: backward chaining</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Bratko (2012), Ch. 2; Russell &amp; Norvig (2020), Ch. 9</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10</a:t>
            </a:r>
            <a:endParaRPr lang="en-US" sz="1200" dirty="0"/>
          </a:p>
        </p:txBody>
      </p:sp>
      <p:sp>
        <p:nvSpPr>
          <p:cNvPr id="7" name="Text 4"/>
          <p:cNvSpPr txBox="1"/>
          <p:nvPr/>
        </p:nvSpPr>
        <p:spPr>
          <a:xfrm>
            <a:off x="812810" y="1701790"/>
            <a:ext cx="4444990" cy="508041"/>
          </a:xfrm>
          <a:prstGeom prst="rect">
            <a:avLst/>
          </a:prstGeom>
          <a:noFill/>
          <a:ln/>
        </p:spPr>
        <p:txBody>
          <a:bodyPr wrap="square" lIns="0" tIns="0" rIns="0" bIns="0" rtlCol="0" anchor="t"/>
          <a:lstStyle/>
          <a:p>
            <a:pPr marL="0" indent="0">
              <a:lnSpc>
                <a:spcPct val="110000"/>
              </a:lnSpc>
              <a:buNone/>
            </a:pPr>
            <a:r>
              <a:rPr lang="en-US" sz="1400" dirty="0">
                <a:solidFill>
                  <a:srgbClr val="1B2233"/>
                </a:solidFill>
                <a:latin typeface="Calibri" pitchFamily="34" charset="0"/>
                <a:ea typeface="Calibri" pitchFamily="34" charset="-122"/>
                <a:cs typeface="Calibri" pitchFamily="34" charset="-120"/>
              </a:rPr>
              <a:t>Prolog proves a query by working </a:t>
            </a:r>
            <a:r>
              <a:rPr lang="en-US" sz="1400" b="1" dirty="0">
                <a:solidFill>
                  <a:srgbClr val="1B2233"/>
                </a:solidFill>
                <a:latin typeface="Calibri" pitchFamily="34" charset="0"/>
                <a:ea typeface="Calibri" pitchFamily="34" charset="-122"/>
                <a:cs typeface="Calibri" pitchFamily="34" charset="-120"/>
              </a:rPr>
              <a:t>backwards from the goal</a:t>
            </a:r>
            <a:r>
              <a:rPr lang="en-US" sz="1400" dirty="0">
                <a:solidFill>
                  <a:srgbClr val="1B2233"/>
                </a:solidFill>
                <a:latin typeface="Calibri" pitchFamily="34" charset="0"/>
                <a:ea typeface="Calibri" pitchFamily="34" charset="-122"/>
                <a:cs typeface="Calibri" pitchFamily="34" charset="-120"/>
              </a:rPr>
              <a:t> (SLD resolution):</a:t>
            </a:r>
            <a:endParaRPr lang="en-US" sz="1400" dirty="0"/>
          </a:p>
        </p:txBody>
      </p:sp>
      <p:sp>
        <p:nvSpPr>
          <p:cNvPr id="8" name="Text 5"/>
          <p:cNvSpPr txBox="1"/>
          <p:nvPr/>
        </p:nvSpPr>
        <p:spPr>
          <a:xfrm>
            <a:off x="812810" y="2311420"/>
            <a:ext cx="4444990" cy="2540020"/>
          </a:xfrm>
          <a:prstGeom prst="rect">
            <a:avLst/>
          </a:prstGeom>
          <a:noFill/>
          <a:ln/>
        </p:spPr>
        <p:txBody>
          <a:bodyPr wrap="square" lIns="0" tIns="0" rIns="0" bIns="0" rtlCol="0" anchor="t"/>
          <a:lstStyle/>
          <a:p>
            <a:pPr marL="279400" indent="-279400">
              <a:lnSpc>
                <a:spcPct val="110000"/>
              </a:lnSpc>
              <a:spcAft>
                <a:spcPts val="1000"/>
              </a:spcAft>
              <a:buSzPct val="100000"/>
              <a:buFont typeface="+mj-lt"/>
              <a:buAutoNum type="arabicPeriod"/>
            </a:pPr>
            <a:r>
              <a:rPr lang="en-US" sz="1400" dirty="0">
                <a:solidFill>
                  <a:srgbClr val="4A5264"/>
                </a:solidFill>
                <a:latin typeface="Calibri" pitchFamily="34" charset="0"/>
                <a:ea typeface="Calibri" pitchFamily="34" charset="-122"/>
                <a:cs typeface="Calibri" pitchFamily="34" charset="-120"/>
              </a:rPr>
              <a:t>Take the leftmost goal in the goal list.</a:t>
            </a:r>
            <a:endParaRPr lang="en-US" sz="1400" dirty="0"/>
          </a:p>
          <a:p>
            <a:pPr marL="279400" indent="-279400">
              <a:lnSpc>
                <a:spcPct val="110000"/>
              </a:lnSpc>
              <a:spcAft>
                <a:spcPts val="1000"/>
              </a:spcAft>
              <a:buSzPct val="100000"/>
              <a:buFont typeface="+mj-lt"/>
              <a:buAutoNum type="arabicPeriod"/>
            </a:pPr>
            <a:r>
              <a:rPr lang="en-US" sz="1400" dirty="0">
                <a:solidFill>
                  <a:srgbClr val="4A5264"/>
                </a:solidFill>
                <a:latin typeface="Calibri" pitchFamily="34" charset="0"/>
                <a:ea typeface="Calibri" pitchFamily="34" charset="-122"/>
                <a:cs typeface="Calibri" pitchFamily="34" charset="-120"/>
              </a:rPr>
              <a:t>Find the first clause whose head unifies with it.</a:t>
            </a:r>
            <a:endParaRPr lang="en-US" sz="1400" dirty="0"/>
          </a:p>
          <a:p>
            <a:pPr marL="279400" indent="-279400">
              <a:lnSpc>
                <a:spcPct val="110000"/>
              </a:lnSpc>
              <a:spcAft>
                <a:spcPts val="1000"/>
              </a:spcAft>
              <a:buSzPct val="100000"/>
              <a:buFont typeface="+mj-lt"/>
              <a:buAutoNum type="arabicPeriod"/>
            </a:pPr>
            <a:r>
              <a:rPr lang="en-US" sz="1400" dirty="0">
                <a:solidFill>
                  <a:srgbClr val="4A5264"/>
                </a:solidFill>
                <a:latin typeface="Calibri" pitchFamily="34" charset="0"/>
                <a:ea typeface="Calibri" pitchFamily="34" charset="-122"/>
                <a:cs typeface="Calibri" pitchFamily="34" charset="-120"/>
              </a:rPr>
              <a:t>Replace the goal by that clause's body: its conditions become sub-goals.</a:t>
            </a:r>
            <a:endParaRPr lang="en-US" sz="1400" dirty="0"/>
          </a:p>
          <a:p>
            <a:pPr marL="279400" indent="-279400">
              <a:lnSpc>
                <a:spcPct val="110000"/>
              </a:lnSpc>
              <a:spcAft>
                <a:spcPts val="1000"/>
              </a:spcAft>
              <a:buSzPct val="100000"/>
              <a:buFont typeface="+mj-lt"/>
              <a:buAutoNum type="arabicPeriod"/>
            </a:pPr>
            <a:r>
              <a:rPr lang="en-US" sz="1400" dirty="0">
                <a:solidFill>
                  <a:srgbClr val="4A5264"/>
                </a:solidFill>
                <a:latin typeface="Calibri" pitchFamily="34" charset="0"/>
                <a:ea typeface="Calibri" pitchFamily="34" charset="-122"/>
                <a:cs typeface="Calibri" pitchFamily="34" charset="-120"/>
              </a:rPr>
              <a:t>Goal list empty: success, and the bindings are the answer.</a:t>
            </a:r>
            <a:endParaRPr lang="en-US" sz="1400" dirty="0"/>
          </a:p>
          <a:p>
            <a:pPr marL="279400" indent="-279400">
              <a:lnSpc>
                <a:spcPct val="110000"/>
              </a:lnSpc>
              <a:spcAft>
                <a:spcPts val="1000"/>
              </a:spcAft>
              <a:buSzPct val="100000"/>
              <a:buFont typeface="+mj-lt"/>
              <a:buAutoNum type="arabicPeriod"/>
            </a:pPr>
            <a:r>
              <a:rPr lang="en-US" sz="1400" dirty="0">
                <a:solidFill>
                  <a:srgbClr val="4A5264"/>
                </a:solidFill>
                <a:latin typeface="Calibri" pitchFamily="34" charset="0"/>
                <a:ea typeface="Calibri" pitchFamily="34" charset="-122"/>
                <a:cs typeface="Calibri" pitchFamily="34" charset="-120"/>
              </a:rPr>
              <a:t>No clause fits: backtrack to the last choice and try the next clause.</a:t>
            </a:r>
            <a:endParaRPr lang="en-US" sz="1400" dirty="0"/>
          </a:p>
        </p:txBody>
      </p:sp>
      <p:sp>
        <p:nvSpPr>
          <p:cNvPr id="9" name="Shape 6"/>
          <p:cNvSpPr/>
          <p:nvPr/>
        </p:nvSpPr>
        <p:spPr>
          <a:xfrm>
            <a:off x="812810" y="5016490"/>
            <a:ext cx="4444990" cy="634959"/>
          </a:xfrm>
          <a:prstGeom prst="roundRect">
            <a:avLst>
              <a:gd name="adj" fmla="val 11521"/>
            </a:avLst>
          </a:prstGeom>
          <a:solidFill>
            <a:srgbClr val="F6E9E1"/>
          </a:solidFill>
          <a:ln/>
        </p:spPr>
      </p:sp>
      <p:sp>
        <p:nvSpPr>
          <p:cNvPr id="10" name="Text 7"/>
          <p:cNvSpPr txBox="1"/>
          <p:nvPr/>
        </p:nvSpPr>
        <p:spPr>
          <a:xfrm>
            <a:off x="990570" y="5016490"/>
            <a:ext cx="4089380" cy="634959"/>
          </a:xfrm>
          <a:prstGeom prst="rect">
            <a:avLst/>
          </a:prstGeom>
          <a:noFill/>
          <a:ln/>
        </p:spPr>
        <p:txBody>
          <a:bodyPr wrap="square" lIns="0" tIns="0" rIns="0" bIns="0" rtlCol="0" anchor="ctr"/>
          <a:lstStyle/>
          <a:p>
            <a:pPr marL="0" indent="0">
              <a:lnSpc>
                <a:spcPct val="110000"/>
              </a:lnSpc>
              <a:buNone/>
            </a:pPr>
            <a:r>
              <a:rPr lang="en-US" sz="1300" dirty="0">
                <a:solidFill>
                  <a:srgbClr val="1B2233"/>
                </a:solidFill>
                <a:latin typeface="Calibri" pitchFamily="34" charset="0"/>
                <a:ea typeface="Calibri" pitchFamily="34" charset="-122"/>
                <a:cs typeface="Calibri" pitchFamily="34" charset="-120"/>
              </a:rPr>
              <a:t>Search order: depth-first, goals left to right, clauses top to bottom.</a:t>
            </a:r>
            <a:endParaRPr lang="en-US" sz="1300" dirty="0"/>
          </a:p>
        </p:txBody>
      </p:sp>
      <p:sp>
        <p:nvSpPr>
          <p:cNvPr id="11" name="Shape 8"/>
          <p:cNvSpPr/>
          <p:nvPr/>
        </p:nvSpPr>
        <p:spPr>
          <a:xfrm>
            <a:off x="7442210" y="1701790"/>
            <a:ext cx="2158990" cy="381030"/>
          </a:xfrm>
          <a:prstGeom prst="roundRect">
            <a:avLst>
              <a:gd name="adj" fmla="val 23998"/>
            </a:avLst>
          </a:prstGeom>
          <a:solidFill>
            <a:srgbClr val="1E2433"/>
          </a:solidFill>
          <a:ln w="25400">
            <a:solidFill>
              <a:srgbClr val="1E2433"/>
            </a:solidFill>
            <a:prstDash val="solid"/>
          </a:ln>
        </p:spPr>
      </p:sp>
      <p:sp>
        <p:nvSpPr>
          <p:cNvPr id="12" name="Text 9"/>
          <p:cNvSpPr txBox="1"/>
          <p:nvPr/>
        </p:nvSpPr>
        <p:spPr>
          <a:xfrm>
            <a:off x="7442210" y="1701790"/>
            <a:ext cx="2158990" cy="381030"/>
          </a:xfrm>
          <a:prstGeom prst="rect">
            <a:avLst/>
          </a:prstGeom>
          <a:noFill/>
          <a:ln/>
        </p:spPr>
        <p:txBody>
          <a:bodyPr wrap="square" lIns="0" tIns="0" rIns="0" bIns="0" rtlCol="0" anchor="ctr"/>
          <a:lstStyle/>
          <a:p>
            <a:pPr marL="0" indent="0" algn="ctr">
              <a:buNone/>
            </a:pPr>
            <a:r>
              <a:rPr lang="en-US" sz="1200" dirty="0">
                <a:solidFill>
                  <a:srgbClr val="F3EFE4"/>
                </a:solidFill>
                <a:latin typeface="Consolas" pitchFamily="34" charset="0"/>
                <a:ea typeface="Consolas" pitchFamily="34" charset="-122"/>
                <a:cs typeface="Consolas" pitchFamily="34" charset="-120"/>
              </a:rPr>
              <a:t>?- animal(cheetah)</a:t>
            </a:r>
            <a:endParaRPr lang="en-US" sz="1200" dirty="0"/>
          </a:p>
        </p:txBody>
      </p:sp>
      <p:sp>
        <p:nvSpPr>
          <p:cNvPr id="13" name="Shape 10"/>
          <p:cNvSpPr/>
          <p:nvPr/>
        </p:nvSpPr>
        <p:spPr>
          <a:xfrm>
            <a:off x="5664159" y="2590770"/>
            <a:ext cx="1752630" cy="381030"/>
          </a:xfrm>
          <a:prstGeom prst="roundRect">
            <a:avLst>
              <a:gd name="adj" fmla="val 23998"/>
            </a:avLst>
          </a:prstGeom>
          <a:solidFill>
            <a:srgbClr val="1E2433"/>
          </a:solidFill>
          <a:ln w="25400">
            <a:solidFill>
              <a:srgbClr val="1E2433"/>
            </a:solidFill>
            <a:prstDash val="solid"/>
          </a:ln>
        </p:spPr>
      </p:sp>
      <p:sp>
        <p:nvSpPr>
          <p:cNvPr id="14" name="Text 11"/>
          <p:cNvSpPr txBox="1"/>
          <p:nvPr/>
        </p:nvSpPr>
        <p:spPr>
          <a:xfrm>
            <a:off x="5664159" y="2590770"/>
            <a:ext cx="1752630" cy="381030"/>
          </a:xfrm>
          <a:prstGeom prst="rect">
            <a:avLst/>
          </a:prstGeom>
          <a:noFill/>
          <a:ln/>
        </p:spPr>
        <p:txBody>
          <a:bodyPr wrap="square" lIns="0" tIns="0" rIns="0" bIns="0" rtlCol="0" anchor="ctr"/>
          <a:lstStyle/>
          <a:p>
            <a:pPr marL="0" indent="0" algn="ctr">
              <a:buNone/>
            </a:pPr>
            <a:r>
              <a:rPr lang="en-US" sz="1200" dirty="0">
                <a:solidFill>
                  <a:srgbClr val="F3EFE4"/>
                </a:solidFill>
                <a:latin typeface="Consolas" pitchFamily="34" charset="0"/>
                <a:ea typeface="Consolas" pitchFamily="34" charset="-122"/>
                <a:cs typeface="Consolas" pitchFamily="34" charset="-120"/>
              </a:rPr>
              <a:t>carnivore</a:t>
            </a:r>
            <a:endParaRPr lang="en-US" sz="1200" dirty="0"/>
          </a:p>
        </p:txBody>
      </p:sp>
      <p:sp>
        <p:nvSpPr>
          <p:cNvPr id="15" name="Shape 12"/>
          <p:cNvSpPr/>
          <p:nvPr/>
        </p:nvSpPr>
        <p:spPr>
          <a:xfrm>
            <a:off x="7645390" y="2590770"/>
            <a:ext cx="1752630" cy="381030"/>
          </a:xfrm>
          <a:prstGeom prst="roundRect">
            <a:avLst>
              <a:gd name="adj" fmla="val 23998"/>
            </a:avLst>
          </a:prstGeom>
          <a:solidFill>
            <a:srgbClr val="FFFFFF"/>
          </a:solidFill>
          <a:ln w="25400">
            <a:solidFill>
              <a:srgbClr val="2F5DA8"/>
            </a:solidFill>
            <a:prstDash val="solid"/>
          </a:ln>
        </p:spPr>
      </p:sp>
      <p:sp>
        <p:nvSpPr>
          <p:cNvPr id="16" name="Text 13"/>
          <p:cNvSpPr txBox="1"/>
          <p:nvPr/>
        </p:nvSpPr>
        <p:spPr>
          <a:xfrm>
            <a:off x="7645390" y="2590770"/>
            <a:ext cx="1752630" cy="38103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has(tawny_colour)</a:t>
            </a:r>
            <a:endParaRPr lang="en-US" sz="1200" dirty="0"/>
          </a:p>
        </p:txBody>
      </p:sp>
      <p:sp>
        <p:nvSpPr>
          <p:cNvPr id="17" name="Shape 14"/>
          <p:cNvSpPr/>
          <p:nvPr/>
        </p:nvSpPr>
        <p:spPr>
          <a:xfrm>
            <a:off x="9626620" y="2590770"/>
            <a:ext cx="1752630" cy="381030"/>
          </a:xfrm>
          <a:prstGeom prst="roundRect">
            <a:avLst>
              <a:gd name="adj" fmla="val 23998"/>
            </a:avLst>
          </a:prstGeom>
          <a:solidFill>
            <a:srgbClr val="FFFFFF"/>
          </a:solidFill>
          <a:ln w="25400">
            <a:solidFill>
              <a:srgbClr val="2F5DA8"/>
            </a:solidFill>
            <a:prstDash val="solid"/>
          </a:ln>
        </p:spPr>
      </p:sp>
      <p:sp>
        <p:nvSpPr>
          <p:cNvPr id="18" name="Text 15"/>
          <p:cNvSpPr txBox="1"/>
          <p:nvPr/>
        </p:nvSpPr>
        <p:spPr>
          <a:xfrm>
            <a:off x="9626620" y="2590770"/>
            <a:ext cx="1752630" cy="38103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has(dark_spots)</a:t>
            </a:r>
            <a:endParaRPr lang="en-US" sz="1200" dirty="0"/>
          </a:p>
        </p:txBody>
      </p:sp>
      <p:sp>
        <p:nvSpPr>
          <p:cNvPr id="19" name="Shape 16"/>
          <p:cNvSpPr/>
          <p:nvPr/>
        </p:nvSpPr>
        <p:spPr>
          <a:xfrm>
            <a:off x="5664159" y="3479841"/>
            <a:ext cx="1270010" cy="381030"/>
          </a:xfrm>
          <a:prstGeom prst="roundRect">
            <a:avLst>
              <a:gd name="adj" fmla="val 23998"/>
            </a:avLst>
          </a:prstGeom>
          <a:solidFill>
            <a:srgbClr val="1E2433"/>
          </a:solidFill>
          <a:ln w="25400">
            <a:solidFill>
              <a:srgbClr val="1E2433"/>
            </a:solidFill>
            <a:prstDash val="solid"/>
          </a:ln>
        </p:spPr>
      </p:sp>
      <p:sp>
        <p:nvSpPr>
          <p:cNvPr id="20" name="Text 17"/>
          <p:cNvSpPr txBox="1"/>
          <p:nvPr/>
        </p:nvSpPr>
        <p:spPr>
          <a:xfrm>
            <a:off x="5664159" y="3479841"/>
            <a:ext cx="1270010" cy="381030"/>
          </a:xfrm>
          <a:prstGeom prst="rect">
            <a:avLst/>
          </a:prstGeom>
          <a:noFill/>
          <a:ln/>
        </p:spPr>
        <p:txBody>
          <a:bodyPr wrap="square" lIns="0" tIns="0" rIns="0" bIns="0" rtlCol="0" anchor="ctr"/>
          <a:lstStyle/>
          <a:p>
            <a:pPr marL="0" indent="0" algn="ctr">
              <a:buNone/>
            </a:pPr>
            <a:r>
              <a:rPr lang="en-US" sz="1200" dirty="0">
                <a:solidFill>
                  <a:srgbClr val="F3EFE4"/>
                </a:solidFill>
                <a:latin typeface="Consolas" pitchFamily="34" charset="0"/>
                <a:ea typeface="Consolas" pitchFamily="34" charset="-122"/>
                <a:cs typeface="Consolas" pitchFamily="34" charset="-120"/>
              </a:rPr>
              <a:t>mammal</a:t>
            </a:r>
            <a:endParaRPr lang="en-US" sz="1200" dirty="0"/>
          </a:p>
        </p:txBody>
      </p:sp>
      <p:sp>
        <p:nvSpPr>
          <p:cNvPr id="21" name="Shape 18"/>
          <p:cNvSpPr/>
          <p:nvPr/>
        </p:nvSpPr>
        <p:spPr>
          <a:xfrm>
            <a:off x="7162770" y="3479841"/>
            <a:ext cx="1270010" cy="381030"/>
          </a:xfrm>
          <a:prstGeom prst="roundRect">
            <a:avLst>
              <a:gd name="adj" fmla="val 23998"/>
            </a:avLst>
          </a:prstGeom>
          <a:solidFill>
            <a:srgbClr val="FFFFFF"/>
          </a:solidFill>
          <a:ln w="25400">
            <a:solidFill>
              <a:srgbClr val="2F5DA8"/>
            </a:solidFill>
            <a:prstDash val="solid"/>
          </a:ln>
        </p:spPr>
      </p:sp>
      <p:sp>
        <p:nvSpPr>
          <p:cNvPr id="22" name="Text 19"/>
          <p:cNvSpPr txBox="1"/>
          <p:nvPr/>
        </p:nvSpPr>
        <p:spPr>
          <a:xfrm>
            <a:off x="7162770" y="3479841"/>
            <a:ext cx="1270010" cy="38103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eats(meat)</a:t>
            </a:r>
            <a:endParaRPr lang="en-US" sz="1200" dirty="0"/>
          </a:p>
        </p:txBody>
      </p:sp>
      <p:sp>
        <p:nvSpPr>
          <p:cNvPr id="23" name="Shape 20"/>
          <p:cNvSpPr/>
          <p:nvPr/>
        </p:nvSpPr>
        <p:spPr>
          <a:xfrm>
            <a:off x="5664159" y="4368820"/>
            <a:ext cx="1270010" cy="381030"/>
          </a:xfrm>
          <a:prstGeom prst="roundRect">
            <a:avLst>
              <a:gd name="adj" fmla="val 23998"/>
            </a:avLst>
          </a:prstGeom>
          <a:solidFill>
            <a:srgbClr val="FFFFFF"/>
          </a:solidFill>
          <a:ln w="25400">
            <a:solidFill>
              <a:srgbClr val="2F5DA8"/>
            </a:solidFill>
            <a:prstDash val="solid"/>
          </a:ln>
        </p:spPr>
      </p:sp>
      <p:sp>
        <p:nvSpPr>
          <p:cNvPr id="24" name="Text 21"/>
          <p:cNvSpPr txBox="1"/>
          <p:nvPr/>
        </p:nvSpPr>
        <p:spPr>
          <a:xfrm>
            <a:off x="5664159" y="4368820"/>
            <a:ext cx="1270010" cy="381030"/>
          </a:xfrm>
          <a:prstGeom prst="rect">
            <a:avLst/>
          </a:prstGeom>
          <a:noFill/>
          <a:ln/>
        </p:spPr>
        <p:txBody>
          <a:bodyPr wrap="square" lIns="0" tIns="0" rIns="0" bIns="0" rtlCol="0" anchor="ctr"/>
          <a:lstStyle/>
          <a:p>
            <a:pPr marL="0" indent="0" algn="ctr">
              <a:buNone/>
            </a:pPr>
            <a:r>
              <a:rPr lang="en-US" sz="1200" dirty="0">
                <a:solidFill>
                  <a:srgbClr val="1B2233"/>
                </a:solidFill>
                <a:latin typeface="Consolas" pitchFamily="34" charset="0"/>
                <a:ea typeface="Consolas" pitchFamily="34" charset="-122"/>
                <a:cs typeface="Consolas" pitchFamily="34" charset="-120"/>
              </a:rPr>
              <a:t>has(hair)</a:t>
            </a:r>
            <a:endParaRPr lang="en-US" sz="1200" dirty="0"/>
          </a:p>
        </p:txBody>
      </p:sp>
      <p:sp>
        <p:nvSpPr>
          <p:cNvPr id="25" name="Shape 22"/>
          <p:cNvSpPr/>
          <p:nvPr/>
        </p:nvSpPr>
        <p:spPr>
          <a:xfrm>
            <a:off x="8521659" y="2082820"/>
            <a:ext cx="0" cy="254020"/>
          </a:xfrm>
          <a:prstGeom prst="line">
            <a:avLst/>
          </a:prstGeom>
          <a:noFill/>
          <a:ln w="28575">
            <a:solidFill>
              <a:srgbClr val="4A5264"/>
            </a:solidFill>
            <a:prstDash val="solid"/>
          </a:ln>
        </p:spPr>
      </p:sp>
      <p:sp>
        <p:nvSpPr>
          <p:cNvPr id="26" name="Shape 23"/>
          <p:cNvSpPr/>
          <p:nvPr/>
        </p:nvSpPr>
        <p:spPr>
          <a:xfrm>
            <a:off x="6540520" y="2336841"/>
            <a:ext cx="3962370" cy="0"/>
          </a:xfrm>
          <a:prstGeom prst="line">
            <a:avLst/>
          </a:prstGeom>
          <a:noFill/>
          <a:ln w="28575">
            <a:solidFill>
              <a:srgbClr val="4A5264"/>
            </a:solidFill>
            <a:prstDash val="solid"/>
          </a:ln>
        </p:spPr>
      </p:sp>
      <p:sp>
        <p:nvSpPr>
          <p:cNvPr id="27" name="Shape 24"/>
          <p:cNvSpPr/>
          <p:nvPr/>
        </p:nvSpPr>
        <p:spPr>
          <a:xfrm>
            <a:off x="6540520" y="2336841"/>
            <a:ext cx="0" cy="254020"/>
          </a:xfrm>
          <a:prstGeom prst="line">
            <a:avLst/>
          </a:prstGeom>
          <a:noFill/>
          <a:ln w="28575">
            <a:solidFill>
              <a:srgbClr val="4A5264"/>
            </a:solidFill>
            <a:prstDash val="solid"/>
            <a:tailEnd type="triangle"/>
          </a:ln>
        </p:spPr>
      </p:sp>
      <p:sp>
        <p:nvSpPr>
          <p:cNvPr id="28" name="Shape 25"/>
          <p:cNvSpPr/>
          <p:nvPr/>
        </p:nvSpPr>
        <p:spPr>
          <a:xfrm>
            <a:off x="8521659" y="2336841"/>
            <a:ext cx="0" cy="254020"/>
          </a:xfrm>
          <a:prstGeom prst="line">
            <a:avLst/>
          </a:prstGeom>
          <a:noFill/>
          <a:ln w="28575">
            <a:solidFill>
              <a:srgbClr val="4A5264"/>
            </a:solidFill>
            <a:prstDash val="solid"/>
            <a:tailEnd type="triangle"/>
          </a:ln>
        </p:spPr>
      </p:sp>
      <p:sp>
        <p:nvSpPr>
          <p:cNvPr id="29" name="Shape 26"/>
          <p:cNvSpPr/>
          <p:nvPr/>
        </p:nvSpPr>
        <p:spPr>
          <a:xfrm>
            <a:off x="10502890" y="2336841"/>
            <a:ext cx="0" cy="254020"/>
          </a:xfrm>
          <a:prstGeom prst="line">
            <a:avLst/>
          </a:prstGeom>
          <a:noFill/>
          <a:ln w="28575">
            <a:solidFill>
              <a:srgbClr val="4A5264"/>
            </a:solidFill>
            <a:prstDash val="solid"/>
            <a:tailEnd type="triangle"/>
          </a:ln>
        </p:spPr>
      </p:sp>
      <p:sp>
        <p:nvSpPr>
          <p:cNvPr id="30" name="Shape 27"/>
          <p:cNvSpPr/>
          <p:nvPr/>
        </p:nvSpPr>
        <p:spPr>
          <a:xfrm>
            <a:off x="6540520" y="2971800"/>
            <a:ext cx="0" cy="254020"/>
          </a:xfrm>
          <a:prstGeom prst="line">
            <a:avLst/>
          </a:prstGeom>
          <a:noFill/>
          <a:ln w="28575">
            <a:solidFill>
              <a:srgbClr val="4A5264"/>
            </a:solidFill>
            <a:prstDash val="solid"/>
          </a:ln>
        </p:spPr>
      </p:sp>
      <p:sp>
        <p:nvSpPr>
          <p:cNvPr id="31" name="Shape 28"/>
          <p:cNvSpPr/>
          <p:nvPr/>
        </p:nvSpPr>
        <p:spPr>
          <a:xfrm>
            <a:off x="6299210" y="3225820"/>
            <a:ext cx="1498610" cy="0"/>
          </a:xfrm>
          <a:prstGeom prst="line">
            <a:avLst/>
          </a:prstGeom>
          <a:noFill/>
          <a:ln w="28575">
            <a:solidFill>
              <a:srgbClr val="4A5264"/>
            </a:solidFill>
            <a:prstDash val="solid"/>
          </a:ln>
        </p:spPr>
      </p:sp>
      <p:sp>
        <p:nvSpPr>
          <p:cNvPr id="32" name="Shape 29"/>
          <p:cNvSpPr/>
          <p:nvPr/>
        </p:nvSpPr>
        <p:spPr>
          <a:xfrm>
            <a:off x="6299210" y="3225820"/>
            <a:ext cx="0" cy="254020"/>
          </a:xfrm>
          <a:prstGeom prst="line">
            <a:avLst/>
          </a:prstGeom>
          <a:noFill/>
          <a:ln w="28575">
            <a:solidFill>
              <a:srgbClr val="4A5264"/>
            </a:solidFill>
            <a:prstDash val="solid"/>
            <a:tailEnd type="triangle"/>
          </a:ln>
        </p:spPr>
      </p:sp>
      <p:sp>
        <p:nvSpPr>
          <p:cNvPr id="33" name="Shape 30"/>
          <p:cNvSpPr/>
          <p:nvPr/>
        </p:nvSpPr>
        <p:spPr>
          <a:xfrm>
            <a:off x="7797820" y="3225820"/>
            <a:ext cx="0" cy="254020"/>
          </a:xfrm>
          <a:prstGeom prst="line">
            <a:avLst/>
          </a:prstGeom>
          <a:noFill/>
          <a:ln w="28575">
            <a:solidFill>
              <a:srgbClr val="4A5264"/>
            </a:solidFill>
            <a:prstDash val="solid"/>
            <a:tailEnd type="triangle"/>
          </a:ln>
        </p:spPr>
      </p:sp>
      <p:sp>
        <p:nvSpPr>
          <p:cNvPr id="34" name="Shape 31"/>
          <p:cNvSpPr/>
          <p:nvPr/>
        </p:nvSpPr>
        <p:spPr>
          <a:xfrm>
            <a:off x="6299210" y="3860780"/>
            <a:ext cx="0" cy="508041"/>
          </a:xfrm>
          <a:prstGeom prst="line">
            <a:avLst/>
          </a:prstGeom>
          <a:noFill/>
          <a:ln w="28575">
            <a:solidFill>
              <a:srgbClr val="4A5264"/>
            </a:solidFill>
            <a:prstDash val="solid"/>
            <a:tailEnd type="triangle"/>
          </a:ln>
        </p:spPr>
      </p:sp>
      <p:sp>
        <p:nvSpPr>
          <p:cNvPr id="35" name="Shape 32"/>
          <p:cNvSpPr/>
          <p:nvPr/>
        </p:nvSpPr>
        <p:spPr>
          <a:xfrm>
            <a:off x="7569220" y="4940320"/>
            <a:ext cx="1777959" cy="292059"/>
          </a:xfrm>
          <a:prstGeom prst="roundRect">
            <a:avLst>
              <a:gd name="adj" fmla="val 31309"/>
            </a:avLst>
          </a:prstGeom>
          <a:solidFill>
            <a:srgbClr val="1E2433"/>
          </a:solidFill>
          <a:ln/>
        </p:spPr>
      </p:sp>
      <p:sp>
        <p:nvSpPr>
          <p:cNvPr id="36" name="Text 33"/>
          <p:cNvSpPr txBox="1"/>
          <p:nvPr/>
        </p:nvSpPr>
        <p:spPr>
          <a:xfrm>
            <a:off x="7569220" y="4940320"/>
            <a:ext cx="1777959" cy="292059"/>
          </a:xfrm>
          <a:prstGeom prst="rect">
            <a:avLst/>
          </a:prstGeom>
          <a:noFill/>
          <a:ln/>
        </p:spPr>
        <p:txBody>
          <a:bodyPr wrap="square" lIns="0" tIns="0" rIns="0" bIns="0" rtlCol="0" anchor="ctr"/>
          <a:lstStyle/>
          <a:p>
            <a:pPr marL="0" indent="0" algn="ctr">
              <a:buNone/>
            </a:pPr>
            <a:r>
              <a:rPr lang="en-US" sz="1200" dirty="0">
                <a:solidFill>
                  <a:srgbClr val="F3EFE4"/>
                </a:solidFill>
                <a:latin typeface="Calibri" pitchFamily="34" charset="0"/>
                <a:ea typeface="Calibri" pitchFamily="34" charset="-122"/>
                <a:cs typeface="Calibri" pitchFamily="34" charset="-120"/>
              </a:rPr>
              <a:t>proved by a rule</a:t>
            </a:r>
            <a:endParaRPr lang="en-US" sz="1200" dirty="0"/>
          </a:p>
        </p:txBody>
      </p:sp>
      <p:sp>
        <p:nvSpPr>
          <p:cNvPr id="37" name="Shape 34"/>
          <p:cNvSpPr/>
          <p:nvPr/>
        </p:nvSpPr>
        <p:spPr>
          <a:xfrm>
            <a:off x="9550359" y="4940320"/>
            <a:ext cx="1777959" cy="292059"/>
          </a:xfrm>
          <a:prstGeom prst="roundRect">
            <a:avLst>
              <a:gd name="adj" fmla="val 31309"/>
            </a:avLst>
          </a:prstGeom>
          <a:solidFill>
            <a:srgbClr val="FFFFFF"/>
          </a:solidFill>
          <a:ln w="25400">
            <a:solidFill>
              <a:srgbClr val="2F5DA8"/>
            </a:solidFill>
            <a:prstDash val="solid"/>
          </a:ln>
        </p:spPr>
      </p:sp>
      <p:sp>
        <p:nvSpPr>
          <p:cNvPr id="38" name="Text 35"/>
          <p:cNvSpPr txBox="1"/>
          <p:nvPr/>
        </p:nvSpPr>
        <p:spPr>
          <a:xfrm>
            <a:off x="9550359" y="4940320"/>
            <a:ext cx="1777959" cy="292059"/>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matched a fact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Backward vs forward chaining</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Durkin (1994); Giarratano &amp; Riley (2005)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11</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10" y="1727210"/>
          <a:ext cx="10566348" cy="2915920"/>
        </p:xfrm>
        <a:graphic>
          <a:graphicData uri="http://schemas.openxmlformats.org/drawingml/2006/table">
            <a:tbl>
              <a:tblPr/>
              <a:tblGrid>
                <a:gridCol w="2324130">
                  <a:extLst>
                    <a:ext uri="{9D8B030D-6E8A-4147-A177-3AD203B41FA5}">
                      <a16:colId xmlns:a16="http://schemas.microsoft.com/office/drawing/2014/main" val="20000"/>
                    </a:ext>
                  </a:extLst>
                </a:gridCol>
                <a:gridCol w="4121109">
                  <a:extLst>
                    <a:ext uri="{9D8B030D-6E8A-4147-A177-3AD203B41FA5}">
                      <a16:colId xmlns:a16="http://schemas.microsoft.com/office/drawing/2014/main" val="20001"/>
                    </a:ext>
                  </a:extLst>
                </a:gridCol>
                <a:gridCol w="4121109">
                  <a:extLst>
                    <a:ext uri="{9D8B030D-6E8A-4147-A177-3AD203B41FA5}">
                      <a16:colId xmlns:a16="http://schemas.microsoft.com/office/drawing/2014/main" val="20002"/>
                    </a:ext>
                  </a:extLst>
                </a:gridCol>
              </a:tblGrid>
              <a:tr h="393741">
                <a:tc>
                  <a:txBody>
                    <a:bodyPr/>
                    <a:lstStyle/>
                    <a:p>
                      <a:pPr marL="0" indent="0">
                        <a:buNone/>
                      </a:pPr>
                      <a:r>
                        <a:rPr lang="en-US" sz="1400" b="1" dirty="0">
                          <a:solidFill>
                            <a:srgbClr val="F3EFE4"/>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tc>
                  <a:txBody>
                    <a:bodyPr/>
                    <a:lstStyle/>
                    <a:p>
                      <a:pPr marL="0" indent="0">
                        <a:buNone/>
                      </a:pPr>
                      <a:r>
                        <a:rPr lang="en-US" sz="1400" b="1" dirty="0">
                          <a:solidFill>
                            <a:srgbClr val="F2A65A"/>
                          </a:solidFill>
                          <a:latin typeface="Calibri" pitchFamily="34" charset="0"/>
                          <a:ea typeface="Calibri" pitchFamily="34" charset="-122"/>
                          <a:cs typeface="Calibri" pitchFamily="34" charset="-120"/>
                        </a:rPr>
                        <a:t>Backward (goal-driven)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tc>
                  <a:txBody>
                    <a:bodyPr/>
                    <a:lstStyle/>
                    <a:p>
                      <a:pPr marL="0" indent="0">
                        <a:buNone/>
                      </a:pPr>
                      <a:r>
                        <a:rPr lang="en-US" sz="1400" b="1" dirty="0">
                          <a:solidFill>
                            <a:srgbClr val="F3EFE4"/>
                          </a:solidFill>
                          <a:latin typeface="Calibri" pitchFamily="34" charset="0"/>
                          <a:ea typeface="Calibri" pitchFamily="34" charset="-122"/>
                          <a:cs typeface="Calibri" pitchFamily="34" charset="-120"/>
                        </a:rPr>
                        <a:t>Forward (data-driven)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1E2433"/>
                    </a:solidFill>
                  </a:tcPr>
                </a:tc>
                <a:extLst>
                  <a:ext uri="{0D108BD9-81ED-4DB2-BD59-A6C34878D82A}">
                    <a16:rowId xmlns:a16="http://schemas.microsoft.com/office/drawing/2014/main" val="10000"/>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Starts from</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a hypothesis (goal) to prove</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the facts already known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Direction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goal → sub-goals → facts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facts → rules fire → new facts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2"/>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Questions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only those the current goal needs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data usually collected up front</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diagnosis, identification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configuration, monitoring, planning</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4"/>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Classic systems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MYCIN; Prolog programs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R1 / XCON (OPS5); CLIPS</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741">
                <a:tc>
                  <a:txBody>
                    <a:bodyPr/>
                    <a:lstStyle/>
                    <a:p>
                      <a:pPr marL="0" indent="0">
                        <a:buNone/>
                      </a:pPr>
                      <a:r>
                        <a:rPr lang="en-US" sz="1400" b="1" dirty="0">
                          <a:solidFill>
                            <a:srgbClr val="1B2233"/>
                          </a:solidFill>
                          <a:latin typeface="Calibri" pitchFamily="34" charset="0"/>
                          <a:ea typeface="Calibri" pitchFamily="34" charset="-122"/>
                          <a:cs typeface="Calibri" pitchFamily="34" charset="-120"/>
                        </a:rPr>
                        <a:t>In Prolog</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built in: it is how queries run</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tc>
                  <a:txBody>
                    <a:bodyPr/>
                    <a:lstStyle/>
                    <a:p>
                      <a:pPr marL="0" indent="0">
                        <a:buNone/>
                      </a:pPr>
                      <a:r>
                        <a:rPr lang="en-US" sz="1400" dirty="0">
                          <a:solidFill>
                            <a:srgbClr val="1B2233"/>
                          </a:solidFill>
                          <a:latin typeface="Calibri" pitchFamily="34" charset="0"/>
                          <a:ea typeface="Calibri" pitchFamily="34" charset="-122"/>
                          <a:cs typeface="Calibri" pitchFamily="34" charset="-120"/>
                        </a:rPr>
                        <a:t>a loop you write with assert/1</a:t>
                      </a:r>
                      <a:endParaRPr lang="en-US" sz="1400" dirty="0">
                        <a:latin typeface="Calibri" charset="0"/>
                        <a:ea typeface="Calibri" charset="0"/>
                        <a:cs typeface="Calibri" charset="0"/>
                      </a:endParaRPr>
                    </a:p>
                  </a:txBody>
                  <a:tcPr marL="152400" marR="152400" marT="101600" marB="101600" anchor="ctr">
                    <a:lnL w="9525" cap="flat" cmpd="sng" algn="ctr">
                      <a:solidFill>
                        <a:srgbClr val="D9D6CC"/>
                      </a:solidFill>
                      <a:prstDash val="solid"/>
                      <a:round/>
                      <a:headEnd type="none" w="med" len="med"/>
                      <a:tailEnd type="none" w="med" len="med"/>
                    </a:lnL>
                    <a:lnR w="9525" cap="flat" cmpd="sng" algn="ctr">
                      <a:solidFill>
                        <a:srgbClr val="D9D6CC"/>
                      </a:solidFill>
                      <a:prstDash val="solid"/>
                      <a:round/>
                      <a:headEnd type="none" w="med" len="med"/>
                      <a:tailEnd type="none" w="med" len="med"/>
                    </a:lnR>
                    <a:lnT w="9525" cap="flat" cmpd="sng" algn="ctr">
                      <a:solidFill>
                        <a:srgbClr val="D9D6CC"/>
                      </a:solidFill>
                      <a:prstDash val="solid"/>
                      <a:round/>
                      <a:headEnd type="none" w="med" len="med"/>
                      <a:tailEnd type="none" w="med" len="med"/>
                    </a:lnT>
                    <a:lnB w="9525" cap="flat" cmpd="sng" algn="ctr">
                      <a:solidFill>
                        <a:srgbClr val="D9D6CC"/>
                      </a:solidFill>
                      <a:prstDash val="solid"/>
                      <a:round/>
                      <a:headEnd type="none" w="med" len="med"/>
                      <a:tailEnd type="none" w="med" len="med"/>
                    </a:lnB>
                    <a:solidFill>
                      <a:srgbClr val="EFEEE9"/>
                    </a:solidFill>
                  </a:tcPr>
                </a:tc>
                <a:extLst>
                  <a:ext uri="{0D108BD9-81ED-4DB2-BD59-A6C34878D82A}">
                    <a16:rowId xmlns:a16="http://schemas.microsoft.com/office/drawing/2014/main" val="10006"/>
                  </a:ext>
                </a:extLst>
              </a:tr>
            </a:tbl>
          </a:graphicData>
        </a:graphic>
      </p:graphicFrame>
      <p:sp>
        <p:nvSpPr>
          <p:cNvPr id="8" name="Shape 4"/>
          <p:cNvSpPr/>
          <p:nvPr/>
        </p:nvSpPr>
        <p:spPr>
          <a:xfrm>
            <a:off x="812810" y="4775180"/>
            <a:ext cx="10566441" cy="698510"/>
          </a:xfrm>
          <a:prstGeom prst="roundRect">
            <a:avLst>
              <a:gd name="adj" fmla="val 10473"/>
            </a:avLst>
          </a:prstGeom>
          <a:solidFill>
            <a:srgbClr val="F6E9E1"/>
          </a:solidFill>
          <a:ln/>
        </p:spPr>
      </p:sp>
      <p:sp>
        <p:nvSpPr>
          <p:cNvPr id="9" name="Text 5"/>
          <p:cNvSpPr txBox="1"/>
          <p:nvPr/>
        </p:nvSpPr>
        <p:spPr>
          <a:xfrm>
            <a:off x="990570" y="4775180"/>
            <a:ext cx="10210830" cy="698510"/>
          </a:xfrm>
          <a:prstGeom prst="rect">
            <a:avLst/>
          </a:prstGeom>
          <a:noFill/>
          <a:ln/>
        </p:spPr>
        <p:txBody>
          <a:bodyPr wrap="square" lIns="0" tIns="0" rIns="0" bIns="0" rtlCol="0" anchor="ctr"/>
          <a:lstStyle/>
          <a:p>
            <a:pPr marL="0" indent="0">
              <a:lnSpc>
                <a:spcPct val="110000"/>
              </a:lnSpc>
              <a:buNone/>
            </a:pPr>
            <a:r>
              <a:rPr lang="en-US" sz="1400" b="1" dirty="0">
                <a:solidFill>
                  <a:srgbClr val="1B2233"/>
                </a:solidFill>
                <a:latin typeface="Calibri" pitchFamily="34" charset="0"/>
                <a:ea typeface="Calibri" pitchFamily="34" charset="-122"/>
                <a:cs typeface="Calibri" pitchFamily="34" charset="-120"/>
              </a:rPr>
              <a:t>Our choice:</a:t>
            </a:r>
            <a:r>
              <a:rPr lang="en-US" sz="1400" dirty="0">
                <a:solidFill>
                  <a:srgbClr val="1B2233"/>
                </a:solidFill>
                <a:latin typeface="Calibri" pitchFamily="34" charset="0"/>
                <a:ea typeface="Calibri" pitchFamily="34" charset="-122"/>
                <a:cs typeface="Calibri" pitchFamily="34" charset="-120"/>
              </a:rPr>
              <a:t> backward chaining, because identifying an animal (or a disease) means testing hypotheses and asking only what each one needs.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02 · CORE CONCEPTS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Asking the user for missing facts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Bratko (2012), Ch. 15; Durkin (1994)</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12</a:t>
            </a:r>
            <a:endParaRPr lang="en-US" sz="1200" dirty="0"/>
          </a:p>
        </p:txBody>
      </p:sp>
      <p:sp>
        <p:nvSpPr>
          <p:cNvPr id="7" name="Text 4"/>
          <p:cNvSpPr txBox="1"/>
          <p:nvPr/>
        </p:nvSpPr>
        <p:spPr>
          <a:xfrm>
            <a:off x="812810" y="1701790"/>
            <a:ext cx="3810030" cy="4063959"/>
          </a:xfrm>
          <a:prstGeom prst="rect">
            <a:avLst/>
          </a:prstGeom>
          <a:noFill/>
          <a:ln/>
        </p:spPr>
        <p:txBody>
          <a:bodyPr wrap="square" lIns="0" tIns="0" rIns="0" bIns="0" rtlCol="0" anchor="t"/>
          <a:lstStyle/>
          <a:p>
            <a:pPr marL="254000" indent="-254000">
              <a:lnSpc>
                <a:spcPct val="110000"/>
              </a:lnSpc>
              <a:spcAft>
                <a:spcPts val="1400"/>
              </a:spcAft>
              <a:buSzPct val="100000"/>
              <a:buChar char="•"/>
            </a:pPr>
            <a:r>
              <a:rPr lang="en-US" sz="1400" dirty="0">
                <a:solidFill>
                  <a:srgbClr val="4A5264"/>
                </a:solidFill>
                <a:latin typeface="Calibri" pitchFamily="34" charset="0"/>
                <a:ea typeface="Calibri" pitchFamily="34" charset="-122"/>
                <a:cs typeface="Calibri" pitchFamily="34" charset="-120"/>
              </a:rPr>
              <a:t>A consultation starts with almost no facts, so the system must ask.</a:t>
            </a:r>
            <a:endParaRPr lang="en-US" sz="1400" dirty="0"/>
          </a:p>
          <a:p>
            <a:pPr marL="254000" indent="-254000">
              <a:lnSpc>
                <a:spcPct val="110000"/>
              </a:lnSpc>
              <a:spcAft>
                <a:spcPts val="1400"/>
              </a:spcAft>
              <a:buSzPct val="100000"/>
              <a:buChar char="•"/>
            </a:pPr>
            <a:r>
              <a:rPr lang="en-US" sz="1400" dirty="0">
                <a:solidFill>
                  <a:srgbClr val="4A5264"/>
                </a:solidFill>
                <a:latin typeface="Calibri" pitchFamily="34" charset="0"/>
                <a:ea typeface="Calibri" pitchFamily="34" charset="-122"/>
                <a:cs typeface="Calibri" pitchFamily="34" charset="-120"/>
              </a:rPr>
              <a:t>Only leaf conditions are </a:t>
            </a:r>
            <a:r>
              <a:rPr lang="en-US" sz="1400" b="1" dirty="0">
                <a:solidFill>
                  <a:srgbClr val="4A5264"/>
                </a:solidFill>
                <a:latin typeface="Calibri" pitchFamily="34" charset="0"/>
                <a:ea typeface="Calibri" pitchFamily="34" charset="-122"/>
                <a:cs typeface="Calibri" pitchFamily="34" charset="-120"/>
              </a:rPr>
              <a:t>askable</a:t>
            </a:r>
            <a:r>
              <a:rPr lang="en-US" sz="1400" dirty="0">
                <a:solidFill>
                  <a:srgbClr val="4A5264"/>
                </a:solidFill>
                <a:latin typeface="Calibri" pitchFamily="34" charset="0"/>
                <a:ea typeface="Calibri" pitchFamily="34" charset="-122"/>
                <a:cs typeface="Calibri" pitchFamily="34" charset="-120"/>
              </a:rPr>
              <a:t>: facts that no rule can conclude.</a:t>
            </a:r>
            <a:endParaRPr lang="en-US" sz="1400" dirty="0"/>
          </a:p>
          <a:p>
            <a:pPr marL="254000" indent="-254000">
              <a:lnSpc>
                <a:spcPct val="110000"/>
              </a:lnSpc>
              <a:spcAft>
                <a:spcPts val="1400"/>
              </a:spcAft>
              <a:buSzPct val="100000"/>
              <a:buChar char="•"/>
            </a:pPr>
            <a:r>
              <a:rPr lang="en-US" sz="1400" b="1" dirty="0">
                <a:solidFill>
                  <a:srgbClr val="4A5264"/>
                </a:solidFill>
                <a:latin typeface="Calibri" pitchFamily="34" charset="0"/>
                <a:ea typeface="Calibri" pitchFamily="34" charset="-122"/>
                <a:cs typeface="Calibri" pitchFamily="34" charset="-120"/>
              </a:rPr>
              <a:t>Ask lazily</a:t>
            </a:r>
            <a:r>
              <a:rPr lang="en-US" sz="1400" dirty="0">
                <a:solidFill>
                  <a:srgbClr val="4A5264"/>
                </a:solidFill>
                <a:latin typeface="Calibri" pitchFamily="34" charset="0"/>
                <a:ea typeface="Calibri" pitchFamily="34" charset="-122"/>
                <a:cs typeface="Calibri" pitchFamily="34" charset="-120"/>
              </a:rPr>
              <a:t>: only when the current rule needs the fact.</a:t>
            </a:r>
            <a:endParaRPr lang="en-US" sz="1400" dirty="0"/>
          </a:p>
          <a:p>
            <a:pPr marL="254000" indent="-254000">
              <a:lnSpc>
                <a:spcPct val="110000"/>
              </a:lnSpc>
              <a:spcAft>
                <a:spcPts val="1400"/>
              </a:spcAft>
              <a:buSzPct val="100000"/>
              <a:buChar char="•"/>
            </a:pPr>
            <a:r>
              <a:rPr lang="en-US" sz="1400" b="1" dirty="0">
                <a:solidFill>
                  <a:srgbClr val="4A5264"/>
                </a:solidFill>
                <a:latin typeface="Calibri" pitchFamily="34" charset="0"/>
                <a:ea typeface="Calibri" pitchFamily="34" charset="-122"/>
                <a:cs typeface="Calibri" pitchFamily="34" charset="-120"/>
              </a:rPr>
              <a:t>Ask once</a:t>
            </a:r>
            <a:r>
              <a:rPr lang="en-US" sz="1400" dirty="0">
                <a:solidFill>
                  <a:srgbClr val="4A5264"/>
                </a:solidFill>
                <a:latin typeface="Calibri" pitchFamily="34" charset="0"/>
                <a:ea typeface="Calibri" pitchFamily="34" charset="-122"/>
                <a:cs typeface="Calibri" pitchFamily="34" charset="-120"/>
              </a:rPr>
              <a:t>: store every answer in working memory (known/2).</a:t>
            </a:r>
            <a:endParaRPr lang="en-US" sz="1400" dirty="0"/>
          </a:p>
          <a:p>
            <a:pPr marL="254000" indent="-254000">
              <a:lnSpc>
                <a:spcPct val="110000"/>
              </a:lnSpc>
              <a:spcAft>
                <a:spcPts val="1400"/>
              </a:spcAft>
              <a:buSzPct val="100000"/>
              <a:buChar char="•"/>
            </a:pPr>
            <a:r>
              <a:rPr lang="en-US" sz="1400" b="1" dirty="0">
                <a:solidFill>
                  <a:srgbClr val="4A5264"/>
                </a:solidFill>
                <a:latin typeface="Calibri" pitchFamily="34" charset="0"/>
                <a:ea typeface="Calibri" pitchFamily="34" charset="-122"/>
                <a:cs typeface="Calibri" pitchFamily="34" charset="-120"/>
              </a:rPr>
              <a:t>Stay transparent</a:t>
            </a:r>
            <a:r>
              <a:rPr lang="en-US" sz="1400" dirty="0">
                <a:solidFill>
                  <a:srgbClr val="4A5264"/>
                </a:solidFill>
                <a:latin typeface="Calibri" pitchFamily="34" charset="0"/>
                <a:ea typeface="Calibri" pitchFamily="34" charset="-122"/>
                <a:cs typeface="Calibri" pitchFamily="34" charset="-120"/>
              </a:rPr>
              <a:t>: the user may reply why to see the reason.</a:t>
            </a:r>
            <a:endParaRPr lang="en-US" sz="1400" dirty="0"/>
          </a:p>
        </p:txBody>
      </p:sp>
      <p:sp>
        <p:nvSpPr>
          <p:cNvPr id="8" name="Shape 5"/>
          <p:cNvSpPr/>
          <p:nvPr/>
        </p:nvSpPr>
        <p:spPr>
          <a:xfrm>
            <a:off x="5029200" y="1701790"/>
            <a:ext cx="2794041" cy="634959"/>
          </a:xfrm>
          <a:prstGeom prst="roundRect">
            <a:avLst>
              <a:gd name="adj" fmla="val 14401"/>
            </a:avLst>
          </a:prstGeom>
          <a:solidFill>
            <a:srgbClr val="1E2433"/>
          </a:solidFill>
          <a:ln/>
        </p:spPr>
      </p:sp>
      <p:sp>
        <p:nvSpPr>
          <p:cNvPr id="9" name="Text 6"/>
          <p:cNvSpPr txBox="1"/>
          <p:nvPr/>
        </p:nvSpPr>
        <p:spPr>
          <a:xfrm>
            <a:off x="5156210" y="1701790"/>
            <a:ext cx="2540020" cy="634959"/>
          </a:xfrm>
          <a:prstGeom prst="rect">
            <a:avLst/>
          </a:prstGeom>
          <a:noFill/>
          <a:ln/>
        </p:spPr>
        <p:txBody>
          <a:bodyPr wrap="square" lIns="0" tIns="0" rIns="0" bIns="0" rtlCol="0" anchor="ctr"/>
          <a:lstStyle/>
          <a:p>
            <a:pPr marL="0" indent="0">
              <a:buNone/>
            </a:pPr>
            <a:r>
              <a:rPr lang="en-US" sz="1300" dirty="0">
                <a:solidFill>
                  <a:srgbClr val="F3EFE4"/>
                </a:solidFill>
                <a:latin typeface="Calibri" pitchFamily="34" charset="0"/>
                <a:ea typeface="Calibri" pitchFamily="34" charset="-122"/>
                <a:cs typeface="Calibri" pitchFamily="34" charset="-120"/>
              </a:rPr>
              <a:t>1 · Is the goal askable (a leaf fact)?</a:t>
            </a:r>
            <a:endParaRPr lang="en-US" sz="1300" dirty="0"/>
          </a:p>
        </p:txBody>
      </p:sp>
      <p:sp>
        <p:nvSpPr>
          <p:cNvPr id="10" name="Shape 7"/>
          <p:cNvSpPr/>
          <p:nvPr/>
        </p:nvSpPr>
        <p:spPr>
          <a:xfrm>
            <a:off x="5029200" y="2844790"/>
            <a:ext cx="2794041" cy="634959"/>
          </a:xfrm>
          <a:prstGeom prst="roundRect">
            <a:avLst>
              <a:gd name="adj" fmla="val 14401"/>
            </a:avLst>
          </a:prstGeom>
          <a:solidFill>
            <a:srgbClr val="1E2433"/>
          </a:solidFill>
          <a:ln/>
        </p:spPr>
      </p:sp>
      <p:sp>
        <p:nvSpPr>
          <p:cNvPr id="11" name="Text 8"/>
          <p:cNvSpPr txBox="1"/>
          <p:nvPr/>
        </p:nvSpPr>
        <p:spPr>
          <a:xfrm>
            <a:off x="5156210" y="2844790"/>
            <a:ext cx="2540020" cy="634959"/>
          </a:xfrm>
          <a:prstGeom prst="rect">
            <a:avLst/>
          </a:prstGeom>
          <a:noFill/>
          <a:ln/>
        </p:spPr>
        <p:txBody>
          <a:bodyPr wrap="square" lIns="0" tIns="0" rIns="0" bIns="0" rtlCol="0" anchor="ctr"/>
          <a:lstStyle/>
          <a:p>
            <a:pPr marL="0" indent="0">
              <a:buNone/>
            </a:pPr>
            <a:r>
              <a:rPr lang="en-US" sz="1300" dirty="0">
                <a:solidFill>
                  <a:srgbClr val="F3EFE4"/>
                </a:solidFill>
                <a:latin typeface="Calibri" pitchFamily="34" charset="0"/>
                <a:ea typeface="Calibri" pitchFamily="34" charset="-122"/>
                <a:cs typeface="Calibri" pitchFamily="34" charset="-120"/>
              </a:rPr>
              <a:t>2 · Already answered? Look it up in known/2</a:t>
            </a:r>
            <a:endParaRPr lang="en-US" sz="1300" dirty="0"/>
          </a:p>
        </p:txBody>
      </p:sp>
      <p:sp>
        <p:nvSpPr>
          <p:cNvPr id="12" name="Shape 9"/>
          <p:cNvSpPr/>
          <p:nvPr/>
        </p:nvSpPr>
        <p:spPr>
          <a:xfrm>
            <a:off x="5029200" y="3987790"/>
            <a:ext cx="2794041" cy="634959"/>
          </a:xfrm>
          <a:prstGeom prst="roundRect">
            <a:avLst>
              <a:gd name="adj" fmla="val 14401"/>
            </a:avLst>
          </a:prstGeom>
          <a:solidFill>
            <a:srgbClr val="1E2433"/>
          </a:solidFill>
          <a:ln/>
        </p:spPr>
      </p:sp>
      <p:sp>
        <p:nvSpPr>
          <p:cNvPr id="13" name="Text 10"/>
          <p:cNvSpPr txBox="1"/>
          <p:nvPr/>
        </p:nvSpPr>
        <p:spPr>
          <a:xfrm>
            <a:off x="5156210" y="3987790"/>
            <a:ext cx="2540020" cy="634959"/>
          </a:xfrm>
          <a:prstGeom prst="rect">
            <a:avLst/>
          </a:prstGeom>
          <a:noFill/>
          <a:ln/>
        </p:spPr>
        <p:txBody>
          <a:bodyPr wrap="square" lIns="0" tIns="0" rIns="0" bIns="0" rtlCol="0" anchor="ctr"/>
          <a:lstStyle/>
          <a:p>
            <a:pPr marL="0" indent="0">
              <a:buNone/>
            </a:pPr>
            <a:r>
              <a:rPr lang="en-US" sz="1300" dirty="0">
                <a:solidFill>
                  <a:srgbClr val="F3EFE4"/>
                </a:solidFill>
                <a:latin typeface="Calibri" pitchFamily="34" charset="0"/>
                <a:ea typeface="Calibri" pitchFamily="34" charset="-122"/>
                <a:cs typeface="Calibri" pitchFamily="34" charset="-120"/>
              </a:rPr>
              <a:t>3 · Ask: "Is it true: G ? (yes/no/why)"</a:t>
            </a:r>
            <a:endParaRPr lang="en-US" sz="1300" dirty="0"/>
          </a:p>
        </p:txBody>
      </p:sp>
      <p:sp>
        <p:nvSpPr>
          <p:cNvPr id="14" name="Shape 11"/>
          <p:cNvSpPr/>
          <p:nvPr/>
        </p:nvSpPr>
        <p:spPr>
          <a:xfrm>
            <a:off x="5029200" y="5130790"/>
            <a:ext cx="2794041" cy="634959"/>
          </a:xfrm>
          <a:prstGeom prst="roundRect">
            <a:avLst>
              <a:gd name="adj" fmla="val 14401"/>
            </a:avLst>
          </a:prstGeom>
          <a:solidFill>
            <a:srgbClr val="1E2433"/>
          </a:solidFill>
          <a:ln/>
        </p:spPr>
      </p:sp>
      <p:sp>
        <p:nvSpPr>
          <p:cNvPr id="15" name="Text 12"/>
          <p:cNvSpPr txBox="1"/>
          <p:nvPr/>
        </p:nvSpPr>
        <p:spPr>
          <a:xfrm>
            <a:off x="5156210" y="5130790"/>
            <a:ext cx="2540020" cy="634959"/>
          </a:xfrm>
          <a:prstGeom prst="rect">
            <a:avLst/>
          </a:prstGeom>
          <a:noFill/>
          <a:ln/>
        </p:spPr>
        <p:txBody>
          <a:bodyPr wrap="square" lIns="0" tIns="0" rIns="0" bIns="0" rtlCol="0" anchor="ctr"/>
          <a:lstStyle/>
          <a:p>
            <a:pPr marL="0" indent="0">
              <a:buNone/>
            </a:pPr>
            <a:r>
              <a:rPr lang="en-US" sz="1300" dirty="0">
                <a:solidFill>
                  <a:srgbClr val="F3EFE4"/>
                </a:solidFill>
                <a:latin typeface="Calibri" pitchFamily="34" charset="0"/>
                <a:ea typeface="Calibri" pitchFamily="34" charset="-122"/>
                <a:cs typeface="Calibri" pitchFamily="34" charset="-120"/>
              </a:rPr>
              <a:t>4 · Store the answer; succeed only if it is yes</a:t>
            </a:r>
            <a:endParaRPr lang="en-US" sz="1300" dirty="0"/>
          </a:p>
        </p:txBody>
      </p:sp>
      <p:sp>
        <p:nvSpPr>
          <p:cNvPr id="16" name="Shape 13"/>
          <p:cNvSpPr/>
          <p:nvPr/>
        </p:nvSpPr>
        <p:spPr>
          <a:xfrm>
            <a:off x="8585210" y="1701790"/>
            <a:ext cx="2794041" cy="634959"/>
          </a:xfrm>
          <a:prstGeom prst="roundRect">
            <a:avLst>
              <a:gd name="adj" fmla="val 14401"/>
            </a:avLst>
          </a:prstGeom>
          <a:solidFill>
            <a:srgbClr val="FFFFFF"/>
          </a:solidFill>
          <a:ln w="25400">
            <a:solidFill>
              <a:srgbClr val="4A5264"/>
            </a:solidFill>
            <a:prstDash val="solid"/>
          </a:ln>
        </p:spPr>
      </p:sp>
      <p:sp>
        <p:nvSpPr>
          <p:cNvPr id="17" name="Text 14"/>
          <p:cNvSpPr txBox="1"/>
          <p:nvPr/>
        </p:nvSpPr>
        <p:spPr>
          <a:xfrm>
            <a:off x="8712220" y="1701790"/>
            <a:ext cx="2540020" cy="634959"/>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No: prove it with rules (backward chaining)</a:t>
            </a:r>
            <a:endParaRPr lang="en-US" sz="1300" dirty="0"/>
          </a:p>
        </p:txBody>
      </p:sp>
      <p:sp>
        <p:nvSpPr>
          <p:cNvPr id="18" name="Shape 15"/>
          <p:cNvSpPr/>
          <p:nvPr/>
        </p:nvSpPr>
        <p:spPr>
          <a:xfrm>
            <a:off x="8585210" y="2844790"/>
            <a:ext cx="2794041" cy="634959"/>
          </a:xfrm>
          <a:prstGeom prst="roundRect">
            <a:avLst>
              <a:gd name="adj" fmla="val 14401"/>
            </a:avLst>
          </a:prstGeom>
          <a:solidFill>
            <a:srgbClr val="FFFFFF"/>
          </a:solidFill>
          <a:ln w="25400">
            <a:solidFill>
              <a:srgbClr val="2F5DA8"/>
            </a:solidFill>
            <a:prstDash val="solid"/>
          </a:ln>
        </p:spPr>
      </p:sp>
      <p:sp>
        <p:nvSpPr>
          <p:cNvPr id="19" name="Text 16"/>
          <p:cNvSpPr txBox="1"/>
          <p:nvPr/>
        </p:nvSpPr>
        <p:spPr>
          <a:xfrm>
            <a:off x="8712220" y="2844790"/>
            <a:ext cx="2540020" cy="634959"/>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Yes: reuse the stored answer, no new question</a:t>
            </a:r>
            <a:endParaRPr lang="en-US" sz="1300" dirty="0"/>
          </a:p>
        </p:txBody>
      </p:sp>
      <p:sp>
        <p:nvSpPr>
          <p:cNvPr id="20" name="Shape 17"/>
          <p:cNvSpPr/>
          <p:nvPr/>
        </p:nvSpPr>
        <p:spPr>
          <a:xfrm>
            <a:off x="8585210" y="3987790"/>
            <a:ext cx="2794041" cy="634959"/>
          </a:xfrm>
          <a:prstGeom prst="roundRect">
            <a:avLst>
              <a:gd name="adj" fmla="val 14401"/>
            </a:avLst>
          </a:prstGeom>
          <a:solidFill>
            <a:srgbClr val="FFFFFF"/>
          </a:solidFill>
          <a:ln w="25400">
            <a:solidFill>
              <a:srgbClr val="A8441A"/>
            </a:solidFill>
            <a:prstDash val="solid"/>
          </a:ln>
        </p:spPr>
      </p:sp>
      <p:sp>
        <p:nvSpPr>
          <p:cNvPr id="21" name="Text 18"/>
          <p:cNvSpPr txBox="1"/>
          <p:nvPr/>
        </p:nvSpPr>
        <p:spPr>
          <a:xfrm>
            <a:off x="8712220" y="3987790"/>
            <a:ext cx="2540020" cy="634959"/>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why: print the rules that need G, then ask again</a:t>
            </a:r>
            <a:endParaRPr lang="en-US" sz="1300" dirty="0"/>
          </a:p>
        </p:txBody>
      </p:sp>
      <p:sp>
        <p:nvSpPr>
          <p:cNvPr id="22" name="Text 19"/>
          <p:cNvSpPr txBox="1"/>
          <p:nvPr/>
        </p:nvSpPr>
        <p:spPr>
          <a:xfrm>
            <a:off x="6527810" y="2476470"/>
            <a:ext cx="1015990" cy="228600"/>
          </a:xfrm>
          <a:prstGeom prst="rect">
            <a:avLst/>
          </a:prstGeom>
          <a:noFill/>
          <a:ln/>
        </p:spPr>
        <p:txBody>
          <a:bodyPr wrap="square" lIns="0" tIns="0" rIns="0" bIns="0" rtlCol="0" anchor="ctr"/>
          <a:lstStyle/>
          <a:p>
            <a:pPr marL="0" indent="0">
              <a:buNone/>
            </a:pPr>
            <a:r>
              <a:rPr lang="en-US" sz="1300" b="1" dirty="0">
                <a:solidFill>
                  <a:srgbClr val="1B2233"/>
                </a:solidFill>
                <a:latin typeface="Calibri" pitchFamily="34" charset="0"/>
                <a:ea typeface="Calibri" pitchFamily="34" charset="-122"/>
                <a:cs typeface="Calibri" pitchFamily="34" charset="-120"/>
              </a:rPr>
              <a:t>yes</a:t>
            </a:r>
            <a:endParaRPr lang="en-US" sz="1300" dirty="0"/>
          </a:p>
        </p:txBody>
      </p:sp>
      <p:sp>
        <p:nvSpPr>
          <p:cNvPr id="23" name="Text 20"/>
          <p:cNvSpPr txBox="1"/>
          <p:nvPr/>
        </p:nvSpPr>
        <p:spPr>
          <a:xfrm>
            <a:off x="6527810" y="3619470"/>
            <a:ext cx="1015990" cy="228600"/>
          </a:xfrm>
          <a:prstGeom prst="rect">
            <a:avLst/>
          </a:prstGeom>
          <a:noFill/>
          <a:ln/>
        </p:spPr>
        <p:txBody>
          <a:bodyPr wrap="square" lIns="0" tIns="0" rIns="0" bIns="0" rtlCol="0" anchor="ctr"/>
          <a:lstStyle/>
          <a:p>
            <a:pPr marL="0" indent="0">
              <a:buNone/>
            </a:pPr>
            <a:r>
              <a:rPr lang="en-US" sz="1300" b="1" dirty="0">
                <a:solidFill>
                  <a:srgbClr val="1B2233"/>
                </a:solidFill>
                <a:latin typeface="Calibri" pitchFamily="34" charset="0"/>
                <a:ea typeface="Calibri" pitchFamily="34" charset="-122"/>
                <a:cs typeface="Calibri" pitchFamily="34" charset="-120"/>
              </a:rPr>
              <a:t>no</a:t>
            </a:r>
            <a:endParaRPr lang="en-US" sz="1300" dirty="0"/>
          </a:p>
        </p:txBody>
      </p:sp>
      <p:sp>
        <p:nvSpPr>
          <p:cNvPr id="24" name="Text 21"/>
          <p:cNvSpPr txBox="1"/>
          <p:nvPr/>
        </p:nvSpPr>
        <p:spPr>
          <a:xfrm>
            <a:off x="6527810" y="4762470"/>
            <a:ext cx="1015990" cy="228600"/>
          </a:xfrm>
          <a:prstGeom prst="rect">
            <a:avLst/>
          </a:prstGeom>
          <a:noFill/>
          <a:ln/>
        </p:spPr>
        <p:txBody>
          <a:bodyPr wrap="square" lIns="0" tIns="0" rIns="0" bIns="0" rtlCol="0" anchor="ctr"/>
          <a:lstStyle/>
          <a:p>
            <a:pPr marL="0" indent="0">
              <a:buNone/>
            </a:pPr>
            <a:r>
              <a:rPr lang="en-US" sz="1300" b="1" dirty="0">
                <a:solidFill>
                  <a:srgbClr val="1B2233"/>
                </a:solidFill>
                <a:latin typeface="Calibri" pitchFamily="34" charset="0"/>
                <a:ea typeface="Calibri" pitchFamily="34" charset="-122"/>
                <a:cs typeface="Calibri" pitchFamily="34" charset="-120"/>
              </a:rPr>
              <a:t>yes / no</a:t>
            </a:r>
            <a:endParaRPr lang="en-US" sz="1300" dirty="0"/>
          </a:p>
        </p:txBody>
      </p:sp>
      <p:sp>
        <p:nvSpPr>
          <p:cNvPr id="25" name="Shape 22"/>
          <p:cNvSpPr/>
          <p:nvPr/>
        </p:nvSpPr>
        <p:spPr>
          <a:xfrm>
            <a:off x="6426220" y="2336841"/>
            <a:ext cx="0" cy="508041"/>
          </a:xfrm>
          <a:prstGeom prst="line">
            <a:avLst/>
          </a:prstGeom>
          <a:noFill/>
          <a:ln w="28575">
            <a:solidFill>
              <a:srgbClr val="4A5264"/>
            </a:solidFill>
            <a:prstDash val="solid"/>
            <a:tailEnd type="triangle"/>
          </a:ln>
        </p:spPr>
      </p:sp>
      <p:sp>
        <p:nvSpPr>
          <p:cNvPr id="26" name="Shape 23"/>
          <p:cNvSpPr/>
          <p:nvPr/>
        </p:nvSpPr>
        <p:spPr>
          <a:xfrm>
            <a:off x="6426220" y="3479841"/>
            <a:ext cx="0" cy="508041"/>
          </a:xfrm>
          <a:prstGeom prst="line">
            <a:avLst/>
          </a:prstGeom>
          <a:noFill/>
          <a:ln w="28575">
            <a:solidFill>
              <a:srgbClr val="4A5264"/>
            </a:solidFill>
            <a:prstDash val="solid"/>
            <a:tailEnd type="triangle"/>
          </a:ln>
        </p:spPr>
      </p:sp>
      <p:sp>
        <p:nvSpPr>
          <p:cNvPr id="27" name="Shape 24"/>
          <p:cNvSpPr/>
          <p:nvPr/>
        </p:nvSpPr>
        <p:spPr>
          <a:xfrm>
            <a:off x="6426220" y="4622841"/>
            <a:ext cx="0" cy="508041"/>
          </a:xfrm>
          <a:prstGeom prst="line">
            <a:avLst/>
          </a:prstGeom>
          <a:noFill/>
          <a:ln w="28575">
            <a:solidFill>
              <a:srgbClr val="4A5264"/>
            </a:solidFill>
            <a:prstDash val="solid"/>
            <a:tailEnd type="triangle"/>
          </a:ln>
        </p:spPr>
      </p:sp>
      <p:sp>
        <p:nvSpPr>
          <p:cNvPr id="28" name="Shape 25"/>
          <p:cNvSpPr/>
          <p:nvPr/>
        </p:nvSpPr>
        <p:spPr>
          <a:xfrm>
            <a:off x="7823241" y="2019270"/>
            <a:ext cx="761970" cy="0"/>
          </a:xfrm>
          <a:prstGeom prst="line">
            <a:avLst/>
          </a:prstGeom>
          <a:noFill/>
          <a:ln w="28575">
            <a:solidFill>
              <a:srgbClr val="4A5264"/>
            </a:solidFill>
            <a:prstDash val="solid"/>
            <a:tailEnd type="triangle"/>
          </a:ln>
        </p:spPr>
      </p:sp>
      <p:sp>
        <p:nvSpPr>
          <p:cNvPr id="29" name="Shape 26"/>
          <p:cNvSpPr/>
          <p:nvPr/>
        </p:nvSpPr>
        <p:spPr>
          <a:xfrm>
            <a:off x="7823241" y="3162270"/>
            <a:ext cx="761970" cy="0"/>
          </a:xfrm>
          <a:prstGeom prst="line">
            <a:avLst/>
          </a:prstGeom>
          <a:noFill/>
          <a:ln w="28575">
            <a:solidFill>
              <a:srgbClr val="2F5DA8"/>
            </a:solidFill>
            <a:prstDash val="solid"/>
            <a:tailEnd type="triangle"/>
          </a:ln>
        </p:spPr>
      </p:sp>
      <p:sp>
        <p:nvSpPr>
          <p:cNvPr id="30" name="Shape 27"/>
          <p:cNvSpPr/>
          <p:nvPr/>
        </p:nvSpPr>
        <p:spPr>
          <a:xfrm>
            <a:off x="7823241" y="4305270"/>
            <a:ext cx="761970" cy="0"/>
          </a:xfrm>
          <a:prstGeom prst="line">
            <a:avLst/>
          </a:prstGeom>
          <a:noFill/>
          <a:ln w="28575">
            <a:solidFill>
              <a:srgbClr val="A8441A"/>
            </a:solidFill>
            <a:prstDash val="solid"/>
            <a:headEnd type="triangle"/>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13A"/>
        </a:solidFill>
        <a:effectLst/>
      </p:bgPr>
    </p:bg>
    <p:spTree>
      <p:nvGrpSpPr>
        <p:cNvPr id="1" name=""/>
        <p:cNvGrpSpPr/>
        <p:nvPr/>
      </p:nvGrpSpPr>
      <p:grpSpPr>
        <a:xfrm>
          <a:off x="0" y="0"/>
          <a:ext cx="0" cy="0"/>
          <a:chOff x="0" y="0"/>
          <a:chExt cx="0" cy="0"/>
        </a:xfrm>
      </p:grpSpPr>
      <p:sp>
        <p:nvSpPr>
          <p:cNvPr id="2" name="Text 0"/>
          <p:cNvSpPr txBox="1"/>
          <p:nvPr/>
        </p:nvSpPr>
        <p:spPr>
          <a:xfrm>
            <a:off x="812810" y="1587490"/>
            <a:ext cx="10159990" cy="254020"/>
          </a:xfrm>
          <a:prstGeom prst="rect">
            <a:avLst/>
          </a:prstGeom>
          <a:noFill/>
          <a:ln/>
        </p:spPr>
        <p:txBody>
          <a:bodyPr wrap="square" lIns="0" tIns="0" rIns="0" bIns="0" rtlCol="0" anchor="t"/>
          <a:lstStyle/>
          <a:p>
            <a:pPr marL="0" indent="0">
              <a:buNone/>
            </a:pPr>
            <a:r>
              <a:rPr lang="en-US" sz="1200" b="1" kern="0" spc="300" dirty="0">
                <a:solidFill>
                  <a:srgbClr val="F2A65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1904970"/>
            <a:ext cx="10566441" cy="761970"/>
          </a:xfrm>
          <a:prstGeom prst="rect">
            <a:avLst/>
          </a:prstGeom>
          <a:noFill/>
          <a:ln/>
        </p:spPr>
        <p:txBody>
          <a:bodyPr wrap="square" lIns="0" tIns="0" rIns="0" bIns="0" rtlCol="0" anchor="ctr"/>
          <a:lstStyle/>
          <a:p>
            <a:pPr marL="0" indent="0">
              <a:buNone/>
            </a:pPr>
            <a:r>
              <a:rPr lang="en-US" sz="4000" b="1" dirty="0">
                <a:solidFill>
                  <a:srgbClr val="F3EFE4"/>
                </a:solidFill>
                <a:latin typeface="Cambria" pitchFamily="34" charset="0"/>
                <a:ea typeface="Cambria" pitchFamily="34" charset="-122"/>
                <a:cs typeface="Cambria" pitchFamily="34" charset="-120"/>
              </a:rPr>
              <a:t>Four pieces make an expert system</a:t>
            </a:r>
            <a:endParaRPr lang="en-US" sz="4000" dirty="0"/>
          </a:p>
        </p:txBody>
      </p:sp>
      <p:sp>
        <p:nvSpPr>
          <p:cNvPr id="4" name="Shape 2"/>
          <p:cNvSpPr/>
          <p:nvPr/>
        </p:nvSpPr>
        <p:spPr>
          <a:xfrm>
            <a:off x="812810" y="3047970"/>
            <a:ext cx="2222541" cy="888980"/>
          </a:xfrm>
          <a:prstGeom prst="roundRect">
            <a:avLst>
              <a:gd name="adj" fmla="val 12343"/>
            </a:avLst>
          </a:prstGeom>
          <a:solidFill>
            <a:srgbClr val="16213A"/>
          </a:solidFill>
          <a:ln w="25400">
            <a:solidFill>
              <a:srgbClr val="F2A65A"/>
            </a:solidFill>
            <a:prstDash val="solid"/>
          </a:ln>
        </p:spPr>
      </p:sp>
      <p:sp>
        <p:nvSpPr>
          <p:cNvPr id="5" name="Text 3"/>
          <p:cNvSpPr txBox="1"/>
          <p:nvPr/>
        </p:nvSpPr>
        <p:spPr>
          <a:xfrm>
            <a:off x="990570" y="3047970"/>
            <a:ext cx="1904970" cy="888980"/>
          </a:xfrm>
          <a:prstGeom prst="rect">
            <a:avLst/>
          </a:prstGeom>
          <a:noFill/>
          <a:ln/>
        </p:spPr>
        <p:txBody>
          <a:bodyPr wrap="square" lIns="0" tIns="0" rIns="0" bIns="0" rtlCol="0" anchor="ctr"/>
          <a:lstStyle/>
          <a:p>
            <a:pPr marL="0" indent="0">
              <a:lnSpc>
                <a:spcPct val="130000"/>
              </a:lnSpc>
              <a:buNone/>
            </a:pPr>
            <a:r>
              <a:rPr lang="en-US" sz="1600" b="1" dirty="0">
                <a:solidFill>
                  <a:srgbClr val="F3EFE4"/>
                </a:solidFill>
                <a:latin typeface="Calibri" pitchFamily="34" charset="0"/>
                <a:ea typeface="Calibri" pitchFamily="34" charset="-122"/>
                <a:cs typeface="Calibri" pitchFamily="34" charset="-120"/>
              </a:rPr>
              <a:t>Knowledge base</a:t>
            </a:r>
            <a:endParaRPr lang="en-US" sz="1300" dirty="0"/>
          </a:p>
          <a:p>
            <a:pPr marL="0" indent="0">
              <a:lnSpc>
                <a:spcPct val="130000"/>
              </a:lnSpc>
              <a:buNone/>
            </a:pPr>
            <a:r>
              <a:rPr lang="en-US" sz="1200" dirty="0">
                <a:solidFill>
                  <a:srgbClr val="F2A65A"/>
                </a:solidFill>
                <a:latin typeface="Consolas" pitchFamily="34" charset="0"/>
                <a:ea typeface="Consolas" pitchFamily="34" charset="-122"/>
                <a:cs typeface="Consolas" pitchFamily="34" charset="-120"/>
              </a:rPr>
              <a:t>Id :: if … then …</a:t>
            </a:r>
            <a:endParaRPr lang="en-US" sz="1300" dirty="0"/>
          </a:p>
        </p:txBody>
      </p:sp>
      <p:sp>
        <p:nvSpPr>
          <p:cNvPr id="6" name="Text 4"/>
          <p:cNvSpPr txBox="1"/>
          <p:nvPr/>
        </p:nvSpPr>
        <p:spPr>
          <a:xfrm>
            <a:off x="3035259" y="3047970"/>
            <a:ext cx="444490" cy="888980"/>
          </a:xfrm>
          <a:prstGeom prst="rect">
            <a:avLst/>
          </a:prstGeom>
          <a:noFill/>
          <a:ln/>
        </p:spPr>
        <p:txBody>
          <a:bodyPr wrap="square" lIns="0" tIns="0" rIns="0" bIns="0" rtlCol="0" anchor="ctr"/>
          <a:lstStyle/>
          <a:p>
            <a:pPr marL="0" indent="0" algn="ctr">
              <a:buNone/>
            </a:pPr>
            <a:r>
              <a:rPr lang="en-US" sz="2400" b="1" dirty="0">
                <a:solidFill>
                  <a:srgbClr val="C9D1E0"/>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3479841" y="3047970"/>
            <a:ext cx="2222541" cy="888980"/>
          </a:xfrm>
          <a:prstGeom prst="roundRect">
            <a:avLst>
              <a:gd name="adj" fmla="val 12343"/>
            </a:avLst>
          </a:prstGeom>
          <a:solidFill>
            <a:srgbClr val="16213A"/>
          </a:solidFill>
          <a:ln w="25400">
            <a:solidFill>
              <a:srgbClr val="F2A65A"/>
            </a:solidFill>
            <a:prstDash val="solid"/>
          </a:ln>
        </p:spPr>
      </p:sp>
      <p:sp>
        <p:nvSpPr>
          <p:cNvPr id="8" name="Text 6"/>
          <p:cNvSpPr txBox="1"/>
          <p:nvPr/>
        </p:nvSpPr>
        <p:spPr>
          <a:xfrm>
            <a:off x="3657600" y="3047970"/>
            <a:ext cx="1904970" cy="888980"/>
          </a:xfrm>
          <a:prstGeom prst="rect">
            <a:avLst/>
          </a:prstGeom>
          <a:noFill/>
          <a:ln/>
        </p:spPr>
        <p:txBody>
          <a:bodyPr wrap="square" lIns="0" tIns="0" rIns="0" bIns="0" rtlCol="0" anchor="ctr"/>
          <a:lstStyle/>
          <a:p>
            <a:pPr marL="0" indent="0">
              <a:lnSpc>
                <a:spcPct val="130000"/>
              </a:lnSpc>
              <a:buNone/>
            </a:pPr>
            <a:r>
              <a:rPr lang="en-US" sz="1600" b="1" dirty="0">
                <a:solidFill>
                  <a:srgbClr val="F3EFE4"/>
                </a:solidFill>
                <a:latin typeface="Calibri" pitchFamily="34" charset="0"/>
                <a:ea typeface="Calibri" pitchFamily="34" charset="-122"/>
                <a:cs typeface="Calibri" pitchFamily="34" charset="-120"/>
              </a:rPr>
              <a:t>Inference engine</a:t>
            </a:r>
            <a:endParaRPr lang="en-US" sz="1300" dirty="0"/>
          </a:p>
          <a:p>
            <a:pPr marL="0" indent="0">
              <a:lnSpc>
                <a:spcPct val="130000"/>
              </a:lnSpc>
              <a:buNone/>
            </a:pPr>
            <a:r>
              <a:rPr lang="en-US" sz="1200" dirty="0">
                <a:solidFill>
                  <a:srgbClr val="F2A65A"/>
                </a:solidFill>
                <a:latin typeface="Consolas" pitchFamily="34" charset="0"/>
                <a:ea typeface="Consolas" pitchFamily="34" charset="-122"/>
                <a:cs typeface="Consolas" pitchFamily="34" charset="-120"/>
              </a:rPr>
              <a:t>prove/3</a:t>
            </a:r>
            <a:endParaRPr lang="en-US" sz="1300" dirty="0"/>
          </a:p>
        </p:txBody>
      </p:sp>
      <p:sp>
        <p:nvSpPr>
          <p:cNvPr id="9" name="Text 7"/>
          <p:cNvSpPr txBox="1"/>
          <p:nvPr/>
        </p:nvSpPr>
        <p:spPr>
          <a:xfrm>
            <a:off x="5702290" y="3047970"/>
            <a:ext cx="444490" cy="888980"/>
          </a:xfrm>
          <a:prstGeom prst="rect">
            <a:avLst/>
          </a:prstGeom>
          <a:noFill/>
          <a:ln/>
        </p:spPr>
        <p:txBody>
          <a:bodyPr wrap="square" lIns="0" tIns="0" rIns="0" bIns="0" rtlCol="0" anchor="ctr"/>
          <a:lstStyle/>
          <a:p>
            <a:pPr marL="0" indent="0" algn="ctr">
              <a:buNone/>
            </a:pPr>
            <a:r>
              <a:rPr lang="en-US" sz="2400" b="1" dirty="0">
                <a:solidFill>
                  <a:srgbClr val="C9D1E0"/>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146780" y="3047970"/>
            <a:ext cx="2222541" cy="888980"/>
          </a:xfrm>
          <a:prstGeom prst="roundRect">
            <a:avLst>
              <a:gd name="adj" fmla="val 12343"/>
            </a:avLst>
          </a:prstGeom>
          <a:solidFill>
            <a:srgbClr val="16213A"/>
          </a:solidFill>
          <a:ln w="25400">
            <a:solidFill>
              <a:srgbClr val="F2A65A"/>
            </a:solidFill>
            <a:prstDash val="solid"/>
          </a:ln>
        </p:spPr>
      </p:sp>
      <p:sp>
        <p:nvSpPr>
          <p:cNvPr id="11" name="Text 9"/>
          <p:cNvSpPr txBox="1"/>
          <p:nvPr/>
        </p:nvSpPr>
        <p:spPr>
          <a:xfrm>
            <a:off x="6324630" y="3047970"/>
            <a:ext cx="1904970" cy="888980"/>
          </a:xfrm>
          <a:prstGeom prst="rect">
            <a:avLst/>
          </a:prstGeom>
          <a:noFill/>
          <a:ln/>
        </p:spPr>
        <p:txBody>
          <a:bodyPr wrap="square" lIns="0" tIns="0" rIns="0" bIns="0" rtlCol="0" anchor="ctr"/>
          <a:lstStyle/>
          <a:p>
            <a:pPr marL="0" indent="0">
              <a:lnSpc>
                <a:spcPct val="130000"/>
              </a:lnSpc>
              <a:buNone/>
            </a:pPr>
            <a:r>
              <a:rPr lang="en-US" sz="1600" b="1" dirty="0">
                <a:solidFill>
                  <a:srgbClr val="F3EFE4"/>
                </a:solidFill>
                <a:latin typeface="Calibri" pitchFamily="34" charset="0"/>
                <a:ea typeface="Calibri" pitchFamily="34" charset="-122"/>
                <a:cs typeface="Calibri" pitchFamily="34" charset="-120"/>
              </a:rPr>
              <a:t>Ask the user</a:t>
            </a:r>
            <a:endParaRPr lang="en-US" sz="1300" dirty="0"/>
          </a:p>
          <a:p>
            <a:pPr marL="0" indent="0">
              <a:lnSpc>
                <a:spcPct val="130000"/>
              </a:lnSpc>
              <a:buNone/>
            </a:pPr>
            <a:r>
              <a:rPr lang="en-US" sz="1200" dirty="0">
                <a:solidFill>
                  <a:srgbClr val="F2A65A"/>
                </a:solidFill>
                <a:latin typeface="Consolas" pitchFamily="34" charset="0"/>
                <a:ea typeface="Consolas" pitchFamily="34" charset="-122"/>
                <a:cs typeface="Consolas" pitchFamily="34" charset="-120"/>
              </a:rPr>
              <a:t>ask/2</a:t>
            </a:r>
            <a:endParaRPr lang="en-US" sz="1300" dirty="0"/>
          </a:p>
        </p:txBody>
      </p:sp>
      <p:sp>
        <p:nvSpPr>
          <p:cNvPr id="12" name="Text 10"/>
          <p:cNvSpPr txBox="1"/>
          <p:nvPr/>
        </p:nvSpPr>
        <p:spPr>
          <a:xfrm>
            <a:off x="8369320" y="3047970"/>
            <a:ext cx="444490" cy="888980"/>
          </a:xfrm>
          <a:prstGeom prst="rect">
            <a:avLst/>
          </a:prstGeom>
          <a:noFill/>
          <a:ln/>
        </p:spPr>
        <p:txBody>
          <a:bodyPr wrap="square" lIns="0" tIns="0" rIns="0" bIns="0" rtlCol="0" anchor="ctr"/>
          <a:lstStyle/>
          <a:p>
            <a:pPr marL="0" indent="0" algn="ctr">
              <a:buNone/>
            </a:pPr>
            <a:r>
              <a:rPr lang="en-US" sz="2400" b="1" dirty="0">
                <a:solidFill>
                  <a:srgbClr val="C9D1E0"/>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8813810" y="3047970"/>
            <a:ext cx="2222541" cy="888980"/>
          </a:xfrm>
          <a:prstGeom prst="roundRect">
            <a:avLst>
              <a:gd name="adj" fmla="val 12343"/>
            </a:avLst>
          </a:prstGeom>
          <a:solidFill>
            <a:srgbClr val="16213A"/>
          </a:solidFill>
          <a:ln w="25400">
            <a:solidFill>
              <a:srgbClr val="F2A65A"/>
            </a:solidFill>
            <a:prstDash val="solid"/>
          </a:ln>
        </p:spPr>
      </p:sp>
      <p:sp>
        <p:nvSpPr>
          <p:cNvPr id="14" name="Text 12"/>
          <p:cNvSpPr txBox="1"/>
          <p:nvPr/>
        </p:nvSpPr>
        <p:spPr>
          <a:xfrm>
            <a:off x="8991570" y="3047970"/>
            <a:ext cx="1904970" cy="888980"/>
          </a:xfrm>
          <a:prstGeom prst="rect">
            <a:avLst/>
          </a:prstGeom>
          <a:noFill/>
          <a:ln/>
        </p:spPr>
        <p:txBody>
          <a:bodyPr wrap="square" lIns="0" tIns="0" rIns="0" bIns="0" rtlCol="0" anchor="ctr"/>
          <a:lstStyle/>
          <a:p>
            <a:pPr marL="0" indent="0">
              <a:lnSpc>
                <a:spcPct val="130000"/>
              </a:lnSpc>
              <a:buNone/>
            </a:pPr>
            <a:r>
              <a:rPr lang="en-US" sz="1600" b="1" dirty="0">
                <a:solidFill>
                  <a:srgbClr val="F3EFE4"/>
                </a:solidFill>
                <a:latin typeface="Calibri" pitchFamily="34" charset="0"/>
                <a:ea typeface="Calibri" pitchFamily="34" charset="-122"/>
                <a:cs typeface="Calibri" pitchFamily="34" charset="-120"/>
              </a:rPr>
              <a:t>Explain</a:t>
            </a:r>
            <a:endParaRPr lang="en-US" sz="1300" dirty="0"/>
          </a:p>
          <a:p>
            <a:pPr marL="0" indent="0">
              <a:lnSpc>
                <a:spcPct val="130000"/>
              </a:lnSpc>
              <a:buNone/>
            </a:pPr>
            <a:r>
              <a:rPr lang="en-US" sz="1200" dirty="0">
                <a:solidFill>
                  <a:srgbClr val="F2A65A"/>
                </a:solidFill>
                <a:latin typeface="Consolas" pitchFamily="34" charset="0"/>
                <a:ea typeface="Consolas" pitchFamily="34" charset="-122"/>
                <a:cs typeface="Consolas" pitchFamily="34" charset="-120"/>
              </a:rPr>
              <a:t>why/1 · how/2</a:t>
            </a:r>
            <a:endParaRPr lang="en-US" sz="1300" dirty="0"/>
          </a:p>
        </p:txBody>
      </p:sp>
      <p:sp>
        <p:nvSpPr>
          <p:cNvPr id="15" name="Text 13"/>
          <p:cNvSpPr txBox="1"/>
          <p:nvPr/>
        </p:nvSpPr>
        <p:spPr>
          <a:xfrm>
            <a:off x="812810" y="4317980"/>
            <a:ext cx="8889980" cy="698510"/>
          </a:xfrm>
          <a:prstGeom prst="rect">
            <a:avLst/>
          </a:prstGeom>
          <a:noFill/>
          <a:ln/>
        </p:spPr>
        <p:txBody>
          <a:bodyPr wrap="square" lIns="0" tIns="0" rIns="0" bIns="0" rtlCol="0" anchor="t"/>
          <a:lstStyle/>
          <a:p>
            <a:pPr marL="0" indent="0">
              <a:lnSpc>
                <a:spcPct val="120000"/>
              </a:lnSpc>
              <a:buNone/>
            </a:pPr>
            <a:r>
              <a:rPr lang="en-US" sz="1600" dirty="0">
                <a:solidFill>
                  <a:srgbClr val="C9D1E0"/>
                </a:solidFill>
                <a:latin typeface="Calibri" pitchFamily="34" charset="0"/>
                <a:ea typeface="Calibri" pitchFamily="34" charset="-122"/>
                <a:cs typeface="Calibri" pitchFamily="34" charset="-120"/>
              </a:rPr>
              <a:t>Prolog supplies the hard part (unification and backtracking) for free. Our whole shell is about 60 lines; next we build it, then run it.</a:t>
            </a:r>
            <a:endParaRPr lang="en-US" sz="1600" dirty="0"/>
          </a:p>
        </p:txBody>
      </p:sp>
      <p:sp>
        <p:nvSpPr>
          <p:cNvPr id="16" name="Text 14"/>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C9D1E0"/>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Design step: rules as data the engine can read</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rule notation after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14</a:t>
            </a:r>
            <a:endParaRPr lang="en-US" sz="1200" dirty="0"/>
          </a:p>
        </p:txBody>
      </p:sp>
      <p:sp>
        <p:nvSpPr>
          <p:cNvPr id="7" name="Text 4"/>
          <p:cNvSpPr txBox="1"/>
          <p:nvPr/>
        </p:nvSpPr>
        <p:spPr>
          <a:xfrm>
            <a:off x="812810" y="1701790"/>
            <a:ext cx="4699010" cy="4063959"/>
          </a:xfrm>
          <a:prstGeom prst="rect">
            <a:avLst/>
          </a:prstGeom>
          <a:noFill/>
          <a:ln/>
        </p:spPr>
        <p:txBody>
          <a:bodyPr wrap="square" lIns="0" tIns="0" rIns="0" bIns="0" rtlCol="0" anchor="t"/>
          <a:lstStyle/>
          <a:p>
            <a:pPr marL="254000" indent="-254000">
              <a:lnSpc>
                <a:spcPct val="110000"/>
              </a:lnSpc>
              <a:spcAft>
                <a:spcPts val="1600"/>
              </a:spcAft>
              <a:buSzPct val="100000"/>
              <a:buChar char="•"/>
            </a:pPr>
            <a:r>
              <a:rPr lang="en-US" sz="1400" dirty="0">
                <a:solidFill>
                  <a:srgbClr val="4A5264"/>
                </a:solidFill>
                <a:latin typeface="Calibri" pitchFamily="34" charset="0"/>
                <a:ea typeface="Calibri" pitchFamily="34" charset="-122"/>
                <a:cs typeface="Calibri" pitchFamily="34" charset="-120"/>
              </a:rPr>
              <a:t>A native clause runs, but the program cannot see </a:t>
            </a:r>
            <a:r>
              <a:rPr lang="en-US" sz="1400" b="1" dirty="0">
                <a:solidFill>
                  <a:srgbClr val="4A5264"/>
                </a:solidFill>
                <a:latin typeface="Calibri" pitchFamily="34" charset="0"/>
                <a:ea typeface="Calibri" pitchFamily="34" charset="-122"/>
                <a:cs typeface="Calibri" pitchFamily="34" charset="-120"/>
              </a:rPr>
              <a:t>which</a:t>
            </a:r>
            <a:r>
              <a:rPr lang="en-US" sz="1400" dirty="0">
                <a:solidFill>
                  <a:srgbClr val="4A5264"/>
                </a:solidFill>
                <a:latin typeface="Calibri" pitchFamily="34" charset="0"/>
                <a:ea typeface="Calibri" pitchFamily="34" charset="-122"/>
                <a:cs typeface="Calibri" pitchFamily="34" charset="-120"/>
              </a:rPr>
              <a:t> rule fired, so it cannot explain.</a:t>
            </a:r>
            <a:endParaRPr lang="en-US" sz="1400" dirty="0"/>
          </a:p>
          <a:p>
            <a:pPr marL="254000" indent="-254000">
              <a:lnSpc>
                <a:spcPct val="110000"/>
              </a:lnSpc>
              <a:spcAft>
                <a:spcPts val="1600"/>
              </a:spcAft>
              <a:buSzPct val="100000"/>
              <a:buChar char="•"/>
            </a:pPr>
            <a:r>
              <a:rPr lang="en-US" sz="1400" dirty="0">
                <a:solidFill>
                  <a:srgbClr val="4A5264"/>
                </a:solidFill>
                <a:latin typeface="Calibri" pitchFamily="34" charset="0"/>
                <a:ea typeface="Calibri" pitchFamily="34" charset="-122"/>
                <a:cs typeface="Calibri" pitchFamily="34" charset="-120"/>
              </a:rPr>
              <a:t>Store each rule as a named fact: </a:t>
            </a:r>
            <a:r>
              <a:rPr lang="en-US" sz="1400" b="1" dirty="0">
                <a:solidFill>
                  <a:srgbClr val="4A5264"/>
                </a:solidFill>
                <a:latin typeface="Calibri" pitchFamily="34" charset="0"/>
                <a:ea typeface="Calibri" pitchFamily="34" charset="-122"/>
                <a:cs typeface="Calibri" pitchFamily="34" charset="-120"/>
              </a:rPr>
              <a:t>Id :: if Conditions then Conclusion</a:t>
            </a:r>
            <a:r>
              <a:rPr lang="en-US" sz="1400" dirty="0">
                <a:solidFill>
                  <a:srgbClr val="4A5264"/>
                </a:solidFill>
                <a:latin typeface="Calibri" pitchFamily="34" charset="0"/>
                <a:ea typeface="Calibri" pitchFamily="34" charset="-122"/>
                <a:cs typeface="Calibri" pitchFamily="34" charset="-120"/>
              </a:rPr>
              <a:t>.</a:t>
            </a:r>
            <a:endParaRPr lang="en-US" sz="1400" dirty="0"/>
          </a:p>
          <a:p>
            <a:pPr marL="254000" indent="-254000">
              <a:lnSpc>
                <a:spcPct val="110000"/>
              </a:lnSpc>
              <a:spcAft>
                <a:spcPts val="1600"/>
              </a:spcAft>
              <a:buSzPct val="100000"/>
              <a:buChar char="•"/>
            </a:pPr>
            <a:r>
              <a:rPr lang="en-US" sz="1400" dirty="0">
                <a:solidFill>
                  <a:srgbClr val="4A5264"/>
                </a:solidFill>
                <a:latin typeface="Calibri" pitchFamily="34" charset="0"/>
                <a:ea typeface="Calibri" pitchFamily="34" charset="-122"/>
                <a:cs typeface="Calibri" pitchFamily="34" charset="-120"/>
              </a:rPr>
              <a:t>The engine can then read a rule (to answer WHY) and record its Id in the proof (to answer HOW).</a:t>
            </a:r>
            <a:endParaRPr lang="en-US" sz="1400" dirty="0"/>
          </a:p>
          <a:p>
            <a:pPr marL="254000" indent="-254000">
              <a:lnSpc>
                <a:spcPct val="110000"/>
              </a:lnSpc>
              <a:spcAft>
                <a:spcPts val="1600"/>
              </a:spcAft>
              <a:buSzPct val="100000"/>
              <a:buChar char="•"/>
            </a:pPr>
            <a:r>
              <a:rPr lang="en-US" sz="1400" dirty="0">
                <a:solidFill>
                  <a:srgbClr val="4A5264"/>
                </a:solidFill>
                <a:latin typeface="Calibri" pitchFamily="34" charset="0"/>
                <a:ea typeface="Calibri" pitchFamily="34" charset="-122"/>
                <a:cs typeface="Calibri" pitchFamily="34" charset="-120"/>
              </a:rPr>
              <a:t>op/3 declares ::, if, then and and as operators, so rules stay readable, as in Bratko's shell.</a:t>
            </a:r>
            <a:endParaRPr lang="en-US" sz="1400" dirty="0"/>
          </a:p>
        </p:txBody>
      </p:sp>
      <p:sp>
        <p:nvSpPr>
          <p:cNvPr id="8" name="Shape 5"/>
          <p:cNvSpPr/>
          <p:nvPr/>
        </p:nvSpPr>
        <p:spPr>
          <a:xfrm>
            <a:off x="5791170" y="1701790"/>
            <a:ext cx="5587990" cy="3079791"/>
          </a:xfrm>
          <a:prstGeom prst="roundRect">
            <a:avLst>
              <a:gd name="adj" fmla="val 2969"/>
            </a:avLst>
          </a:prstGeom>
          <a:solidFill>
            <a:srgbClr val="1E2433"/>
          </a:solidFill>
          <a:ln/>
        </p:spPr>
      </p:sp>
      <p:sp>
        <p:nvSpPr>
          <p:cNvPr id="9" name="Text 6"/>
          <p:cNvSpPr txBox="1"/>
          <p:nvPr/>
        </p:nvSpPr>
        <p:spPr>
          <a:xfrm>
            <a:off x="5969020" y="1854220"/>
            <a:ext cx="5232380" cy="277493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operators make IF-THEN legal syntax</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op(900, xfx, ::).  </a:t>
            </a:r>
            <a:r>
              <a:rPr lang="en-US" sz="1200" dirty="0">
                <a:solidFill>
                  <a:srgbClr val="9AA3B5"/>
                </a:solidFill>
                <a:latin typeface="Consolas" pitchFamily="34" charset="0"/>
                <a:ea typeface="Consolas" pitchFamily="34" charset="-122"/>
                <a:cs typeface="Consolas" pitchFamily="34" charset="-120"/>
              </a:rPr>
              <a:t>% Id :: Rule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op(800, fx,  if).</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op(700, xfx, then).</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op(200, xfy, and).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native: carnivore :- mammal, eats(meat).</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the same rule, stored as data:</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r5</a:t>
            </a:r>
            <a:r>
              <a:rPr lang="en-US" sz="1200" dirty="0">
                <a:solidFill>
                  <a:srgbClr val="E6E1D3"/>
                </a:solidFill>
                <a:latin typeface="Consolas" pitchFamily="34" charset="0"/>
                <a:ea typeface="Consolas" pitchFamily="34" charset="-122"/>
                <a:cs typeface="Consolas" pitchFamily="34" charset="-120"/>
              </a:rPr>
              <a:t> :: if mammal and eats(meat) then carnivore.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the term Prolog actually stores:</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::(r5, if(then(and(mammal, eats(meat)),</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carnivore)))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The knowledge base at a glance: 15 rules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rule base adapted from Winston's ZOOKEEPER (1992), as used in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15</a:t>
            </a:r>
            <a:endParaRPr lang="en-US" sz="1200" dirty="0"/>
          </a:p>
        </p:txBody>
      </p:sp>
      <p:sp>
        <p:nvSpPr>
          <p:cNvPr id="7" name="Text 4"/>
          <p:cNvSpPr txBox="1"/>
          <p:nvPr/>
        </p:nvSpPr>
        <p:spPr>
          <a:xfrm>
            <a:off x="812810" y="1549359"/>
            <a:ext cx="10566441" cy="279441"/>
          </a:xfrm>
          <a:prstGeom prst="rect">
            <a:avLst/>
          </a:prstGeom>
          <a:noFill/>
          <a:ln/>
        </p:spPr>
        <p:txBody>
          <a:bodyPr wrap="square" lIns="0" tIns="0" rIns="0" bIns="0" rtlCol="0" anchor="ctr"/>
          <a:lstStyle/>
          <a:p>
            <a:pPr marL="0" indent="0">
              <a:buNone/>
            </a:pPr>
            <a:r>
              <a:rPr lang="en-US" sz="1400" dirty="0">
                <a:solidFill>
                  <a:srgbClr val="4A5264"/>
                </a:solidFill>
                <a:latin typeface="Calibri" pitchFamily="34" charset="0"/>
                <a:ea typeface="Calibri" pitchFamily="34" charset="-122"/>
                <a:cs typeface="Calibri" pitchFamily="34" charset="-120"/>
              </a:rPr>
              <a:t>Evidence flows left to right; each box lists the rules (r1–r15) that conclude it.</a:t>
            </a:r>
            <a:endParaRPr lang="en-US" sz="1400" dirty="0"/>
          </a:p>
        </p:txBody>
      </p:sp>
      <p:sp>
        <p:nvSpPr>
          <p:cNvPr id="8" name="Shape 5"/>
          <p:cNvSpPr/>
          <p:nvPr/>
        </p:nvSpPr>
        <p:spPr>
          <a:xfrm>
            <a:off x="3352830" y="3003530"/>
            <a:ext cx="508041" cy="0"/>
          </a:xfrm>
          <a:prstGeom prst="line">
            <a:avLst/>
          </a:prstGeom>
          <a:noFill/>
          <a:ln w="28575">
            <a:solidFill>
              <a:srgbClr val="4A5264"/>
            </a:solidFill>
            <a:prstDash val="solid"/>
          </a:ln>
        </p:spPr>
      </p:sp>
      <p:sp>
        <p:nvSpPr>
          <p:cNvPr id="9" name="Shape 6"/>
          <p:cNvSpPr/>
          <p:nvPr/>
        </p:nvSpPr>
        <p:spPr>
          <a:xfrm flipV="1">
            <a:off x="3860780" y="2432030"/>
            <a:ext cx="0" cy="571500"/>
          </a:xfrm>
          <a:prstGeom prst="line">
            <a:avLst/>
          </a:prstGeom>
          <a:noFill/>
          <a:ln w="28575">
            <a:solidFill>
              <a:srgbClr val="4A5264"/>
            </a:solidFill>
            <a:prstDash val="solid"/>
          </a:ln>
        </p:spPr>
      </p:sp>
      <p:sp>
        <p:nvSpPr>
          <p:cNvPr id="10" name="Shape 7"/>
          <p:cNvSpPr/>
          <p:nvPr/>
        </p:nvSpPr>
        <p:spPr>
          <a:xfrm>
            <a:off x="3860780" y="2432030"/>
            <a:ext cx="508041" cy="0"/>
          </a:xfrm>
          <a:prstGeom prst="line">
            <a:avLst/>
          </a:prstGeom>
          <a:noFill/>
          <a:ln w="28575">
            <a:solidFill>
              <a:srgbClr val="4A5264"/>
            </a:solidFill>
            <a:prstDash val="solid"/>
            <a:tailEnd type="triangle"/>
          </a:ln>
        </p:spPr>
      </p:sp>
      <p:sp>
        <p:nvSpPr>
          <p:cNvPr id="11" name="Shape 8"/>
          <p:cNvSpPr/>
          <p:nvPr/>
        </p:nvSpPr>
        <p:spPr>
          <a:xfrm>
            <a:off x="3352830" y="3003530"/>
            <a:ext cx="508041" cy="0"/>
          </a:xfrm>
          <a:prstGeom prst="line">
            <a:avLst/>
          </a:prstGeom>
          <a:noFill/>
          <a:ln w="28575">
            <a:solidFill>
              <a:srgbClr val="4A5264"/>
            </a:solidFill>
            <a:prstDash val="solid"/>
          </a:ln>
        </p:spPr>
      </p:sp>
      <p:sp>
        <p:nvSpPr>
          <p:cNvPr id="12" name="Shape 9"/>
          <p:cNvSpPr/>
          <p:nvPr/>
        </p:nvSpPr>
        <p:spPr>
          <a:xfrm>
            <a:off x="3860780" y="3003530"/>
            <a:ext cx="0" cy="571500"/>
          </a:xfrm>
          <a:prstGeom prst="line">
            <a:avLst/>
          </a:prstGeom>
          <a:noFill/>
          <a:ln w="28575">
            <a:solidFill>
              <a:srgbClr val="4A5264"/>
            </a:solidFill>
            <a:prstDash val="solid"/>
          </a:ln>
        </p:spPr>
      </p:sp>
      <p:sp>
        <p:nvSpPr>
          <p:cNvPr id="13" name="Shape 10"/>
          <p:cNvSpPr/>
          <p:nvPr/>
        </p:nvSpPr>
        <p:spPr>
          <a:xfrm>
            <a:off x="3860780" y="3575030"/>
            <a:ext cx="508041" cy="0"/>
          </a:xfrm>
          <a:prstGeom prst="line">
            <a:avLst/>
          </a:prstGeom>
          <a:noFill/>
          <a:ln w="28575">
            <a:solidFill>
              <a:srgbClr val="4A5264"/>
            </a:solidFill>
            <a:prstDash val="solid"/>
            <a:tailEnd type="triangle"/>
          </a:ln>
        </p:spPr>
      </p:sp>
      <p:sp>
        <p:nvSpPr>
          <p:cNvPr id="14" name="Shape 11"/>
          <p:cNvSpPr/>
          <p:nvPr/>
        </p:nvSpPr>
        <p:spPr>
          <a:xfrm>
            <a:off x="6908841" y="2432030"/>
            <a:ext cx="508041" cy="0"/>
          </a:xfrm>
          <a:prstGeom prst="line">
            <a:avLst/>
          </a:prstGeom>
          <a:noFill/>
          <a:ln w="28575">
            <a:solidFill>
              <a:srgbClr val="4A5264"/>
            </a:solidFill>
            <a:prstDash val="solid"/>
          </a:ln>
        </p:spPr>
      </p:sp>
      <p:sp>
        <p:nvSpPr>
          <p:cNvPr id="15" name="Shape 12"/>
          <p:cNvSpPr/>
          <p:nvPr/>
        </p:nvSpPr>
        <p:spPr>
          <a:xfrm flipV="1">
            <a:off x="7416790" y="2146280"/>
            <a:ext cx="0" cy="285750"/>
          </a:xfrm>
          <a:prstGeom prst="line">
            <a:avLst/>
          </a:prstGeom>
          <a:noFill/>
          <a:ln w="28575">
            <a:solidFill>
              <a:srgbClr val="4A5264"/>
            </a:solidFill>
            <a:prstDash val="solid"/>
          </a:ln>
        </p:spPr>
      </p:sp>
      <p:sp>
        <p:nvSpPr>
          <p:cNvPr id="16" name="Shape 13"/>
          <p:cNvSpPr/>
          <p:nvPr/>
        </p:nvSpPr>
        <p:spPr>
          <a:xfrm>
            <a:off x="7416790" y="2146280"/>
            <a:ext cx="508041" cy="0"/>
          </a:xfrm>
          <a:prstGeom prst="line">
            <a:avLst/>
          </a:prstGeom>
          <a:noFill/>
          <a:ln w="28575">
            <a:solidFill>
              <a:srgbClr val="4A5264"/>
            </a:solidFill>
            <a:prstDash val="solid"/>
            <a:tailEnd type="triangle"/>
          </a:ln>
        </p:spPr>
      </p:sp>
      <p:sp>
        <p:nvSpPr>
          <p:cNvPr id="17" name="Shape 14"/>
          <p:cNvSpPr/>
          <p:nvPr/>
        </p:nvSpPr>
        <p:spPr>
          <a:xfrm>
            <a:off x="6908841" y="2432030"/>
            <a:ext cx="508041" cy="0"/>
          </a:xfrm>
          <a:prstGeom prst="line">
            <a:avLst/>
          </a:prstGeom>
          <a:noFill/>
          <a:ln w="28575">
            <a:solidFill>
              <a:srgbClr val="4A5264"/>
            </a:solidFill>
            <a:prstDash val="solid"/>
          </a:ln>
        </p:spPr>
      </p:sp>
      <p:sp>
        <p:nvSpPr>
          <p:cNvPr id="18" name="Shape 15"/>
          <p:cNvSpPr/>
          <p:nvPr/>
        </p:nvSpPr>
        <p:spPr>
          <a:xfrm>
            <a:off x="7416790" y="2432030"/>
            <a:ext cx="0" cy="285750"/>
          </a:xfrm>
          <a:prstGeom prst="line">
            <a:avLst/>
          </a:prstGeom>
          <a:noFill/>
          <a:ln w="28575">
            <a:solidFill>
              <a:srgbClr val="4A5264"/>
            </a:solidFill>
            <a:prstDash val="solid"/>
          </a:ln>
        </p:spPr>
      </p:sp>
      <p:sp>
        <p:nvSpPr>
          <p:cNvPr id="19" name="Shape 16"/>
          <p:cNvSpPr/>
          <p:nvPr/>
        </p:nvSpPr>
        <p:spPr>
          <a:xfrm>
            <a:off x="7416790" y="2717780"/>
            <a:ext cx="508041" cy="0"/>
          </a:xfrm>
          <a:prstGeom prst="line">
            <a:avLst/>
          </a:prstGeom>
          <a:noFill/>
          <a:ln w="28575">
            <a:solidFill>
              <a:srgbClr val="4A5264"/>
            </a:solidFill>
            <a:prstDash val="solid"/>
            <a:tailEnd type="triangle"/>
          </a:ln>
        </p:spPr>
      </p:sp>
      <p:sp>
        <p:nvSpPr>
          <p:cNvPr id="20" name="Shape 17"/>
          <p:cNvSpPr/>
          <p:nvPr/>
        </p:nvSpPr>
        <p:spPr>
          <a:xfrm>
            <a:off x="6908841" y="3575030"/>
            <a:ext cx="508041" cy="0"/>
          </a:xfrm>
          <a:prstGeom prst="line">
            <a:avLst/>
          </a:prstGeom>
          <a:noFill/>
          <a:ln w="28575">
            <a:solidFill>
              <a:srgbClr val="4A5264"/>
            </a:solidFill>
            <a:prstDash val="solid"/>
          </a:ln>
        </p:spPr>
      </p:sp>
      <p:sp>
        <p:nvSpPr>
          <p:cNvPr id="21" name="Shape 18"/>
          <p:cNvSpPr/>
          <p:nvPr/>
        </p:nvSpPr>
        <p:spPr>
          <a:xfrm flipV="1">
            <a:off x="7416790" y="3289280"/>
            <a:ext cx="0" cy="285750"/>
          </a:xfrm>
          <a:prstGeom prst="line">
            <a:avLst/>
          </a:prstGeom>
          <a:noFill/>
          <a:ln w="28575">
            <a:solidFill>
              <a:srgbClr val="4A5264"/>
            </a:solidFill>
            <a:prstDash val="solid"/>
          </a:ln>
        </p:spPr>
      </p:sp>
      <p:sp>
        <p:nvSpPr>
          <p:cNvPr id="22" name="Shape 19"/>
          <p:cNvSpPr/>
          <p:nvPr/>
        </p:nvSpPr>
        <p:spPr>
          <a:xfrm>
            <a:off x="7416790" y="3289280"/>
            <a:ext cx="508041" cy="0"/>
          </a:xfrm>
          <a:prstGeom prst="line">
            <a:avLst/>
          </a:prstGeom>
          <a:noFill/>
          <a:ln w="28575">
            <a:solidFill>
              <a:srgbClr val="4A5264"/>
            </a:solidFill>
            <a:prstDash val="solid"/>
            <a:tailEnd type="triangle"/>
          </a:ln>
        </p:spPr>
      </p:sp>
      <p:sp>
        <p:nvSpPr>
          <p:cNvPr id="23" name="Shape 20"/>
          <p:cNvSpPr/>
          <p:nvPr/>
        </p:nvSpPr>
        <p:spPr>
          <a:xfrm>
            <a:off x="6908841" y="3575030"/>
            <a:ext cx="508041" cy="0"/>
          </a:xfrm>
          <a:prstGeom prst="line">
            <a:avLst/>
          </a:prstGeom>
          <a:noFill/>
          <a:ln w="28575">
            <a:solidFill>
              <a:srgbClr val="4A5264"/>
            </a:solidFill>
            <a:prstDash val="solid"/>
          </a:ln>
        </p:spPr>
      </p:sp>
      <p:sp>
        <p:nvSpPr>
          <p:cNvPr id="24" name="Shape 21"/>
          <p:cNvSpPr/>
          <p:nvPr/>
        </p:nvSpPr>
        <p:spPr>
          <a:xfrm>
            <a:off x="7416790" y="3575030"/>
            <a:ext cx="0" cy="285750"/>
          </a:xfrm>
          <a:prstGeom prst="line">
            <a:avLst/>
          </a:prstGeom>
          <a:noFill/>
          <a:ln w="28575">
            <a:solidFill>
              <a:srgbClr val="4A5264"/>
            </a:solidFill>
            <a:prstDash val="solid"/>
          </a:ln>
        </p:spPr>
      </p:sp>
      <p:sp>
        <p:nvSpPr>
          <p:cNvPr id="25" name="Shape 22"/>
          <p:cNvSpPr/>
          <p:nvPr/>
        </p:nvSpPr>
        <p:spPr>
          <a:xfrm>
            <a:off x="7416790" y="3860780"/>
            <a:ext cx="508041" cy="0"/>
          </a:xfrm>
          <a:prstGeom prst="line">
            <a:avLst/>
          </a:prstGeom>
          <a:noFill/>
          <a:ln w="28575">
            <a:solidFill>
              <a:srgbClr val="4A5264"/>
            </a:solidFill>
            <a:prstDash val="solid"/>
            <a:tailEnd type="triangle"/>
          </a:ln>
        </p:spPr>
      </p:sp>
      <p:sp>
        <p:nvSpPr>
          <p:cNvPr id="26" name="Shape 23"/>
          <p:cNvSpPr/>
          <p:nvPr/>
        </p:nvSpPr>
        <p:spPr>
          <a:xfrm>
            <a:off x="3352830" y="5003780"/>
            <a:ext cx="4063959" cy="0"/>
          </a:xfrm>
          <a:prstGeom prst="line">
            <a:avLst/>
          </a:prstGeom>
          <a:noFill/>
          <a:ln w="28575">
            <a:solidFill>
              <a:srgbClr val="4A5264"/>
            </a:solidFill>
            <a:prstDash val="solid"/>
          </a:ln>
        </p:spPr>
      </p:sp>
      <p:sp>
        <p:nvSpPr>
          <p:cNvPr id="27" name="Shape 24"/>
          <p:cNvSpPr/>
          <p:nvPr/>
        </p:nvSpPr>
        <p:spPr>
          <a:xfrm flipV="1">
            <a:off x="7416790" y="4432280"/>
            <a:ext cx="0" cy="571500"/>
          </a:xfrm>
          <a:prstGeom prst="line">
            <a:avLst/>
          </a:prstGeom>
          <a:noFill/>
          <a:ln w="28575">
            <a:solidFill>
              <a:srgbClr val="4A5264"/>
            </a:solidFill>
            <a:prstDash val="solid"/>
          </a:ln>
        </p:spPr>
      </p:sp>
      <p:sp>
        <p:nvSpPr>
          <p:cNvPr id="28" name="Shape 25"/>
          <p:cNvSpPr/>
          <p:nvPr/>
        </p:nvSpPr>
        <p:spPr>
          <a:xfrm>
            <a:off x="7416790" y="4432280"/>
            <a:ext cx="508041" cy="0"/>
          </a:xfrm>
          <a:prstGeom prst="line">
            <a:avLst/>
          </a:prstGeom>
          <a:noFill/>
          <a:ln w="28575">
            <a:solidFill>
              <a:srgbClr val="4A5264"/>
            </a:solidFill>
            <a:prstDash val="solid"/>
            <a:tailEnd type="triangle"/>
          </a:ln>
        </p:spPr>
      </p:sp>
      <p:sp>
        <p:nvSpPr>
          <p:cNvPr id="29" name="Shape 26"/>
          <p:cNvSpPr/>
          <p:nvPr/>
        </p:nvSpPr>
        <p:spPr>
          <a:xfrm>
            <a:off x="3352830" y="5003780"/>
            <a:ext cx="4572000" cy="0"/>
          </a:xfrm>
          <a:prstGeom prst="line">
            <a:avLst/>
          </a:prstGeom>
          <a:noFill/>
          <a:ln w="28575">
            <a:solidFill>
              <a:srgbClr val="4A5264"/>
            </a:solidFill>
            <a:prstDash val="solid"/>
            <a:tailEnd type="triangle"/>
          </a:ln>
        </p:spPr>
      </p:sp>
      <p:sp>
        <p:nvSpPr>
          <p:cNvPr id="30" name="Shape 27"/>
          <p:cNvSpPr/>
          <p:nvPr/>
        </p:nvSpPr>
        <p:spPr>
          <a:xfrm>
            <a:off x="3352830" y="5003780"/>
            <a:ext cx="4063959" cy="0"/>
          </a:xfrm>
          <a:prstGeom prst="line">
            <a:avLst/>
          </a:prstGeom>
          <a:noFill/>
          <a:ln w="28575">
            <a:solidFill>
              <a:srgbClr val="4A5264"/>
            </a:solidFill>
            <a:prstDash val="solid"/>
          </a:ln>
        </p:spPr>
      </p:sp>
      <p:sp>
        <p:nvSpPr>
          <p:cNvPr id="31" name="Shape 28"/>
          <p:cNvSpPr/>
          <p:nvPr/>
        </p:nvSpPr>
        <p:spPr>
          <a:xfrm>
            <a:off x="7416790" y="5003780"/>
            <a:ext cx="0" cy="571500"/>
          </a:xfrm>
          <a:prstGeom prst="line">
            <a:avLst/>
          </a:prstGeom>
          <a:noFill/>
          <a:ln w="28575">
            <a:solidFill>
              <a:srgbClr val="4A5264"/>
            </a:solidFill>
            <a:prstDash val="solid"/>
          </a:ln>
        </p:spPr>
      </p:sp>
      <p:sp>
        <p:nvSpPr>
          <p:cNvPr id="32" name="Shape 29"/>
          <p:cNvSpPr/>
          <p:nvPr/>
        </p:nvSpPr>
        <p:spPr>
          <a:xfrm>
            <a:off x="7416790" y="5575280"/>
            <a:ext cx="508041" cy="0"/>
          </a:xfrm>
          <a:prstGeom prst="line">
            <a:avLst/>
          </a:prstGeom>
          <a:noFill/>
          <a:ln w="28575">
            <a:solidFill>
              <a:srgbClr val="4A5264"/>
            </a:solidFill>
            <a:prstDash val="solid"/>
            <a:tailEnd type="triangle"/>
          </a:ln>
        </p:spPr>
      </p:sp>
      <p:sp>
        <p:nvSpPr>
          <p:cNvPr id="33" name="Shape 30"/>
          <p:cNvSpPr/>
          <p:nvPr/>
        </p:nvSpPr>
        <p:spPr>
          <a:xfrm>
            <a:off x="812810" y="2527310"/>
            <a:ext cx="2540020" cy="952530"/>
          </a:xfrm>
          <a:prstGeom prst="roundRect">
            <a:avLst>
              <a:gd name="adj" fmla="val 9600"/>
            </a:avLst>
          </a:prstGeom>
          <a:solidFill>
            <a:srgbClr val="1E2433"/>
          </a:solidFill>
          <a:ln/>
        </p:spPr>
      </p:sp>
      <p:sp>
        <p:nvSpPr>
          <p:cNvPr id="34" name="Text 31"/>
          <p:cNvSpPr txBox="1"/>
          <p:nvPr/>
        </p:nvSpPr>
        <p:spPr>
          <a:xfrm>
            <a:off x="965241" y="2527310"/>
            <a:ext cx="2235159" cy="952530"/>
          </a:xfrm>
          <a:prstGeom prst="rect">
            <a:avLst/>
          </a:prstGeom>
          <a:noFill/>
          <a:ln/>
        </p:spPr>
        <p:txBody>
          <a:bodyPr wrap="square" lIns="0" tIns="0" rIns="0" bIns="0" rtlCol="0" anchor="ctr"/>
          <a:lstStyle/>
          <a:p>
            <a:pPr marL="0" indent="0">
              <a:lnSpc>
                <a:spcPct val="115000"/>
              </a:lnSpc>
              <a:buNone/>
            </a:pPr>
            <a:r>
              <a:rPr lang="en-US" sz="1500" b="1" dirty="0">
                <a:solidFill>
                  <a:srgbClr val="F3EFE4"/>
                </a:solidFill>
                <a:latin typeface="Calibri" pitchFamily="34" charset="0"/>
                <a:ea typeface="Calibri" pitchFamily="34" charset="-122"/>
                <a:cs typeface="Calibri" pitchFamily="34" charset="-120"/>
              </a:rPr>
              <a:t>mammal</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r1: has hair</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r2: gives milk</a:t>
            </a:r>
            <a:endParaRPr lang="en-US" sz="1300" dirty="0"/>
          </a:p>
        </p:txBody>
      </p:sp>
      <p:sp>
        <p:nvSpPr>
          <p:cNvPr id="35" name="Shape 32"/>
          <p:cNvSpPr/>
          <p:nvPr/>
        </p:nvSpPr>
        <p:spPr>
          <a:xfrm>
            <a:off x="812810" y="4527560"/>
            <a:ext cx="2540020" cy="952530"/>
          </a:xfrm>
          <a:prstGeom prst="roundRect">
            <a:avLst>
              <a:gd name="adj" fmla="val 9600"/>
            </a:avLst>
          </a:prstGeom>
          <a:solidFill>
            <a:srgbClr val="1E2433"/>
          </a:solidFill>
          <a:ln/>
        </p:spPr>
      </p:sp>
      <p:sp>
        <p:nvSpPr>
          <p:cNvPr id="36" name="Text 33"/>
          <p:cNvSpPr txBox="1"/>
          <p:nvPr/>
        </p:nvSpPr>
        <p:spPr>
          <a:xfrm>
            <a:off x="965241" y="4527560"/>
            <a:ext cx="2235159" cy="952530"/>
          </a:xfrm>
          <a:prstGeom prst="rect">
            <a:avLst/>
          </a:prstGeom>
          <a:noFill/>
          <a:ln/>
        </p:spPr>
        <p:txBody>
          <a:bodyPr wrap="square" lIns="0" tIns="0" rIns="0" bIns="0" rtlCol="0" anchor="ctr"/>
          <a:lstStyle/>
          <a:p>
            <a:pPr marL="0" indent="0">
              <a:lnSpc>
                <a:spcPct val="115000"/>
              </a:lnSpc>
              <a:buNone/>
            </a:pPr>
            <a:r>
              <a:rPr lang="en-US" sz="1500" b="1" dirty="0">
                <a:solidFill>
                  <a:srgbClr val="F3EFE4"/>
                </a:solidFill>
                <a:latin typeface="Calibri" pitchFamily="34" charset="0"/>
                <a:ea typeface="Calibri" pitchFamily="34" charset="-122"/>
                <a:cs typeface="Calibri" pitchFamily="34" charset="-120"/>
              </a:rPr>
              <a:t>bird</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r3: has feathers</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r4: flies + lays eggs</a:t>
            </a:r>
            <a:endParaRPr lang="en-US" sz="1300" dirty="0"/>
          </a:p>
        </p:txBody>
      </p:sp>
      <p:sp>
        <p:nvSpPr>
          <p:cNvPr id="37" name="Shape 34"/>
          <p:cNvSpPr/>
          <p:nvPr/>
        </p:nvSpPr>
        <p:spPr>
          <a:xfrm>
            <a:off x="4368820" y="1955810"/>
            <a:ext cx="2540020" cy="952530"/>
          </a:xfrm>
          <a:prstGeom prst="roundRect">
            <a:avLst>
              <a:gd name="adj" fmla="val 9600"/>
            </a:avLst>
          </a:prstGeom>
          <a:solidFill>
            <a:srgbClr val="1E2433"/>
          </a:solidFill>
          <a:ln/>
        </p:spPr>
      </p:sp>
      <p:sp>
        <p:nvSpPr>
          <p:cNvPr id="38" name="Text 35"/>
          <p:cNvSpPr txBox="1"/>
          <p:nvPr/>
        </p:nvSpPr>
        <p:spPr>
          <a:xfrm>
            <a:off x="4521159" y="1955810"/>
            <a:ext cx="2235159" cy="952530"/>
          </a:xfrm>
          <a:prstGeom prst="rect">
            <a:avLst/>
          </a:prstGeom>
          <a:noFill/>
          <a:ln/>
        </p:spPr>
        <p:txBody>
          <a:bodyPr wrap="square" lIns="0" tIns="0" rIns="0" bIns="0" rtlCol="0" anchor="ctr"/>
          <a:lstStyle/>
          <a:p>
            <a:pPr marL="0" indent="0">
              <a:lnSpc>
                <a:spcPct val="115000"/>
              </a:lnSpc>
              <a:buNone/>
            </a:pPr>
            <a:r>
              <a:rPr lang="en-US" sz="1500" b="1" dirty="0">
                <a:solidFill>
                  <a:srgbClr val="F3EFE4"/>
                </a:solidFill>
                <a:latin typeface="Calibri" pitchFamily="34" charset="0"/>
                <a:ea typeface="Calibri" pitchFamily="34" charset="-122"/>
                <a:cs typeface="Calibri" pitchFamily="34" charset="-120"/>
              </a:rPr>
              <a:t>carnivore</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r5: mammal + eats meat</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r6: + teeth, claws, eyes</a:t>
            </a:r>
            <a:endParaRPr lang="en-US" sz="1300" dirty="0"/>
          </a:p>
        </p:txBody>
      </p:sp>
      <p:sp>
        <p:nvSpPr>
          <p:cNvPr id="39" name="Shape 36"/>
          <p:cNvSpPr/>
          <p:nvPr/>
        </p:nvSpPr>
        <p:spPr>
          <a:xfrm>
            <a:off x="4368820" y="3098810"/>
            <a:ext cx="2540020" cy="952530"/>
          </a:xfrm>
          <a:prstGeom prst="roundRect">
            <a:avLst>
              <a:gd name="adj" fmla="val 9600"/>
            </a:avLst>
          </a:prstGeom>
          <a:solidFill>
            <a:srgbClr val="1E2433"/>
          </a:solidFill>
          <a:ln/>
        </p:spPr>
      </p:sp>
      <p:sp>
        <p:nvSpPr>
          <p:cNvPr id="40" name="Text 37"/>
          <p:cNvSpPr txBox="1"/>
          <p:nvPr/>
        </p:nvSpPr>
        <p:spPr>
          <a:xfrm>
            <a:off x="4521159" y="3098810"/>
            <a:ext cx="2235159" cy="952530"/>
          </a:xfrm>
          <a:prstGeom prst="rect">
            <a:avLst/>
          </a:prstGeom>
          <a:noFill/>
          <a:ln/>
        </p:spPr>
        <p:txBody>
          <a:bodyPr wrap="square" lIns="0" tIns="0" rIns="0" bIns="0" rtlCol="0" anchor="ctr"/>
          <a:lstStyle/>
          <a:p>
            <a:pPr marL="0" indent="0">
              <a:lnSpc>
                <a:spcPct val="115000"/>
              </a:lnSpc>
              <a:buNone/>
            </a:pPr>
            <a:r>
              <a:rPr lang="en-US" sz="1500" b="1" dirty="0">
                <a:solidFill>
                  <a:srgbClr val="F3EFE4"/>
                </a:solidFill>
                <a:latin typeface="Calibri" pitchFamily="34" charset="0"/>
                <a:ea typeface="Calibri" pitchFamily="34" charset="-122"/>
                <a:cs typeface="Calibri" pitchFamily="34" charset="-120"/>
              </a:rPr>
              <a:t>ungulate</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r7: mammal + hoofs</a:t>
            </a:r>
            <a:endParaRPr lang="en-US" sz="1300" dirty="0"/>
          </a:p>
          <a:p>
            <a:pPr marL="0" indent="0">
              <a:lnSpc>
                <a:spcPct val="115000"/>
              </a:lnSpc>
              <a:buNone/>
            </a:pPr>
            <a:r>
              <a:rPr lang="en-US" sz="1200" dirty="0">
                <a:solidFill>
                  <a:srgbClr val="C9D1E0"/>
                </a:solidFill>
                <a:latin typeface="Calibri" pitchFamily="34" charset="0"/>
                <a:ea typeface="Calibri" pitchFamily="34" charset="-122"/>
                <a:cs typeface="Calibri" pitchFamily="34" charset="-120"/>
              </a:rPr>
              <a:t>r8: mammal + chews cud</a:t>
            </a:r>
            <a:endParaRPr lang="en-US" sz="1300" dirty="0"/>
          </a:p>
        </p:txBody>
      </p:sp>
      <p:sp>
        <p:nvSpPr>
          <p:cNvPr id="41" name="Shape 38"/>
          <p:cNvSpPr/>
          <p:nvPr/>
        </p:nvSpPr>
        <p:spPr>
          <a:xfrm>
            <a:off x="7924830" y="1955810"/>
            <a:ext cx="3454420" cy="381030"/>
          </a:xfrm>
          <a:prstGeom prst="roundRect">
            <a:avLst>
              <a:gd name="adj" fmla="val 23998"/>
            </a:avLst>
          </a:prstGeom>
          <a:solidFill>
            <a:srgbClr val="FFFFFF"/>
          </a:solidFill>
          <a:ln w="25400">
            <a:solidFill>
              <a:srgbClr val="2F5DA8"/>
            </a:solidFill>
            <a:prstDash val="solid"/>
          </a:ln>
        </p:spPr>
      </p:sp>
      <p:sp>
        <p:nvSpPr>
          <p:cNvPr id="42" name="Text 39"/>
          <p:cNvSpPr txBox="1"/>
          <p:nvPr/>
        </p:nvSpPr>
        <p:spPr>
          <a:xfrm>
            <a:off x="8077170" y="19558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cheetah</a:t>
            </a:r>
            <a:r>
              <a:rPr lang="en-US" sz="1200" dirty="0">
                <a:solidFill>
                  <a:srgbClr val="1B2233"/>
                </a:solidFill>
                <a:latin typeface="Calibri" pitchFamily="34" charset="0"/>
                <a:ea typeface="Calibri" pitchFamily="34" charset="-122"/>
                <a:cs typeface="Calibri" pitchFamily="34" charset="-120"/>
              </a:rPr>
              <a:t> · r9: tawny + dark spots</a:t>
            </a:r>
            <a:endParaRPr lang="en-US" sz="1200" dirty="0"/>
          </a:p>
        </p:txBody>
      </p:sp>
      <p:sp>
        <p:nvSpPr>
          <p:cNvPr id="43" name="Shape 40"/>
          <p:cNvSpPr/>
          <p:nvPr/>
        </p:nvSpPr>
        <p:spPr>
          <a:xfrm>
            <a:off x="7924830" y="2527310"/>
            <a:ext cx="3454420" cy="381030"/>
          </a:xfrm>
          <a:prstGeom prst="roundRect">
            <a:avLst>
              <a:gd name="adj" fmla="val 23998"/>
            </a:avLst>
          </a:prstGeom>
          <a:solidFill>
            <a:srgbClr val="FFFFFF"/>
          </a:solidFill>
          <a:ln w="25400">
            <a:solidFill>
              <a:srgbClr val="2F5DA8"/>
            </a:solidFill>
            <a:prstDash val="solid"/>
          </a:ln>
        </p:spPr>
      </p:sp>
      <p:sp>
        <p:nvSpPr>
          <p:cNvPr id="44" name="Text 41"/>
          <p:cNvSpPr txBox="1"/>
          <p:nvPr/>
        </p:nvSpPr>
        <p:spPr>
          <a:xfrm>
            <a:off x="8077170" y="25273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tiger</a:t>
            </a:r>
            <a:r>
              <a:rPr lang="en-US" sz="1200" dirty="0">
                <a:solidFill>
                  <a:srgbClr val="1B2233"/>
                </a:solidFill>
                <a:latin typeface="Calibri" pitchFamily="34" charset="0"/>
                <a:ea typeface="Calibri" pitchFamily="34" charset="-122"/>
                <a:cs typeface="Calibri" pitchFamily="34" charset="-120"/>
              </a:rPr>
              <a:t> · r10: tawny + black stripes</a:t>
            </a:r>
            <a:endParaRPr lang="en-US" sz="1200" dirty="0"/>
          </a:p>
        </p:txBody>
      </p:sp>
      <p:sp>
        <p:nvSpPr>
          <p:cNvPr id="45" name="Shape 42"/>
          <p:cNvSpPr/>
          <p:nvPr/>
        </p:nvSpPr>
        <p:spPr>
          <a:xfrm>
            <a:off x="7924830" y="3098810"/>
            <a:ext cx="3454420" cy="381030"/>
          </a:xfrm>
          <a:prstGeom prst="roundRect">
            <a:avLst>
              <a:gd name="adj" fmla="val 23998"/>
            </a:avLst>
          </a:prstGeom>
          <a:solidFill>
            <a:srgbClr val="FFFFFF"/>
          </a:solidFill>
          <a:ln w="25400">
            <a:solidFill>
              <a:srgbClr val="2F5DA8"/>
            </a:solidFill>
            <a:prstDash val="solid"/>
          </a:ln>
        </p:spPr>
      </p:sp>
      <p:sp>
        <p:nvSpPr>
          <p:cNvPr id="46" name="Text 43"/>
          <p:cNvSpPr txBox="1"/>
          <p:nvPr/>
        </p:nvSpPr>
        <p:spPr>
          <a:xfrm>
            <a:off x="8077170" y="30988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giraffe</a:t>
            </a:r>
            <a:r>
              <a:rPr lang="en-US" sz="1200" dirty="0">
                <a:solidFill>
                  <a:srgbClr val="1B2233"/>
                </a:solidFill>
                <a:latin typeface="Calibri" pitchFamily="34" charset="0"/>
                <a:ea typeface="Calibri" pitchFamily="34" charset="-122"/>
                <a:cs typeface="Calibri" pitchFamily="34" charset="-120"/>
              </a:rPr>
              <a:t> · r11: long neck &amp; legs, spots</a:t>
            </a:r>
            <a:endParaRPr lang="en-US" sz="1200" dirty="0"/>
          </a:p>
        </p:txBody>
      </p:sp>
      <p:sp>
        <p:nvSpPr>
          <p:cNvPr id="47" name="Shape 44"/>
          <p:cNvSpPr/>
          <p:nvPr/>
        </p:nvSpPr>
        <p:spPr>
          <a:xfrm>
            <a:off x="7924830" y="3670310"/>
            <a:ext cx="3454420" cy="381030"/>
          </a:xfrm>
          <a:prstGeom prst="roundRect">
            <a:avLst>
              <a:gd name="adj" fmla="val 23998"/>
            </a:avLst>
          </a:prstGeom>
          <a:solidFill>
            <a:srgbClr val="FFFFFF"/>
          </a:solidFill>
          <a:ln w="25400">
            <a:solidFill>
              <a:srgbClr val="2F5DA8"/>
            </a:solidFill>
            <a:prstDash val="solid"/>
          </a:ln>
        </p:spPr>
      </p:sp>
      <p:sp>
        <p:nvSpPr>
          <p:cNvPr id="48" name="Text 45"/>
          <p:cNvSpPr txBox="1"/>
          <p:nvPr/>
        </p:nvSpPr>
        <p:spPr>
          <a:xfrm>
            <a:off x="8077170" y="36703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zebra</a:t>
            </a:r>
            <a:r>
              <a:rPr lang="en-US" sz="1200" dirty="0">
                <a:solidFill>
                  <a:srgbClr val="1B2233"/>
                </a:solidFill>
                <a:latin typeface="Calibri" pitchFamily="34" charset="0"/>
                <a:ea typeface="Calibri" pitchFamily="34" charset="-122"/>
                <a:cs typeface="Calibri" pitchFamily="34" charset="-120"/>
              </a:rPr>
              <a:t> · r12: black stripes</a:t>
            </a:r>
            <a:endParaRPr lang="en-US" sz="1200" dirty="0"/>
          </a:p>
        </p:txBody>
      </p:sp>
      <p:sp>
        <p:nvSpPr>
          <p:cNvPr id="49" name="Shape 46"/>
          <p:cNvSpPr/>
          <p:nvPr/>
        </p:nvSpPr>
        <p:spPr>
          <a:xfrm>
            <a:off x="7924830" y="4241810"/>
            <a:ext cx="3454420" cy="381030"/>
          </a:xfrm>
          <a:prstGeom prst="roundRect">
            <a:avLst>
              <a:gd name="adj" fmla="val 23998"/>
            </a:avLst>
          </a:prstGeom>
          <a:solidFill>
            <a:srgbClr val="FFFFFF"/>
          </a:solidFill>
          <a:ln w="25400">
            <a:solidFill>
              <a:srgbClr val="2F5DA8"/>
            </a:solidFill>
            <a:prstDash val="solid"/>
          </a:ln>
        </p:spPr>
      </p:sp>
      <p:sp>
        <p:nvSpPr>
          <p:cNvPr id="50" name="Text 47"/>
          <p:cNvSpPr txBox="1"/>
          <p:nvPr/>
        </p:nvSpPr>
        <p:spPr>
          <a:xfrm>
            <a:off x="8077170" y="42418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ostrich</a:t>
            </a:r>
            <a:r>
              <a:rPr lang="en-US" sz="1200" dirty="0">
                <a:solidFill>
                  <a:srgbClr val="1B2233"/>
                </a:solidFill>
                <a:latin typeface="Calibri" pitchFamily="34" charset="0"/>
                <a:ea typeface="Calibri" pitchFamily="34" charset="-122"/>
                <a:cs typeface="Calibri" pitchFamily="34" charset="-120"/>
              </a:rPr>
              <a:t> · r13: no flight, long neck</a:t>
            </a:r>
            <a:endParaRPr lang="en-US" sz="1200" dirty="0"/>
          </a:p>
        </p:txBody>
      </p:sp>
      <p:sp>
        <p:nvSpPr>
          <p:cNvPr id="51" name="Shape 48"/>
          <p:cNvSpPr/>
          <p:nvPr/>
        </p:nvSpPr>
        <p:spPr>
          <a:xfrm>
            <a:off x="7924830" y="4813310"/>
            <a:ext cx="3454420" cy="381030"/>
          </a:xfrm>
          <a:prstGeom prst="roundRect">
            <a:avLst>
              <a:gd name="adj" fmla="val 23998"/>
            </a:avLst>
          </a:prstGeom>
          <a:solidFill>
            <a:srgbClr val="FFFFFF"/>
          </a:solidFill>
          <a:ln w="25400">
            <a:solidFill>
              <a:srgbClr val="2F5DA8"/>
            </a:solidFill>
            <a:prstDash val="solid"/>
          </a:ln>
        </p:spPr>
      </p:sp>
      <p:sp>
        <p:nvSpPr>
          <p:cNvPr id="52" name="Text 49"/>
          <p:cNvSpPr txBox="1"/>
          <p:nvPr/>
        </p:nvSpPr>
        <p:spPr>
          <a:xfrm>
            <a:off x="8077170" y="48133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penguin</a:t>
            </a:r>
            <a:r>
              <a:rPr lang="en-US" sz="1200" dirty="0">
                <a:solidFill>
                  <a:srgbClr val="1B2233"/>
                </a:solidFill>
                <a:latin typeface="Calibri" pitchFamily="34" charset="0"/>
                <a:ea typeface="Calibri" pitchFamily="34" charset="-122"/>
                <a:cs typeface="Calibri" pitchFamily="34" charset="-120"/>
              </a:rPr>
              <a:t> · r14: swims, black &amp; white</a:t>
            </a:r>
            <a:endParaRPr lang="en-US" sz="1200" dirty="0"/>
          </a:p>
        </p:txBody>
      </p:sp>
      <p:sp>
        <p:nvSpPr>
          <p:cNvPr id="53" name="Shape 50"/>
          <p:cNvSpPr/>
          <p:nvPr/>
        </p:nvSpPr>
        <p:spPr>
          <a:xfrm>
            <a:off x="7924830" y="5384810"/>
            <a:ext cx="3454420" cy="381030"/>
          </a:xfrm>
          <a:prstGeom prst="roundRect">
            <a:avLst>
              <a:gd name="adj" fmla="val 23998"/>
            </a:avLst>
          </a:prstGeom>
          <a:solidFill>
            <a:srgbClr val="FFFFFF"/>
          </a:solidFill>
          <a:ln w="25400">
            <a:solidFill>
              <a:srgbClr val="2F5DA8"/>
            </a:solidFill>
            <a:prstDash val="solid"/>
          </a:ln>
        </p:spPr>
      </p:sp>
      <p:sp>
        <p:nvSpPr>
          <p:cNvPr id="54" name="Text 51"/>
          <p:cNvSpPr txBox="1"/>
          <p:nvPr/>
        </p:nvSpPr>
        <p:spPr>
          <a:xfrm>
            <a:off x="8077170" y="5384810"/>
            <a:ext cx="3174980" cy="381030"/>
          </a:xfrm>
          <a:prstGeom prst="rect">
            <a:avLst/>
          </a:prstGeom>
          <a:noFill/>
          <a:ln/>
        </p:spPr>
        <p:txBody>
          <a:bodyPr wrap="square" lIns="0" tIns="0" rIns="0" bIns="0" rtlCol="0" anchor="ctr"/>
          <a:lstStyle/>
          <a:p>
            <a:pPr marL="0" indent="0">
              <a:buNone/>
            </a:pPr>
            <a:r>
              <a:rPr lang="en-US" sz="1200" b="1" dirty="0">
                <a:solidFill>
                  <a:srgbClr val="1B2233"/>
                </a:solidFill>
                <a:latin typeface="Calibri" pitchFamily="34" charset="0"/>
                <a:ea typeface="Calibri" pitchFamily="34" charset="-122"/>
                <a:cs typeface="Calibri" pitchFamily="34" charset="-120"/>
              </a:rPr>
              <a:t>albatross</a:t>
            </a:r>
            <a:r>
              <a:rPr lang="en-US" sz="1200" dirty="0">
                <a:solidFill>
                  <a:srgbClr val="1B2233"/>
                </a:solidFill>
                <a:latin typeface="Calibri" pitchFamily="34" charset="0"/>
                <a:ea typeface="Calibri" pitchFamily="34" charset="-122"/>
                <a:cs typeface="Calibri" pitchFamily="34" charset="-120"/>
              </a:rPr>
              <a:t> · r15: flies well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Knowledge base (1/2): classification rules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adapted from Winston (1992) and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16</a:t>
            </a:r>
            <a:endParaRPr lang="en-US" sz="1200" dirty="0"/>
          </a:p>
        </p:txBody>
      </p:sp>
      <p:sp>
        <p:nvSpPr>
          <p:cNvPr id="7" name="Shape 4"/>
          <p:cNvSpPr/>
          <p:nvPr/>
        </p:nvSpPr>
        <p:spPr>
          <a:xfrm>
            <a:off x="812810" y="1701790"/>
            <a:ext cx="6096030" cy="3289280"/>
          </a:xfrm>
          <a:prstGeom prst="roundRect">
            <a:avLst>
              <a:gd name="adj" fmla="val 2780"/>
            </a:avLst>
          </a:prstGeom>
          <a:solidFill>
            <a:srgbClr val="1E2433"/>
          </a:solidFill>
          <a:ln/>
        </p:spPr>
      </p:sp>
      <p:sp>
        <p:nvSpPr>
          <p:cNvPr id="8" name="Text 5"/>
          <p:cNvSpPr txBox="1"/>
          <p:nvPr/>
        </p:nvSpPr>
        <p:spPr>
          <a:xfrm>
            <a:off x="990570" y="1854220"/>
            <a:ext cx="5740420" cy="298451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zoo_kb.pl - animal identification rule base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ensure_loaded(engine).  </a:t>
            </a:r>
            <a:r>
              <a:rPr lang="en-US" sz="1200" dirty="0">
                <a:solidFill>
                  <a:srgbClr val="9AA3B5"/>
                </a:solidFill>
                <a:latin typeface="Consolas" pitchFamily="34" charset="0"/>
                <a:ea typeface="Consolas" pitchFamily="34" charset="-122"/>
                <a:cs typeface="Consolas" pitchFamily="34" charset="-120"/>
              </a:rPr>
              <a:t>% ops + engine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top_goal(animal(_)).  </a:t>
            </a:r>
            <a:r>
              <a:rPr lang="en-US" sz="1200" dirty="0">
                <a:solidFill>
                  <a:srgbClr val="9AA3B5"/>
                </a:solidFill>
                <a:latin typeface="Consolas" pitchFamily="34" charset="0"/>
                <a:ea typeface="Consolas" pitchFamily="34" charset="-122"/>
                <a:cs typeface="Consolas" pitchFamily="34" charset="-120"/>
              </a:rPr>
              <a:t>% what to prove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a:t>
            </a:r>
            <a:r>
              <a:rPr lang="en-US" sz="1200" dirty="0">
                <a:solidFill>
                  <a:srgbClr val="E6E1D3"/>
                </a:solidFill>
                <a:latin typeface="Consolas" pitchFamily="34" charset="0"/>
                <a:ea typeface="Consolas" pitchFamily="34" charset="-122"/>
                <a:cs typeface="Consolas" pitchFamily="34" charset="-120"/>
              </a:rPr>
              <a:t> :: if has(hair) then mammal.</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r2</a:t>
            </a:r>
            <a:r>
              <a:rPr lang="en-US" sz="1200" dirty="0">
                <a:solidFill>
                  <a:srgbClr val="E6E1D3"/>
                </a:solidFill>
                <a:latin typeface="Consolas" pitchFamily="34" charset="0"/>
                <a:ea typeface="Consolas" pitchFamily="34" charset="-122"/>
                <a:cs typeface="Consolas" pitchFamily="34" charset="-120"/>
              </a:rPr>
              <a:t> :: if gives(milk) then mammal.</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r3</a:t>
            </a:r>
            <a:r>
              <a:rPr lang="en-US" sz="1200" dirty="0">
                <a:solidFill>
                  <a:srgbClr val="E6E1D3"/>
                </a:solidFill>
                <a:latin typeface="Consolas" pitchFamily="34" charset="0"/>
                <a:ea typeface="Consolas" pitchFamily="34" charset="-122"/>
                <a:cs typeface="Consolas" pitchFamily="34" charset="-120"/>
              </a:rPr>
              <a:t> :: if has(feathers) then bird.</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r4</a:t>
            </a:r>
            <a:r>
              <a:rPr lang="en-US" sz="1200" dirty="0">
                <a:solidFill>
                  <a:srgbClr val="E6E1D3"/>
                </a:solidFill>
                <a:latin typeface="Consolas" pitchFamily="34" charset="0"/>
                <a:ea typeface="Consolas" pitchFamily="34" charset="-122"/>
                <a:cs typeface="Consolas" pitchFamily="34" charset="-120"/>
              </a:rPr>
              <a:t> :: if flies and lays(eggs) then bird.</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r5</a:t>
            </a:r>
            <a:r>
              <a:rPr lang="en-US" sz="1200" dirty="0">
                <a:solidFill>
                  <a:srgbClr val="E6E1D3"/>
                </a:solidFill>
                <a:latin typeface="Consolas" pitchFamily="34" charset="0"/>
                <a:ea typeface="Consolas" pitchFamily="34" charset="-122"/>
                <a:cs typeface="Consolas" pitchFamily="34" charset="-120"/>
              </a:rPr>
              <a:t> :: if mammal and eats(meat) then carnivore.</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r6</a:t>
            </a:r>
            <a:r>
              <a:rPr lang="en-US" sz="1200" dirty="0">
                <a:solidFill>
                  <a:srgbClr val="E6E1D3"/>
                </a:solidFill>
                <a:latin typeface="Consolas" pitchFamily="34" charset="0"/>
                <a:ea typeface="Consolas" pitchFamily="34" charset="-122"/>
                <a:cs typeface="Consolas" pitchFamily="34" charset="-120"/>
              </a:rPr>
              <a:t> :: if mammal and has(pointed_teeth) and has(claws)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has(forward_eyes) then carnivore.</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r7</a:t>
            </a:r>
            <a:r>
              <a:rPr lang="en-US" sz="1200" dirty="0">
                <a:solidFill>
                  <a:srgbClr val="E6E1D3"/>
                </a:solidFill>
                <a:latin typeface="Consolas" pitchFamily="34" charset="0"/>
                <a:ea typeface="Consolas" pitchFamily="34" charset="-122"/>
                <a:cs typeface="Consolas" pitchFamily="34" charset="-120"/>
              </a:rPr>
              <a:t> :: if mammal and has(hoofs) then ungulate.</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r8</a:t>
            </a:r>
            <a:r>
              <a:rPr lang="en-US" sz="1200" dirty="0">
                <a:solidFill>
                  <a:srgbClr val="E6E1D3"/>
                </a:solidFill>
                <a:latin typeface="Consolas" pitchFamily="34" charset="0"/>
                <a:ea typeface="Consolas" pitchFamily="34" charset="-122"/>
                <a:cs typeface="Consolas" pitchFamily="34" charset="-120"/>
              </a:rPr>
              <a:t> :: if mammal and chews(cud) then ungulate.</a:t>
            </a:r>
            <a:endParaRPr lang="en-US" sz="1200" dirty="0"/>
          </a:p>
        </p:txBody>
      </p:sp>
      <p:sp>
        <p:nvSpPr>
          <p:cNvPr id="9" name="Shape 6"/>
          <p:cNvSpPr/>
          <p:nvPr/>
        </p:nvSpPr>
        <p:spPr>
          <a:xfrm>
            <a:off x="7162770" y="1701790"/>
            <a:ext cx="4216390" cy="1015990"/>
          </a:xfrm>
          <a:prstGeom prst="roundRect">
            <a:avLst>
              <a:gd name="adj" fmla="val 9000"/>
            </a:avLst>
          </a:prstGeom>
          <a:solidFill>
            <a:srgbClr val="FFFFFF"/>
          </a:solidFill>
          <a:ln w="12700">
            <a:solidFill>
              <a:srgbClr val="E3E1DA"/>
            </a:solidFill>
            <a:prstDash val="solid"/>
          </a:ln>
        </p:spPr>
      </p:sp>
      <p:sp>
        <p:nvSpPr>
          <p:cNvPr id="10" name="Text 7"/>
          <p:cNvSpPr txBox="1"/>
          <p:nvPr/>
        </p:nvSpPr>
        <p:spPr>
          <a:xfrm>
            <a:off x="7340620" y="1854220"/>
            <a:ext cx="388620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OR = two rules</a:t>
            </a:r>
            <a:endParaRPr lang="en-US" sz="1500" dirty="0"/>
          </a:p>
        </p:txBody>
      </p:sp>
      <p:sp>
        <p:nvSpPr>
          <p:cNvPr id="11" name="Text 8"/>
          <p:cNvSpPr txBox="1"/>
          <p:nvPr/>
        </p:nvSpPr>
        <p:spPr>
          <a:xfrm>
            <a:off x="7340620" y="2158990"/>
            <a:ext cx="3860780" cy="45720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r1 and r2 both conclude mammal. If r1 fails, Prolog backtracks and tries r2.</a:t>
            </a:r>
            <a:endParaRPr lang="en-US" sz="1200" dirty="0"/>
          </a:p>
        </p:txBody>
      </p:sp>
      <p:sp>
        <p:nvSpPr>
          <p:cNvPr id="12" name="Shape 9"/>
          <p:cNvSpPr/>
          <p:nvPr/>
        </p:nvSpPr>
        <p:spPr>
          <a:xfrm>
            <a:off x="7162770" y="2844790"/>
            <a:ext cx="4216390" cy="1015990"/>
          </a:xfrm>
          <a:prstGeom prst="roundRect">
            <a:avLst>
              <a:gd name="adj" fmla="val 9000"/>
            </a:avLst>
          </a:prstGeom>
          <a:solidFill>
            <a:srgbClr val="FFFFFF"/>
          </a:solidFill>
          <a:ln w="12700">
            <a:solidFill>
              <a:srgbClr val="E3E1DA"/>
            </a:solidFill>
            <a:prstDash val="solid"/>
          </a:ln>
        </p:spPr>
      </p:sp>
      <p:sp>
        <p:nvSpPr>
          <p:cNvPr id="13" name="Text 10"/>
          <p:cNvSpPr txBox="1"/>
          <p:nvPr/>
        </p:nvSpPr>
        <p:spPr>
          <a:xfrm>
            <a:off x="7340620" y="2997220"/>
            <a:ext cx="388620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AND inside one rule</a:t>
            </a:r>
            <a:endParaRPr lang="en-US" sz="1500" dirty="0"/>
          </a:p>
        </p:txBody>
      </p:sp>
      <p:sp>
        <p:nvSpPr>
          <p:cNvPr id="14" name="Text 11"/>
          <p:cNvSpPr txBox="1"/>
          <p:nvPr/>
        </p:nvSpPr>
        <p:spPr>
          <a:xfrm>
            <a:off x="7340620" y="3301990"/>
            <a:ext cx="3860780" cy="45720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r6 fires only if all four of its conditions hold.</a:t>
            </a:r>
            <a:endParaRPr lang="en-US" sz="1200" dirty="0"/>
          </a:p>
        </p:txBody>
      </p:sp>
      <p:sp>
        <p:nvSpPr>
          <p:cNvPr id="15" name="Shape 12"/>
          <p:cNvSpPr/>
          <p:nvPr/>
        </p:nvSpPr>
        <p:spPr>
          <a:xfrm>
            <a:off x="7162770" y="3987790"/>
            <a:ext cx="4216390" cy="1015990"/>
          </a:xfrm>
          <a:prstGeom prst="roundRect">
            <a:avLst>
              <a:gd name="adj" fmla="val 9000"/>
            </a:avLst>
          </a:prstGeom>
          <a:solidFill>
            <a:srgbClr val="FFFFFF"/>
          </a:solidFill>
          <a:ln w="12700">
            <a:solidFill>
              <a:srgbClr val="E3E1DA"/>
            </a:solidFill>
            <a:prstDash val="solid"/>
          </a:ln>
        </p:spPr>
      </p:sp>
      <p:sp>
        <p:nvSpPr>
          <p:cNvPr id="16" name="Text 13"/>
          <p:cNvSpPr txBox="1"/>
          <p:nvPr/>
        </p:nvSpPr>
        <p:spPr>
          <a:xfrm>
            <a:off x="7340620" y="4140220"/>
            <a:ext cx="388620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Intermediate conclusions</a:t>
            </a:r>
            <a:endParaRPr lang="en-US" sz="1500" dirty="0"/>
          </a:p>
        </p:txBody>
      </p:sp>
      <p:sp>
        <p:nvSpPr>
          <p:cNvPr id="17" name="Text 14"/>
          <p:cNvSpPr txBox="1"/>
          <p:nvPr/>
        </p:nvSpPr>
        <p:spPr>
          <a:xfrm>
            <a:off x="7340620" y="4444990"/>
            <a:ext cx="3860780" cy="45720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mammal, bird, carnivore and ungulate are reused by the animal rules on the next slide.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Knowledge base (2/2): identification rules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adapted from Winston (1992) and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17</a:t>
            </a:r>
            <a:endParaRPr lang="en-US" sz="1200" dirty="0"/>
          </a:p>
        </p:txBody>
      </p:sp>
      <p:sp>
        <p:nvSpPr>
          <p:cNvPr id="7" name="Shape 4"/>
          <p:cNvSpPr/>
          <p:nvPr/>
        </p:nvSpPr>
        <p:spPr>
          <a:xfrm>
            <a:off x="812810" y="1701790"/>
            <a:ext cx="6349959" cy="3079791"/>
          </a:xfrm>
          <a:prstGeom prst="roundRect">
            <a:avLst>
              <a:gd name="adj" fmla="val 2969"/>
            </a:avLst>
          </a:prstGeom>
          <a:solidFill>
            <a:srgbClr val="1E2433"/>
          </a:solidFill>
          <a:ln/>
        </p:spPr>
      </p:sp>
      <p:sp>
        <p:nvSpPr>
          <p:cNvPr id="8" name="Text 5"/>
          <p:cNvSpPr txBox="1"/>
          <p:nvPr/>
        </p:nvSpPr>
        <p:spPr>
          <a:xfrm>
            <a:off x="990570" y="1854220"/>
            <a:ext cx="5994441" cy="2774930"/>
          </a:xfrm>
          <a:prstGeom prst="rect">
            <a:avLst/>
          </a:prstGeom>
          <a:noFill/>
          <a:ln/>
        </p:spPr>
        <p:txBody>
          <a:bodyPr wrap="square" lIns="0" tIns="0" rIns="0" bIns="0" rtlCol="0" anchor="t"/>
          <a:lstStyle/>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r9</a:t>
            </a:r>
            <a:r>
              <a:rPr lang="en-US" sz="1200" dirty="0">
                <a:solidFill>
                  <a:srgbClr val="E6E1D3"/>
                </a:solidFill>
                <a:latin typeface="Consolas" pitchFamily="34" charset="0"/>
                <a:ea typeface="Consolas" pitchFamily="34" charset="-122"/>
                <a:cs typeface="Consolas" pitchFamily="34" charset="-120"/>
              </a:rPr>
              <a:t> :: if carnivore and has(tawny_colour)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has(dark_spots) then animal(cheetah).</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r10</a:t>
            </a:r>
            <a:r>
              <a:rPr lang="en-US" sz="1200" dirty="0">
                <a:solidFill>
                  <a:srgbClr val="E6E1D3"/>
                </a:solidFill>
                <a:latin typeface="Consolas" pitchFamily="34" charset="0"/>
                <a:ea typeface="Consolas" pitchFamily="34" charset="-122"/>
                <a:cs typeface="Consolas" pitchFamily="34" charset="-120"/>
              </a:rPr>
              <a:t> :: if carnivore and has(tawny_colour)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has(black_stripes) then animal(tiger).</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r11</a:t>
            </a:r>
            <a:r>
              <a:rPr lang="en-US" sz="1200" dirty="0">
                <a:solidFill>
                  <a:srgbClr val="E6E1D3"/>
                </a:solidFill>
                <a:latin typeface="Consolas" pitchFamily="34" charset="0"/>
                <a:ea typeface="Consolas" pitchFamily="34" charset="-122"/>
                <a:cs typeface="Consolas" pitchFamily="34" charset="-120"/>
              </a:rPr>
              <a:t> :: if ungulate and has(long_neck) and has(long_legs)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has(dark_spots) then animal(giraffe).</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r12</a:t>
            </a:r>
            <a:r>
              <a:rPr lang="en-US" sz="1200" dirty="0">
                <a:solidFill>
                  <a:srgbClr val="E6E1D3"/>
                </a:solidFill>
                <a:latin typeface="Consolas" pitchFamily="34" charset="0"/>
                <a:ea typeface="Consolas" pitchFamily="34" charset="-122"/>
                <a:cs typeface="Consolas" pitchFamily="34" charset="-120"/>
              </a:rPr>
              <a:t> :: if ungulate and has(black_stripes)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then animal(zebra).</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r13</a:t>
            </a:r>
            <a:r>
              <a:rPr lang="en-US" sz="1200" dirty="0">
                <a:solidFill>
                  <a:srgbClr val="E6E1D3"/>
                </a:solidFill>
                <a:latin typeface="Consolas" pitchFamily="34" charset="0"/>
                <a:ea typeface="Consolas" pitchFamily="34" charset="-122"/>
                <a:cs typeface="Consolas" pitchFamily="34" charset="-120"/>
              </a:rPr>
              <a:t> :: if bird and not(flies) and has(long_neck)</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has(long_legs) then animal(ostrich).</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r14</a:t>
            </a:r>
            <a:r>
              <a:rPr lang="en-US" sz="1200" dirty="0">
                <a:solidFill>
                  <a:srgbClr val="E6E1D3"/>
                </a:solidFill>
                <a:latin typeface="Consolas" pitchFamily="34" charset="0"/>
                <a:ea typeface="Consolas" pitchFamily="34" charset="-122"/>
                <a:cs typeface="Consolas" pitchFamily="34" charset="-120"/>
              </a:rPr>
              <a:t> :: if bird and not(flies) and swims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and has(black_white_colour) then animal(penguin).</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r15</a:t>
            </a:r>
            <a:r>
              <a:rPr lang="en-US" sz="1200" dirty="0">
                <a:solidFill>
                  <a:srgbClr val="E6E1D3"/>
                </a:solidFill>
                <a:latin typeface="Consolas" pitchFamily="34" charset="0"/>
                <a:ea typeface="Consolas" pitchFamily="34" charset="-122"/>
                <a:cs typeface="Consolas" pitchFamily="34" charset="-120"/>
              </a:rPr>
              <a:t> :: if bird and flies_well then animal(albatross).</a:t>
            </a:r>
            <a:endParaRPr lang="en-US" sz="1200" dirty="0"/>
          </a:p>
        </p:txBody>
      </p:sp>
      <p:sp>
        <p:nvSpPr>
          <p:cNvPr id="9" name="Shape 6"/>
          <p:cNvSpPr/>
          <p:nvPr/>
        </p:nvSpPr>
        <p:spPr>
          <a:xfrm>
            <a:off x="7416790" y="1701790"/>
            <a:ext cx="3962370" cy="2222541"/>
          </a:xfrm>
          <a:prstGeom prst="roundRect">
            <a:avLst>
              <a:gd name="adj" fmla="val 4114"/>
            </a:avLst>
          </a:prstGeom>
          <a:solidFill>
            <a:srgbClr val="1E2433"/>
          </a:solidFill>
          <a:ln/>
        </p:spPr>
      </p:sp>
      <p:sp>
        <p:nvSpPr>
          <p:cNvPr id="10" name="Text 7"/>
          <p:cNvSpPr txBox="1"/>
          <p:nvPr/>
        </p:nvSpPr>
        <p:spPr>
          <a:xfrm>
            <a:off x="7594641" y="1854220"/>
            <a:ext cx="3606759" cy="191768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leaf facts: ASK the user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askable(has(_)).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askable(gives(_)).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askable(eats(_)).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askable(lays(_)).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askable(chews(_)).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askable(flies).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askable(flies_well).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askable(swims).</a:t>
            </a:r>
            <a:endParaRPr lang="en-US" sz="1200" dirty="0"/>
          </a:p>
        </p:txBody>
      </p:sp>
      <p:sp>
        <p:nvSpPr>
          <p:cNvPr id="11" name="Shape 8"/>
          <p:cNvSpPr/>
          <p:nvPr/>
        </p:nvSpPr>
        <p:spPr>
          <a:xfrm>
            <a:off x="7416790" y="4076670"/>
            <a:ext cx="3962370" cy="952530"/>
          </a:xfrm>
          <a:prstGeom prst="roundRect">
            <a:avLst>
              <a:gd name="adj" fmla="val 7680"/>
            </a:avLst>
          </a:prstGeom>
          <a:solidFill>
            <a:srgbClr val="F6E9E1"/>
          </a:solidFill>
          <a:ln/>
        </p:spPr>
      </p:sp>
      <p:sp>
        <p:nvSpPr>
          <p:cNvPr id="12" name="Text 9"/>
          <p:cNvSpPr txBox="1"/>
          <p:nvPr/>
        </p:nvSpPr>
        <p:spPr>
          <a:xfrm>
            <a:off x="7594641" y="4076670"/>
            <a:ext cx="3606759" cy="95253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not(flies)</a:t>
            </a:r>
            <a:r>
              <a:rPr lang="en-US" sz="1300" dirty="0">
                <a:solidFill>
                  <a:srgbClr val="1B2233"/>
                </a:solidFill>
                <a:latin typeface="Calibri" pitchFamily="34" charset="0"/>
                <a:ea typeface="Calibri" pitchFamily="34" charset="-122"/>
                <a:cs typeface="Calibri" pitchFamily="34" charset="-120"/>
              </a:rPr>
              <a:t> is negation as failure: it holds when flies cannot be proved, i.e. the user said no.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Inference engine: backward chaining with a proof</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meta-interpreter design after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18</a:t>
            </a:r>
            <a:endParaRPr lang="en-US" sz="1200" dirty="0"/>
          </a:p>
        </p:txBody>
      </p:sp>
      <p:sp>
        <p:nvSpPr>
          <p:cNvPr id="7" name="Text 4"/>
          <p:cNvSpPr txBox="1"/>
          <p:nvPr/>
        </p:nvSpPr>
        <p:spPr>
          <a:xfrm>
            <a:off x="812810" y="1676370"/>
            <a:ext cx="5080041" cy="279441"/>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prove/3: the engine</a:t>
            </a:r>
            <a:endParaRPr lang="en-US" sz="1500" dirty="0"/>
          </a:p>
        </p:txBody>
      </p:sp>
      <p:sp>
        <p:nvSpPr>
          <p:cNvPr id="8" name="Shape 5"/>
          <p:cNvSpPr/>
          <p:nvPr/>
        </p:nvSpPr>
        <p:spPr>
          <a:xfrm>
            <a:off x="812810" y="2006559"/>
            <a:ext cx="5080041" cy="3079791"/>
          </a:xfrm>
          <a:prstGeom prst="roundRect">
            <a:avLst>
              <a:gd name="adj" fmla="val 2969"/>
            </a:avLst>
          </a:prstGeom>
          <a:solidFill>
            <a:srgbClr val="1E2433"/>
          </a:solidFill>
          <a:ln/>
        </p:spPr>
      </p:sp>
      <p:sp>
        <p:nvSpPr>
          <p:cNvPr id="9" name="Text 6"/>
          <p:cNvSpPr txBox="1"/>
          <p:nvPr/>
        </p:nvSpPr>
        <p:spPr>
          <a:xfrm>
            <a:off x="990570" y="2158990"/>
            <a:ext cx="4724430" cy="277493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prove(+Goal, -Proof, +Trace)</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Trace = ids of rules being tried (WHY)</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prove(A and B, PA and PB, T) :- !,  </a:t>
            </a:r>
            <a:r>
              <a:rPr lang="en-US" sz="1200" dirty="0">
                <a:solidFill>
                  <a:srgbClr val="9AA3B5"/>
                </a:solidFill>
                <a:latin typeface="Consolas" pitchFamily="34" charset="0"/>
                <a:ea typeface="Consolas" pitchFamily="34" charset="-122"/>
                <a:cs typeface="Consolas" pitchFamily="34" charset="-120"/>
              </a:rPr>
              <a:t>% AND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prove(A, PA, 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prove(B, PB, 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prove(not(A), not(A), T) :- !,  </a:t>
            </a:r>
            <a:r>
              <a:rPr lang="en-US" sz="1200" dirty="0">
                <a:solidFill>
                  <a:srgbClr val="9AA3B5"/>
                </a:solidFill>
                <a:latin typeface="Consolas" pitchFamily="34" charset="0"/>
                <a:ea typeface="Consolas" pitchFamily="34" charset="-122"/>
                <a:cs typeface="Consolas" pitchFamily="34" charset="-120"/>
              </a:rPr>
              <a:t>% NOT as failure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prove(A, _, 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prove(F, told(F), T) :-  </a:t>
            </a:r>
            <a:r>
              <a:rPr lang="en-US" sz="1200" dirty="0">
                <a:solidFill>
                  <a:srgbClr val="9AA3B5"/>
                </a:solidFill>
                <a:latin typeface="Consolas" pitchFamily="34" charset="0"/>
                <a:ea typeface="Consolas" pitchFamily="34" charset="-122"/>
                <a:cs typeface="Consolas" pitchFamily="34" charset="-120"/>
              </a:rPr>
              <a:t>% leaf fact: ask</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askable(F),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ask(F, 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prove(G, by(G, Id, P), T) :-  </a:t>
            </a:r>
            <a:r>
              <a:rPr lang="en-US" sz="1200" dirty="0">
                <a:solidFill>
                  <a:srgbClr val="9AA3B5"/>
                </a:solidFill>
                <a:latin typeface="Consolas" pitchFamily="34" charset="0"/>
                <a:ea typeface="Consolas" pitchFamily="34" charset="-122"/>
                <a:cs typeface="Consolas" pitchFamily="34" charset="-120"/>
              </a:rPr>
              <a:t>% derived: rule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Id :: if C then G,</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prove(C, P, [Id|T]), !.</a:t>
            </a:r>
            <a:endParaRPr lang="en-US" sz="1200" dirty="0"/>
          </a:p>
        </p:txBody>
      </p:sp>
      <p:sp>
        <p:nvSpPr>
          <p:cNvPr id="10" name="Text 7"/>
          <p:cNvSpPr txBox="1"/>
          <p:nvPr/>
        </p:nvSpPr>
        <p:spPr>
          <a:xfrm>
            <a:off x="812810" y="5187940"/>
            <a:ext cx="5080041" cy="508041"/>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Proof terms: told(F) = the user said yes; by(G, Id, P) = G concluded by rule Id, with P proving its IF part.</a:t>
            </a:r>
            <a:endParaRPr lang="en-US" sz="1200" dirty="0"/>
          </a:p>
        </p:txBody>
      </p:sp>
      <p:sp>
        <p:nvSpPr>
          <p:cNvPr id="11" name="Text 8"/>
          <p:cNvSpPr txBox="1"/>
          <p:nvPr/>
        </p:nvSpPr>
        <p:spPr>
          <a:xfrm>
            <a:off x="6146780" y="1676370"/>
            <a:ext cx="5232380" cy="279441"/>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go/0: one consultation</a:t>
            </a:r>
            <a:endParaRPr lang="en-US" sz="1500" dirty="0"/>
          </a:p>
        </p:txBody>
      </p:sp>
      <p:sp>
        <p:nvSpPr>
          <p:cNvPr id="12" name="Shape 9"/>
          <p:cNvSpPr/>
          <p:nvPr/>
        </p:nvSpPr>
        <p:spPr>
          <a:xfrm>
            <a:off x="6146780" y="2006559"/>
            <a:ext cx="5232380" cy="2654320"/>
          </a:xfrm>
          <a:prstGeom prst="roundRect">
            <a:avLst>
              <a:gd name="adj" fmla="val 3445"/>
            </a:avLst>
          </a:prstGeom>
          <a:solidFill>
            <a:srgbClr val="1E2433"/>
          </a:solidFill>
          <a:ln/>
        </p:spPr>
      </p:sp>
      <p:sp>
        <p:nvSpPr>
          <p:cNvPr id="13" name="Text 10"/>
          <p:cNvSpPr txBox="1"/>
          <p:nvPr/>
        </p:nvSpPr>
        <p:spPr>
          <a:xfrm>
            <a:off x="6324630" y="2158990"/>
            <a:ext cx="4876770" cy="2349459"/>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go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retractall(known(_, _)),</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prompt(Old,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top_goal(Goal),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prove(Goal, Proof,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-&gt;  format("~nConclusion: ~w~n", [Goal]),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format("~nHOW did I conclude this?~n"),</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how(Proof, 0)</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format("~nSorry, no rule matches.~n")</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prompt(_, Old).</a:t>
            </a:r>
            <a:endParaRPr lang="en-US" sz="1200" dirty="0"/>
          </a:p>
        </p:txBody>
      </p:sp>
      <p:sp>
        <p:nvSpPr>
          <p:cNvPr id="14" name="Text 11"/>
          <p:cNvSpPr txBox="1"/>
          <p:nvPr/>
        </p:nvSpPr>
        <p:spPr>
          <a:xfrm>
            <a:off x="6146780" y="4762470"/>
            <a:ext cx="5232380" cy="508041"/>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retractall/1 wipes the last consultation; prompt/2 hides SWI-Prolog's |: input prompt.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Asking the user: ask/2 with memory and WHY</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after the querying shell in Bratko (2012), Ch. 15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19</a:t>
            </a:r>
            <a:endParaRPr lang="en-US" sz="1200" dirty="0"/>
          </a:p>
        </p:txBody>
      </p:sp>
      <p:sp>
        <p:nvSpPr>
          <p:cNvPr id="7" name="Shape 4"/>
          <p:cNvSpPr/>
          <p:nvPr/>
        </p:nvSpPr>
        <p:spPr>
          <a:xfrm>
            <a:off x="812810" y="1701790"/>
            <a:ext cx="5333970" cy="3079791"/>
          </a:xfrm>
          <a:prstGeom prst="roundRect">
            <a:avLst>
              <a:gd name="adj" fmla="val 2969"/>
            </a:avLst>
          </a:prstGeom>
          <a:solidFill>
            <a:srgbClr val="1E2433"/>
          </a:solidFill>
          <a:ln/>
        </p:spPr>
      </p:sp>
      <p:sp>
        <p:nvSpPr>
          <p:cNvPr id="8" name="Text 5"/>
          <p:cNvSpPr txBox="1"/>
          <p:nvPr/>
        </p:nvSpPr>
        <p:spPr>
          <a:xfrm>
            <a:off x="990570" y="1854220"/>
            <a:ext cx="4978359" cy="2774930"/>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dynamic known/2.  </a:t>
            </a:r>
            <a:r>
              <a:rPr lang="en-US" sz="1200" dirty="0">
                <a:solidFill>
                  <a:srgbClr val="9AA3B5"/>
                </a:solidFill>
                <a:latin typeface="Consolas" pitchFamily="34" charset="0"/>
                <a:ea typeface="Consolas" pitchFamily="34" charset="-122"/>
                <a:cs typeface="Consolas" pitchFamily="34" charset="-120"/>
              </a:rPr>
              <a:t>% known(Fact, yes/no)</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ask(F, _)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known(F, Ans), !,  </a:t>
            </a:r>
            <a:r>
              <a:rPr lang="en-US" sz="1200" dirty="0">
                <a:solidFill>
                  <a:srgbClr val="9AA3B5"/>
                </a:solidFill>
                <a:latin typeface="Consolas" pitchFamily="34" charset="0"/>
                <a:ea typeface="Consolas" pitchFamily="34" charset="-122"/>
                <a:cs typeface="Consolas" pitchFamily="34" charset="-120"/>
              </a:rPr>
              <a:t>% asked before?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Ans == yes.  </a:t>
            </a:r>
            <a:r>
              <a:rPr lang="en-US" sz="1200" dirty="0">
                <a:solidFill>
                  <a:srgbClr val="9AA3B5"/>
                </a:solidFill>
                <a:latin typeface="Consolas" pitchFamily="34" charset="0"/>
                <a:ea typeface="Consolas" pitchFamily="34" charset="-122"/>
                <a:cs typeface="Consolas" pitchFamily="34" charset="-120"/>
              </a:rPr>
              <a:t>% reuse the answer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ask(F, 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format("Is it true: ~w ? (yes/no/why) ", [F]),</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read(Ans),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Ans == why</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-&gt;  why(T), ask(F, T)  </a:t>
            </a:r>
            <a:r>
              <a:rPr lang="en-US" sz="1200" dirty="0">
                <a:solidFill>
                  <a:srgbClr val="9AA3B5"/>
                </a:solidFill>
                <a:latin typeface="Consolas" pitchFamily="34" charset="0"/>
                <a:ea typeface="Consolas" pitchFamily="34" charset="-122"/>
                <a:cs typeface="Consolas" pitchFamily="34" charset="-120"/>
              </a:rPr>
              <a:t>% explain, ask again</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assertz(known(F, Ans)),  </a:t>
            </a:r>
            <a:r>
              <a:rPr lang="en-US" sz="1200" dirty="0">
                <a:solidFill>
                  <a:srgbClr val="9AA3B5"/>
                </a:solidFill>
                <a:latin typeface="Consolas" pitchFamily="34" charset="0"/>
                <a:ea typeface="Consolas" pitchFamily="34" charset="-122"/>
                <a:cs typeface="Consolas" pitchFamily="34" charset="-120"/>
              </a:rPr>
              <a:t>% remember</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Ans == yes  </a:t>
            </a:r>
            <a:r>
              <a:rPr lang="en-US" sz="1200" dirty="0">
                <a:solidFill>
                  <a:srgbClr val="9AA3B5"/>
                </a:solidFill>
                <a:latin typeface="Consolas" pitchFamily="34" charset="0"/>
                <a:ea typeface="Consolas" pitchFamily="34" charset="-122"/>
                <a:cs typeface="Consolas" pitchFamily="34" charset="-120"/>
              </a:rPr>
              <a:t>% succeed only on yes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p:txBody>
      </p:sp>
      <p:sp>
        <p:nvSpPr>
          <p:cNvPr id="9" name="Shape 6"/>
          <p:cNvSpPr/>
          <p:nvPr/>
        </p:nvSpPr>
        <p:spPr>
          <a:xfrm>
            <a:off x="6400800" y="1701790"/>
            <a:ext cx="4978359" cy="939820"/>
          </a:xfrm>
          <a:prstGeom prst="roundRect">
            <a:avLst>
              <a:gd name="adj" fmla="val 9730"/>
            </a:avLst>
          </a:prstGeom>
          <a:solidFill>
            <a:srgbClr val="FFFFFF"/>
          </a:solidFill>
          <a:ln w="12700">
            <a:solidFill>
              <a:srgbClr val="E3E1DA"/>
            </a:solidFill>
            <a:prstDash val="solid"/>
          </a:ln>
        </p:spPr>
      </p:sp>
      <p:sp>
        <p:nvSpPr>
          <p:cNvPr id="10" name="Text 7"/>
          <p:cNvSpPr txBox="1"/>
          <p:nvPr/>
        </p:nvSpPr>
        <p:spPr>
          <a:xfrm>
            <a:off x="6578559" y="1854220"/>
            <a:ext cx="464817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1 · Ask lazily</a:t>
            </a:r>
            <a:endParaRPr lang="en-US" sz="1500" dirty="0"/>
          </a:p>
        </p:txBody>
      </p:sp>
      <p:sp>
        <p:nvSpPr>
          <p:cNvPr id="11" name="Text 8"/>
          <p:cNvSpPr txBox="1"/>
          <p:nvPr/>
        </p:nvSpPr>
        <p:spPr>
          <a:xfrm>
            <a:off x="6578559" y="2158990"/>
            <a:ext cx="4622841" cy="38103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A question appears only when a rule being tried needs that fact.</a:t>
            </a:r>
            <a:endParaRPr lang="en-US" sz="1200" dirty="0"/>
          </a:p>
        </p:txBody>
      </p:sp>
      <p:sp>
        <p:nvSpPr>
          <p:cNvPr id="12" name="Shape 9"/>
          <p:cNvSpPr/>
          <p:nvPr/>
        </p:nvSpPr>
        <p:spPr>
          <a:xfrm>
            <a:off x="6400800" y="2768620"/>
            <a:ext cx="4978359" cy="939820"/>
          </a:xfrm>
          <a:prstGeom prst="roundRect">
            <a:avLst>
              <a:gd name="adj" fmla="val 9730"/>
            </a:avLst>
          </a:prstGeom>
          <a:solidFill>
            <a:srgbClr val="FFFFFF"/>
          </a:solidFill>
          <a:ln w="12700">
            <a:solidFill>
              <a:srgbClr val="E3E1DA"/>
            </a:solidFill>
            <a:prstDash val="solid"/>
          </a:ln>
        </p:spPr>
      </p:sp>
      <p:sp>
        <p:nvSpPr>
          <p:cNvPr id="13" name="Text 10"/>
          <p:cNvSpPr txBox="1"/>
          <p:nvPr/>
        </p:nvSpPr>
        <p:spPr>
          <a:xfrm>
            <a:off x="6578559" y="2920959"/>
            <a:ext cx="464817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2 · Ask once</a:t>
            </a:r>
            <a:endParaRPr lang="en-US" sz="1500" dirty="0"/>
          </a:p>
        </p:txBody>
      </p:sp>
      <p:sp>
        <p:nvSpPr>
          <p:cNvPr id="14" name="Text 11"/>
          <p:cNvSpPr txBox="1"/>
          <p:nvPr/>
        </p:nvSpPr>
        <p:spPr>
          <a:xfrm>
            <a:off x="6578559" y="3225820"/>
            <a:ext cx="4622841" cy="38103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assertz stores each answer in known/2; later rules reuse it.</a:t>
            </a:r>
            <a:endParaRPr lang="en-US" sz="1200" dirty="0"/>
          </a:p>
        </p:txBody>
      </p:sp>
      <p:sp>
        <p:nvSpPr>
          <p:cNvPr id="15" name="Shape 12"/>
          <p:cNvSpPr/>
          <p:nvPr/>
        </p:nvSpPr>
        <p:spPr>
          <a:xfrm>
            <a:off x="6400800" y="3835359"/>
            <a:ext cx="4978359" cy="939820"/>
          </a:xfrm>
          <a:prstGeom prst="roundRect">
            <a:avLst>
              <a:gd name="adj" fmla="val 9730"/>
            </a:avLst>
          </a:prstGeom>
          <a:solidFill>
            <a:srgbClr val="FFFFFF"/>
          </a:solidFill>
          <a:ln w="12700">
            <a:solidFill>
              <a:srgbClr val="E3E1DA"/>
            </a:solidFill>
            <a:prstDash val="solid"/>
          </a:ln>
        </p:spPr>
      </p:sp>
      <p:sp>
        <p:nvSpPr>
          <p:cNvPr id="16" name="Text 13"/>
          <p:cNvSpPr txBox="1"/>
          <p:nvPr/>
        </p:nvSpPr>
        <p:spPr>
          <a:xfrm>
            <a:off x="6578559" y="3987790"/>
            <a:ext cx="464817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3 · Explain on demand</a:t>
            </a:r>
            <a:endParaRPr lang="en-US" sz="1500" dirty="0"/>
          </a:p>
        </p:txBody>
      </p:sp>
      <p:sp>
        <p:nvSpPr>
          <p:cNvPr id="17" name="Text 14"/>
          <p:cNvSpPr txBox="1"/>
          <p:nvPr/>
        </p:nvSpPr>
        <p:spPr>
          <a:xfrm>
            <a:off x="6578559" y="4292559"/>
            <a:ext cx="4622841" cy="38103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Typing why. prints the waiting rules, then repeats the question.</a:t>
            </a:r>
            <a:endParaRPr lang="en-US" sz="1200" dirty="0"/>
          </a:p>
        </p:txBody>
      </p:sp>
      <p:sp>
        <p:nvSpPr>
          <p:cNvPr id="18" name="Text 15"/>
          <p:cNvSpPr txBox="1"/>
          <p:nvPr/>
        </p:nvSpPr>
        <p:spPr>
          <a:xfrm>
            <a:off x="6400800" y="4953030"/>
            <a:ext cx="4978359" cy="444490"/>
          </a:xfrm>
          <a:prstGeom prst="rect">
            <a:avLst/>
          </a:prstGeom>
          <a:noFill/>
          <a:ln/>
        </p:spPr>
        <p:txBody>
          <a:bodyPr wrap="square" lIns="0" tIns="0" rIns="0" bIns="0" rtlCol="0" anchor="t"/>
          <a:lstStyle/>
          <a:p>
            <a:pPr marL="0" indent="0">
              <a:lnSpc>
                <a:spcPct val="110000"/>
              </a:lnSpc>
              <a:buNone/>
            </a:pPr>
            <a:r>
              <a:rPr lang="en-US" sz="1200" dirty="0">
                <a:solidFill>
                  <a:srgbClr val="5F6573"/>
                </a:solidFill>
                <a:latin typeface="Calibri" pitchFamily="34" charset="0"/>
                <a:ea typeface="Calibri" pitchFamily="34" charset="-122"/>
                <a:cs typeface="Calibri" pitchFamily="34" charset="-120"/>
              </a:rPr>
              <a:t>Answers are Prolog terms: type yes. no. or why. with the full stop.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03 · BUILDING THE SYSTEM</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Explanation facility: WHY and HOW</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Bratko (2012), Ch. 15; Durkin (1994)</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20</a:t>
            </a:r>
            <a:endParaRPr lang="en-US" sz="1200" dirty="0"/>
          </a:p>
        </p:txBody>
      </p:sp>
      <p:sp>
        <p:nvSpPr>
          <p:cNvPr id="7" name="Shape 4"/>
          <p:cNvSpPr/>
          <p:nvPr/>
        </p:nvSpPr>
        <p:spPr>
          <a:xfrm>
            <a:off x="812810" y="1701790"/>
            <a:ext cx="5181630" cy="1015990"/>
          </a:xfrm>
          <a:prstGeom prst="roundRect">
            <a:avLst>
              <a:gd name="adj" fmla="val 9000"/>
            </a:avLst>
          </a:prstGeom>
          <a:solidFill>
            <a:srgbClr val="F6E9E1"/>
          </a:solidFill>
          <a:ln/>
        </p:spPr>
      </p:sp>
      <p:sp>
        <p:nvSpPr>
          <p:cNvPr id="8" name="Text 5"/>
          <p:cNvSpPr txBox="1"/>
          <p:nvPr/>
        </p:nvSpPr>
        <p:spPr>
          <a:xfrm>
            <a:off x="990570" y="1854220"/>
            <a:ext cx="4851441"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WHY? (during a question)</a:t>
            </a:r>
            <a:endParaRPr lang="en-US" sz="1500" dirty="0"/>
          </a:p>
        </p:txBody>
      </p:sp>
      <p:sp>
        <p:nvSpPr>
          <p:cNvPr id="9" name="Text 6"/>
          <p:cNvSpPr txBox="1"/>
          <p:nvPr/>
        </p:nvSpPr>
        <p:spPr>
          <a:xfrm>
            <a:off x="990570" y="2158990"/>
            <a:ext cx="4826020" cy="45720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"Why do you need this fact?" Show the rules waiting for it, innermost first: the Trace list.</a:t>
            </a:r>
            <a:endParaRPr lang="en-US" sz="1200" dirty="0"/>
          </a:p>
        </p:txBody>
      </p:sp>
      <p:sp>
        <p:nvSpPr>
          <p:cNvPr id="10" name="Shape 7"/>
          <p:cNvSpPr/>
          <p:nvPr/>
        </p:nvSpPr>
        <p:spPr>
          <a:xfrm>
            <a:off x="6197620" y="1701790"/>
            <a:ext cx="5181630" cy="1015990"/>
          </a:xfrm>
          <a:prstGeom prst="roundRect">
            <a:avLst>
              <a:gd name="adj" fmla="val 9000"/>
            </a:avLst>
          </a:prstGeom>
          <a:solidFill>
            <a:srgbClr val="E6EDF7"/>
          </a:solidFill>
          <a:ln/>
        </p:spPr>
      </p:sp>
      <p:sp>
        <p:nvSpPr>
          <p:cNvPr id="11" name="Text 8"/>
          <p:cNvSpPr txBox="1"/>
          <p:nvPr/>
        </p:nvSpPr>
        <p:spPr>
          <a:xfrm>
            <a:off x="6375380" y="1854220"/>
            <a:ext cx="4851441"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HOW? (after a conclusion)</a:t>
            </a:r>
            <a:endParaRPr lang="en-US" sz="1500" dirty="0"/>
          </a:p>
        </p:txBody>
      </p:sp>
      <p:sp>
        <p:nvSpPr>
          <p:cNvPr id="12" name="Text 9"/>
          <p:cNvSpPr txBox="1"/>
          <p:nvPr/>
        </p:nvSpPr>
        <p:spPr>
          <a:xfrm>
            <a:off x="6375380" y="2158990"/>
            <a:ext cx="4826020" cy="457200"/>
          </a:xfrm>
          <a:prstGeom prst="rect">
            <a:avLst/>
          </a:prstGeom>
          <a:noFill/>
          <a:ln/>
        </p:spPr>
        <p:txBody>
          <a:bodyPr wrap="square" lIns="0" tIns="0" rIns="0" bIns="0" rtlCol="0" anchor="t"/>
          <a:lstStyle/>
          <a:p>
            <a:pPr marL="0" indent="0">
              <a:lnSpc>
                <a:spcPct val="110000"/>
              </a:lnSpc>
              <a:buNone/>
            </a:pPr>
            <a:r>
              <a:rPr lang="en-US" sz="1200" dirty="0">
                <a:solidFill>
                  <a:srgbClr val="4A5264"/>
                </a:solidFill>
                <a:latin typeface="Calibri" pitchFamily="34" charset="0"/>
                <a:ea typeface="Calibri" pitchFamily="34" charset="-122"/>
                <a:cs typeface="Calibri" pitchFamily="34" charset="-120"/>
              </a:rPr>
              <a:t>"How did you conclude that?" Print the proof tree: a rule for each conclusion, the user for each fact.</a:t>
            </a:r>
            <a:endParaRPr lang="en-US" sz="1200" dirty="0"/>
          </a:p>
        </p:txBody>
      </p:sp>
      <p:sp>
        <p:nvSpPr>
          <p:cNvPr id="13" name="Shape 10"/>
          <p:cNvSpPr/>
          <p:nvPr/>
        </p:nvSpPr>
        <p:spPr>
          <a:xfrm>
            <a:off x="812810" y="2870210"/>
            <a:ext cx="5181630" cy="2654320"/>
          </a:xfrm>
          <a:prstGeom prst="roundRect">
            <a:avLst>
              <a:gd name="adj" fmla="val 3445"/>
            </a:avLst>
          </a:prstGeom>
          <a:solidFill>
            <a:srgbClr val="1E2433"/>
          </a:solidFill>
          <a:ln/>
        </p:spPr>
      </p:sp>
      <p:sp>
        <p:nvSpPr>
          <p:cNvPr id="14" name="Text 11"/>
          <p:cNvSpPr txBox="1"/>
          <p:nvPr/>
        </p:nvSpPr>
        <p:spPr>
          <a:xfrm>
            <a:off x="990570" y="3022641"/>
            <a:ext cx="4826020" cy="2349459"/>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why([]).</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why([Id|Ids])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Id :: if C then G,</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   trying rule ~w: IF ", [Id]),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show(C),</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 THEN ~w~n", [G]),</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why(Ids).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show(A and B) :-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show(A), write(' AND '), show(B).</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show(X) :- write(X).</a:t>
            </a:r>
            <a:endParaRPr lang="en-US" sz="1200" dirty="0"/>
          </a:p>
        </p:txBody>
      </p:sp>
      <p:sp>
        <p:nvSpPr>
          <p:cNvPr id="15" name="Shape 12"/>
          <p:cNvSpPr/>
          <p:nvPr/>
        </p:nvSpPr>
        <p:spPr>
          <a:xfrm>
            <a:off x="6197620" y="2870210"/>
            <a:ext cx="5181630" cy="2222541"/>
          </a:xfrm>
          <a:prstGeom prst="roundRect">
            <a:avLst>
              <a:gd name="adj" fmla="val 4114"/>
            </a:avLst>
          </a:prstGeom>
          <a:solidFill>
            <a:srgbClr val="1E2433"/>
          </a:solidFill>
          <a:ln/>
        </p:spPr>
      </p:sp>
      <p:sp>
        <p:nvSpPr>
          <p:cNvPr id="16" name="Text 13"/>
          <p:cNvSpPr txBox="1"/>
          <p:nvPr/>
        </p:nvSpPr>
        <p:spPr>
          <a:xfrm>
            <a:off x="6375380" y="3022641"/>
            <a:ext cx="4826020" cy="1917680"/>
          </a:xfrm>
          <a:prstGeom prst="rect">
            <a:avLst/>
          </a:prstGeom>
          <a:noFill/>
          <a:ln/>
        </p:spPr>
        <p:txBody>
          <a:bodyPr wrap="square" lIns="0" tIns="0" rIns="0" bIns="0" rtlCol="0" anchor="t"/>
          <a:lstStyle/>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how(A and B, D) :-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how(A, D), how(B, 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how(told(F), D) :- !, tab(D),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format("~w  &lt;- you told me~n", [F]).</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how(not(F), D) :- !, tab(D),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format("not ~w  &lt;- you said no~n", [F]).</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how(by(G, Id, P), D) :- tab(D),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format("~w  &lt;- by rule ~w~n", [G, Id]),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D1 is D + 4, how(P, D1).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04 · WORKING DEMO [go to </a:t>
            </a:r>
            <a:r>
              <a:rPr lang="en-US" sz="1200" b="1" kern="0" spc="300" dirty="0">
                <a:solidFill>
                  <a:srgbClr val="A8441A"/>
                </a:solidFill>
                <a:latin typeface="Calibri" pitchFamily="34" charset="0"/>
                <a:ea typeface="Calibri" pitchFamily="34" charset="-122"/>
                <a:cs typeface="Calibri" pitchFamily="34" charset="-120"/>
                <a:hlinkClick r:id="rId3"/>
              </a:rPr>
              <a:t>LINK</a:t>
            </a:r>
            <a:r>
              <a:rPr lang="en-US" sz="1200" b="1" kern="0" spc="300" dirty="0">
                <a:solidFill>
                  <a:srgbClr val="A8441A"/>
                </a:solidFill>
                <a:latin typeface="Calibri" pitchFamily="34" charset="0"/>
                <a:ea typeface="Calibri" pitchFamily="34" charset="-122"/>
                <a:cs typeface="Calibri" pitchFamily="34" charset="-120"/>
              </a:rPr>
              <a:t> : try yourself </a:t>
            </a:r>
            <a:r>
              <a:rPr lang="en-US" sz="1200" b="1" kern="0" spc="300" dirty="0">
                <a:solidFill>
                  <a:srgbClr val="A8441A"/>
                </a:solidFill>
                <a:latin typeface="Calibri" pitchFamily="34" charset="0"/>
                <a:ea typeface="Calibri" pitchFamily="34" charset="-122"/>
                <a:cs typeface="Calibri" pitchFamily="34" charset="-120"/>
                <a:sym typeface="Wingdings" panose="05000000000000000000" pitchFamily="2" charset="2"/>
              </a:rPr>
              <a:t></a:t>
            </a:r>
            <a:r>
              <a:rPr lang="en-US" sz="1200" b="1" kern="0" spc="300" dirty="0">
                <a:solidFill>
                  <a:srgbClr val="A8441A"/>
                </a:solidFill>
                <a:latin typeface="Calibri" pitchFamily="34" charset="0"/>
                <a:ea typeface="Calibri" pitchFamily="34" charset="-122"/>
                <a:cs typeface="Calibri" pitchFamily="34" charset="-120"/>
              </a:rPr>
              <a:t>]</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Demo 1: identifying a cheetah, with WHY</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Program: engine.pl + zoo_kb.pl (this talk), run in SWI-Prolog 10</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21</a:t>
            </a:r>
            <a:endParaRPr lang="en-US" sz="1200" dirty="0"/>
          </a:p>
        </p:txBody>
      </p:sp>
      <p:sp>
        <p:nvSpPr>
          <p:cNvPr id="7" name="Shape 4"/>
          <p:cNvSpPr/>
          <p:nvPr/>
        </p:nvSpPr>
        <p:spPr>
          <a:xfrm>
            <a:off x="812810" y="1676370"/>
            <a:ext cx="10566441" cy="2863809"/>
          </a:xfrm>
          <a:prstGeom prst="roundRect">
            <a:avLst>
              <a:gd name="adj" fmla="val 3193"/>
            </a:avLst>
          </a:prstGeom>
          <a:solidFill>
            <a:srgbClr val="1E2433"/>
          </a:solidFill>
          <a:ln/>
        </p:spPr>
      </p:sp>
      <p:sp>
        <p:nvSpPr>
          <p:cNvPr id="8" name="Text 5"/>
          <p:cNvSpPr txBox="1"/>
          <p:nvPr/>
        </p:nvSpPr>
        <p:spPr>
          <a:xfrm>
            <a:off x="990570" y="1828800"/>
            <a:ext cx="10210830" cy="255904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SWI-Prolog · $ swipl zoo_kb.pl</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go.</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Is it true: has(hair) ? (yes/no/why) </a:t>
            </a:r>
            <a:r>
              <a:rPr lang="en-US" sz="1200" b="1" dirty="0">
                <a:solidFill>
                  <a:srgbClr val="F2A65A"/>
                </a:solidFill>
                <a:latin typeface="Consolas" pitchFamily="34" charset="0"/>
                <a:ea typeface="Consolas" pitchFamily="34" charset="-122"/>
                <a:cs typeface="Consolas" pitchFamily="34" charset="-120"/>
              </a:rPr>
              <a:t>why.</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   trying rule r1: IF has(hair) THEN mammal</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   trying rule r5: IF mammal AND eats(meat) THEN carnivore</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   trying rule r9: IF carnivore AND has(tawny_colour) AND has(dark_spots) THEN animal(cheetah)</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Is it true: has(hair)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Is it true: eats(meat)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Is it true: has(tawny_colour)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Is it true: has(dark_spots)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b="1" dirty="0">
                <a:solidFill>
                  <a:srgbClr val="8DB7F5"/>
                </a:solidFill>
                <a:latin typeface="Consolas" pitchFamily="34" charset="0"/>
                <a:ea typeface="Consolas" pitchFamily="34" charset="-122"/>
                <a:cs typeface="Consolas" pitchFamily="34" charset="-120"/>
              </a:rPr>
              <a:t>Conclusion: animal(cheetah)</a:t>
            </a:r>
            <a:endParaRPr lang="en-US" sz="1200" dirty="0"/>
          </a:p>
        </p:txBody>
      </p:sp>
      <p:sp>
        <p:nvSpPr>
          <p:cNvPr id="9" name="Shape 6"/>
          <p:cNvSpPr/>
          <p:nvPr/>
        </p:nvSpPr>
        <p:spPr>
          <a:xfrm>
            <a:off x="812810" y="4743450"/>
            <a:ext cx="3378159" cy="761970"/>
          </a:xfrm>
          <a:prstGeom prst="roundRect">
            <a:avLst>
              <a:gd name="adj" fmla="val 12000"/>
            </a:avLst>
          </a:prstGeom>
          <a:solidFill>
            <a:srgbClr val="FFFFFF"/>
          </a:solidFill>
          <a:ln w="12700">
            <a:solidFill>
              <a:srgbClr val="E3E1DA"/>
            </a:solidFill>
            <a:prstDash val="solid"/>
          </a:ln>
        </p:spPr>
      </p:sp>
      <p:sp>
        <p:nvSpPr>
          <p:cNvPr id="10" name="Text 7"/>
          <p:cNvSpPr txBox="1"/>
          <p:nvPr/>
        </p:nvSpPr>
        <p:spPr>
          <a:xfrm>
            <a:off x="965241" y="4743450"/>
            <a:ext cx="3073390" cy="76197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WHY:</a:t>
            </a:r>
            <a:r>
              <a:rPr lang="en-US" sz="1300" dirty="0">
                <a:solidFill>
                  <a:srgbClr val="1B2233"/>
                </a:solidFill>
                <a:latin typeface="Calibri" pitchFamily="34" charset="0"/>
                <a:ea typeface="Calibri" pitchFamily="34" charset="-122"/>
                <a:cs typeface="Calibri" pitchFamily="34" charset="-120"/>
              </a:rPr>
              <a:t> the chain r1 → r5 → r9 shows which hypothesis needs the fact</a:t>
            </a:r>
            <a:endParaRPr lang="en-US" sz="1300" dirty="0"/>
          </a:p>
        </p:txBody>
      </p:sp>
      <p:sp>
        <p:nvSpPr>
          <p:cNvPr id="11" name="Shape 8"/>
          <p:cNvSpPr/>
          <p:nvPr/>
        </p:nvSpPr>
        <p:spPr>
          <a:xfrm>
            <a:off x="4394241" y="4743450"/>
            <a:ext cx="3378159" cy="761970"/>
          </a:xfrm>
          <a:prstGeom prst="roundRect">
            <a:avLst>
              <a:gd name="adj" fmla="val 12000"/>
            </a:avLst>
          </a:prstGeom>
          <a:solidFill>
            <a:srgbClr val="FFFFFF"/>
          </a:solidFill>
          <a:ln w="12700">
            <a:solidFill>
              <a:srgbClr val="E3E1DA"/>
            </a:solidFill>
            <a:prstDash val="solid"/>
          </a:ln>
        </p:spPr>
      </p:sp>
      <p:sp>
        <p:nvSpPr>
          <p:cNvPr id="12" name="Text 9"/>
          <p:cNvSpPr txBox="1"/>
          <p:nvPr/>
        </p:nvSpPr>
        <p:spPr>
          <a:xfrm>
            <a:off x="4546580" y="4743450"/>
            <a:ext cx="3073390" cy="76197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4 questions only:</a:t>
            </a:r>
            <a:r>
              <a:rPr lang="en-US" sz="1300" dirty="0">
                <a:solidFill>
                  <a:srgbClr val="1B2233"/>
                </a:solidFill>
                <a:latin typeface="Calibri" pitchFamily="34" charset="0"/>
                <a:ea typeface="Calibri" pitchFamily="34" charset="-122"/>
                <a:cs typeface="Calibri" pitchFamily="34" charset="-120"/>
              </a:rPr>
              <a:t> the first hypothesis tried (cheetah, r9) succeeded</a:t>
            </a:r>
            <a:endParaRPr lang="en-US" sz="1300" dirty="0"/>
          </a:p>
        </p:txBody>
      </p:sp>
      <p:sp>
        <p:nvSpPr>
          <p:cNvPr id="13" name="Shape 10"/>
          <p:cNvSpPr/>
          <p:nvPr/>
        </p:nvSpPr>
        <p:spPr>
          <a:xfrm>
            <a:off x="7975580" y="4743450"/>
            <a:ext cx="3378159" cy="761970"/>
          </a:xfrm>
          <a:prstGeom prst="roundRect">
            <a:avLst>
              <a:gd name="adj" fmla="val 12000"/>
            </a:avLst>
          </a:prstGeom>
          <a:solidFill>
            <a:srgbClr val="FFFFFF"/>
          </a:solidFill>
          <a:ln w="12700">
            <a:solidFill>
              <a:srgbClr val="E3E1DA"/>
            </a:solidFill>
            <a:prstDash val="solid"/>
          </a:ln>
        </p:spPr>
      </p:sp>
      <p:sp>
        <p:nvSpPr>
          <p:cNvPr id="14" name="Text 11"/>
          <p:cNvSpPr txBox="1"/>
          <p:nvPr/>
        </p:nvSpPr>
        <p:spPr>
          <a:xfrm>
            <a:off x="8128010" y="4743450"/>
            <a:ext cx="3073390" cy="76197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User input</a:t>
            </a:r>
            <a:r>
              <a:rPr lang="en-US" sz="1300" dirty="0">
                <a:solidFill>
                  <a:srgbClr val="1B2233"/>
                </a:solidFill>
                <a:latin typeface="Calibri" pitchFamily="34" charset="0"/>
                <a:ea typeface="Calibri" pitchFamily="34" charset="-122"/>
                <a:cs typeface="Calibri" pitchFamily="34" charset="-120"/>
              </a:rPr>
              <a:t> is shown in orange; answers end with a full stop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04 · WORKING DEMO</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Demo 1 (cont.): the HOW explanation</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Program: engine.pl + zoo_kb.pl (this talk), run in SWI-Prolog 10</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22</a:t>
            </a:r>
            <a:endParaRPr lang="en-US" sz="1200" dirty="0"/>
          </a:p>
        </p:txBody>
      </p:sp>
      <p:sp>
        <p:nvSpPr>
          <p:cNvPr id="7" name="Shape 4"/>
          <p:cNvSpPr/>
          <p:nvPr/>
        </p:nvSpPr>
        <p:spPr>
          <a:xfrm>
            <a:off x="812810" y="1701790"/>
            <a:ext cx="5206959" cy="2863809"/>
          </a:xfrm>
          <a:prstGeom prst="roundRect">
            <a:avLst>
              <a:gd name="adj" fmla="val 3193"/>
            </a:avLst>
          </a:prstGeom>
          <a:solidFill>
            <a:srgbClr val="1E2433"/>
          </a:solidFill>
          <a:ln/>
        </p:spPr>
      </p:sp>
      <p:sp>
        <p:nvSpPr>
          <p:cNvPr id="8" name="Text 5"/>
          <p:cNvSpPr txBox="1"/>
          <p:nvPr/>
        </p:nvSpPr>
        <p:spPr>
          <a:xfrm>
            <a:off x="990570" y="1854220"/>
            <a:ext cx="4851441" cy="255904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…output continues</a:t>
            </a:r>
            <a:endParaRPr lang="en-US" sz="1200" dirty="0"/>
          </a:p>
          <a:p>
            <a:pPr marL="0" indent="0">
              <a:lnSpc>
                <a:spcPts val="1680"/>
              </a:lnSpc>
              <a:buNone/>
            </a:pPr>
            <a:r>
              <a:rPr lang="en-US" sz="1200" b="1" dirty="0">
                <a:solidFill>
                  <a:srgbClr val="8DB7F5"/>
                </a:solidFill>
                <a:latin typeface="Consolas" pitchFamily="34" charset="0"/>
                <a:ea typeface="Consolas" pitchFamily="34" charset="-122"/>
                <a:cs typeface="Consolas" pitchFamily="34" charset="-120"/>
              </a:rPr>
              <a:t>Conclusion: animal(cheetah)</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HOW did I conclude this?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animal(cheetah)  &lt;- by rule r9</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carnivore  &lt;- by rule r5</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mammal  &lt;- by rule r1</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has(hair)  &lt;- you told me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eats(meat)  &lt;- you told me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has(tawny_colour)  &lt;- you told me</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has(dark_spots)  &lt;- you told me</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true.</a:t>
            </a:r>
            <a:endParaRPr lang="en-US" sz="1200" dirty="0"/>
          </a:p>
        </p:txBody>
      </p:sp>
      <p:sp>
        <p:nvSpPr>
          <p:cNvPr id="9" name="Shape 6"/>
          <p:cNvSpPr/>
          <p:nvPr/>
        </p:nvSpPr>
        <p:spPr>
          <a:xfrm>
            <a:off x="6273790" y="1701790"/>
            <a:ext cx="5105370" cy="723930"/>
          </a:xfrm>
          <a:prstGeom prst="roundRect">
            <a:avLst>
              <a:gd name="adj" fmla="val 12631"/>
            </a:avLst>
          </a:prstGeom>
          <a:solidFill>
            <a:srgbClr val="FFFFFF"/>
          </a:solidFill>
          <a:ln w="12700">
            <a:solidFill>
              <a:srgbClr val="E3E1DA"/>
            </a:solidFill>
            <a:prstDash val="solid"/>
          </a:ln>
        </p:spPr>
      </p:sp>
      <p:sp>
        <p:nvSpPr>
          <p:cNvPr id="10" name="Text 7"/>
          <p:cNvSpPr txBox="1"/>
          <p:nvPr/>
        </p:nvSpPr>
        <p:spPr>
          <a:xfrm>
            <a:off x="6451641" y="1701790"/>
            <a:ext cx="4749759" cy="72393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Indentation</a:t>
            </a:r>
            <a:r>
              <a:rPr lang="en-US" sz="1300" dirty="0">
                <a:solidFill>
                  <a:srgbClr val="1B2233"/>
                </a:solidFill>
                <a:latin typeface="Calibri" pitchFamily="34" charset="0"/>
                <a:ea typeface="Calibri" pitchFamily="34" charset="-122"/>
                <a:cs typeface="Calibri" pitchFamily="34" charset="-120"/>
              </a:rPr>
              <a:t> = depth in the proof tree</a:t>
            </a:r>
            <a:endParaRPr lang="en-US" sz="1300" dirty="0"/>
          </a:p>
        </p:txBody>
      </p:sp>
      <p:sp>
        <p:nvSpPr>
          <p:cNvPr id="11" name="Shape 8"/>
          <p:cNvSpPr/>
          <p:nvPr/>
        </p:nvSpPr>
        <p:spPr>
          <a:xfrm>
            <a:off x="6273790" y="2552730"/>
            <a:ext cx="5105370" cy="723930"/>
          </a:xfrm>
          <a:prstGeom prst="roundRect">
            <a:avLst>
              <a:gd name="adj" fmla="val 12631"/>
            </a:avLst>
          </a:prstGeom>
          <a:solidFill>
            <a:srgbClr val="FFFFFF"/>
          </a:solidFill>
          <a:ln w="12700">
            <a:solidFill>
              <a:srgbClr val="E3E1DA"/>
            </a:solidFill>
            <a:prstDash val="solid"/>
          </a:ln>
        </p:spPr>
      </p:sp>
      <p:sp>
        <p:nvSpPr>
          <p:cNvPr id="12" name="Text 9"/>
          <p:cNvSpPr txBox="1"/>
          <p:nvPr/>
        </p:nvSpPr>
        <p:spPr>
          <a:xfrm>
            <a:off x="6451641" y="2552730"/>
            <a:ext cx="4749759" cy="72393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"by rule rN"</a:t>
            </a:r>
            <a:r>
              <a:rPr lang="en-US" sz="1300" dirty="0">
                <a:solidFill>
                  <a:srgbClr val="1B2233"/>
                </a:solidFill>
                <a:latin typeface="Calibri" pitchFamily="34" charset="0"/>
                <a:ea typeface="Calibri" pitchFamily="34" charset="-122"/>
                <a:cs typeface="Calibri" pitchFamily="34" charset="-120"/>
              </a:rPr>
              <a:t> = concluded by a rule from the knowledge base</a:t>
            </a:r>
            <a:endParaRPr lang="en-US" sz="1300" dirty="0"/>
          </a:p>
        </p:txBody>
      </p:sp>
      <p:sp>
        <p:nvSpPr>
          <p:cNvPr id="13" name="Shape 10"/>
          <p:cNvSpPr/>
          <p:nvPr/>
        </p:nvSpPr>
        <p:spPr>
          <a:xfrm>
            <a:off x="6273790" y="3403580"/>
            <a:ext cx="5105370" cy="723930"/>
          </a:xfrm>
          <a:prstGeom prst="roundRect">
            <a:avLst>
              <a:gd name="adj" fmla="val 12631"/>
            </a:avLst>
          </a:prstGeom>
          <a:solidFill>
            <a:srgbClr val="FFFFFF"/>
          </a:solidFill>
          <a:ln w="12700">
            <a:solidFill>
              <a:srgbClr val="E3E1DA"/>
            </a:solidFill>
            <a:prstDash val="solid"/>
          </a:ln>
        </p:spPr>
      </p:sp>
      <p:sp>
        <p:nvSpPr>
          <p:cNvPr id="14" name="Text 11"/>
          <p:cNvSpPr txBox="1"/>
          <p:nvPr/>
        </p:nvSpPr>
        <p:spPr>
          <a:xfrm>
            <a:off x="6451641" y="3403580"/>
            <a:ext cx="4749759" cy="72393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"you told me"</a:t>
            </a:r>
            <a:r>
              <a:rPr lang="en-US" sz="1300" dirty="0">
                <a:solidFill>
                  <a:srgbClr val="1B2233"/>
                </a:solidFill>
                <a:latin typeface="Calibri" pitchFamily="34" charset="0"/>
                <a:ea typeface="Calibri" pitchFamily="34" charset="-122"/>
                <a:cs typeface="Calibri" pitchFamily="34" charset="-120"/>
              </a:rPr>
              <a:t> = a fact the user supplied</a:t>
            </a:r>
            <a:endParaRPr lang="en-US" sz="1300" dirty="0"/>
          </a:p>
        </p:txBody>
      </p:sp>
      <p:sp>
        <p:nvSpPr>
          <p:cNvPr id="15" name="Shape 12"/>
          <p:cNvSpPr/>
          <p:nvPr/>
        </p:nvSpPr>
        <p:spPr>
          <a:xfrm>
            <a:off x="6273790" y="4254520"/>
            <a:ext cx="5105370" cy="723930"/>
          </a:xfrm>
          <a:prstGeom prst="roundRect">
            <a:avLst>
              <a:gd name="adj" fmla="val 10105"/>
            </a:avLst>
          </a:prstGeom>
          <a:solidFill>
            <a:srgbClr val="F6E9E1"/>
          </a:solidFill>
          <a:ln/>
        </p:spPr>
      </p:sp>
      <p:sp>
        <p:nvSpPr>
          <p:cNvPr id="16" name="Text 13"/>
          <p:cNvSpPr txBox="1"/>
          <p:nvPr/>
        </p:nvSpPr>
        <p:spPr>
          <a:xfrm>
            <a:off x="6451641" y="4254520"/>
            <a:ext cx="4749759" cy="723930"/>
          </a:xfrm>
          <a:prstGeom prst="rect">
            <a:avLst/>
          </a:prstGeom>
          <a:noFill/>
          <a:ln/>
        </p:spPr>
        <p:txBody>
          <a:bodyPr wrap="square" lIns="0" tIns="0" rIns="0" bIns="0" rtlCol="0" anchor="ctr"/>
          <a:lstStyle/>
          <a:p>
            <a:pPr marL="0" indent="0">
              <a:lnSpc>
                <a:spcPct val="110000"/>
              </a:lnSpc>
              <a:buNone/>
            </a:pPr>
            <a:r>
              <a:rPr lang="en-US" sz="1300" dirty="0">
                <a:solidFill>
                  <a:srgbClr val="1B2233"/>
                </a:solidFill>
                <a:latin typeface="Calibri" pitchFamily="34" charset="0"/>
                <a:ea typeface="Calibri" pitchFamily="34" charset="-122"/>
                <a:cs typeface="Calibri" pitchFamily="34" charset="-120"/>
              </a:rPr>
              <a:t>It is the same tree backward chaining built on slide 10, so every step can be checked.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04 · WORKING DEMO</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Demo 2: a penguin, and backtracking at work</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Program: engine.pl + zoo_kb.pl (this talk), run in SWI-Prolog 10</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23</a:t>
            </a:r>
            <a:endParaRPr lang="en-US" sz="1200" dirty="0"/>
          </a:p>
        </p:txBody>
      </p:sp>
      <p:sp>
        <p:nvSpPr>
          <p:cNvPr id="7" name="Shape 4"/>
          <p:cNvSpPr/>
          <p:nvPr/>
        </p:nvSpPr>
        <p:spPr>
          <a:xfrm>
            <a:off x="812810" y="1676370"/>
            <a:ext cx="5460980" cy="4070360"/>
          </a:xfrm>
          <a:prstGeom prst="roundRect">
            <a:avLst>
              <a:gd name="adj" fmla="val 2246"/>
            </a:avLst>
          </a:prstGeom>
          <a:solidFill>
            <a:srgbClr val="1E2433"/>
          </a:solidFill>
          <a:ln/>
        </p:spPr>
      </p:sp>
      <p:sp>
        <p:nvSpPr>
          <p:cNvPr id="8" name="Text 5"/>
          <p:cNvSpPr txBox="1"/>
          <p:nvPr/>
        </p:nvSpPr>
        <p:spPr>
          <a:xfrm>
            <a:off x="990570" y="1828800"/>
            <a:ext cx="5105370" cy="3765591"/>
          </a:xfrm>
          <a:prstGeom prst="rect">
            <a:avLst/>
          </a:prstGeom>
          <a:noFill/>
          <a:ln/>
        </p:spPr>
        <p:txBody>
          <a:bodyPr wrap="square" lIns="0" tIns="0" rIns="0" bIns="0" rtlCol="0" anchor="t"/>
          <a:lstStyle/>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go.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has(hair) ? (yes/no/why) </a:t>
            </a:r>
            <a:r>
              <a:rPr lang="en-US" sz="1200" b="1" dirty="0">
                <a:solidFill>
                  <a:srgbClr val="F2A65A"/>
                </a:solidFill>
                <a:latin typeface="Consolas" pitchFamily="34" charset="0"/>
                <a:ea typeface="Consolas" pitchFamily="34" charset="-122"/>
                <a:cs typeface="Consolas" pitchFamily="34" charset="-120"/>
              </a:rPr>
              <a:t>no.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gives(milk) ? (yes/no/why) </a:t>
            </a:r>
            <a:r>
              <a:rPr lang="en-US" sz="1200" b="1" dirty="0">
                <a:solidFill>
                  <a:srgbClr val="F2A65A"/>
                </a:solidFill>
                <a:latin typeface="Consolas" pitchFamily="34" charset="0"/>
                <a:ea typeface="Consolas" pitchFamily="34" charset="-122"/>
                <a:cs typeface="Consolas" pitchFamily="34" charset="-120"/>
              </a:rPr>
              <a:t>no.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has(feathers)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flies ? (yes/no/why) </a:t>
            </a:r>
            <a:r>
              <a:rPr lang="en-US" sz="1200" b="1" dirty="0">
                <a:solidFill>
                  <a:srgbClr val="F2A65A"/>
                </a:solidFill>
                <a:latin typeface="Consolas" pitchFamily="34" charset="0"/>
                <a:ea typeface="Consolas" pitchFamily="34" charset="-122"/>
                <a:cs typeface="Consolas" pitchFamily="34" charset="-120"/>
              </a:rPr>
              <a:t>no.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has(long_neck) ? (yes/no/why) </a:t>
            </a:r>
            <a:r>
              <a:rPr lang="en-US" sz="1200" b="1" dirty="0">
                <a:solidFill>
                  <a:srgbClr val="F2A65A"/>
                </a:solidFill>
                <a:latin typeface="Consolas" pitchFamily="34" charset="0"/>
                <a:ea typeface="Consolas" pitchFamily="34" charset="-122"/>
                <a:cs typeface="Consolas" pitchFamily="34" charset="-120"/>
              </a:rPr>
              <a:t>no.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swims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has(black_white_colour)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560"/>
              </a:lnSpc>
              <a:buNone/>
            </a:pPr>
            <a:r>
              <a:rPr lang="en-US" sz="1200" b="1" dirty="0">
                <a:solidFill>
                  <a:srgbClr val="8DB7F5"/>
                </a:solidFill>
                <a:latin typeface="Consolas" pitchFamily="34" charset="0"/>
                <a:ea typeface="Consolas" pitchFamily="34" charset="-122"/>
                <a:cs typeface="Consolas" pitchFamily="34" charset="-120"/>
              </a:rPr>
              <a:t>Conclusion: animal(penguin)</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HOW did I conclude this?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animal(penguin)  &lt;- by rule r14</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bird  &lt;- by rule r3</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has(feathers)  &lt;- you told me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not flies  &lt;- you said no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swims  &lt;- you told me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has(black_white_colour)  &lt;- you told me</a:t>
            </a:r>
            <a:endParaRPr lang="en-US" sz="1200" dirty="0"/>
          </a:p>
          <a:p>
            <a:pPr marL="0" indent="0">
              <a:lnSpc>
                <a:spcPts val="1560"/>
              </a:lnSpc>
              <a:buNone/>
            </a:pPr>
            <a:r>
              <a:rPr lang="en-US" sz="1200" dirty="0">
                <a:solidFill>
                  <a:srgbClr val="8DB7F5"/>
                </a:solidFill>
                <a:latin typeface="Consolas" pitchFamily="34" charset="0"/>
                <a:ea typeface="Consolas" pitchFamily="34" charset="-122"/>
                <a:cs typeface="Consolas" pitchFamily="34" charset="-120"/>
              </a:rPr>
              <a:t>true.</a:t>
            </a:r>
            <a:endParaRPr lang="en-US" sz="1200" dirty="0"/>
          </a:p>
        </p:txBody>
      </p:sp>
      <p:sp>
        <p:nvSpPr>
          <p:cNvPr id="9" name="Shape 6"/>
          <p:cNvSpPr/>
          <p:nvPr/>
        </p:nvSpPr>
        <p:spPr>
          <a:xfrm>
            <a:off x="6527810" y="1676370"/>
            <a:ext cx="4851441" cy="1231880"/>
          </a:xfrm>
          <a:prstGeom prst="roundRect">
            <a:avLst>
              <a:gd name="adj" fmla="val 7423"/>
            </a:avLst>
          </a:prstGeom>
          <a:solidFill>
            <a:srgbClr val="FFFFFF"/>
          </a:solidFill>
          <a:ln w="12700">
            <a:solidFill>
              <a:srgbClr val="E3E1DA"/>
            </a:solidFill>
            <a:prstDash val="solid"/>
          </a:ln>
        </p:spPr>
      </p:sp>
      <p:sp>
        <p:nvSpPr>
          <p:cNvPr id="10" name="Text 7"/>
          <p:cNvSpPr txBox="1"/>
          <p:nvPr/>
        </p:nvSpPr>
        <p:spPr>
          <a:xfrm>
            <a:off x="6705570" y="1828800"/>
            <a:ext cx="4521159"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Backtracking</a:t>
            </a:r>
            <a:endParaRPr lang="en-US" sz="1500" dirty="0"/>
          </a:p>
        </p:txBody>
      </p:sp>
      <p:sp>
        <p:nvSpPr>
          <p:cNvPr id="11" name="Text 8"/>
          <p:cNvSpPr txBox="1"/>
          <p:nvPr/>
        </p:nvSpPr>
        <p:spPr>
          <a:xfrm>
            <a:off x="6705570" y="2133570"/>
            <a:ext cx="4495830" cy="67309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Cheetah, tiger, giraffe and zebra all need mammal; after two no answers they fail with no new questions.</a:t>
            </a:r>
            <a:endParaRPr lang="en-US" sz="1300" dirty="0"/>
          </a:p>
        </p:txBody>
      </p:sp>
      <p:sp>
        <p:nvSpPr>
          <p:cNvPr id="12" name="Shape 9"/>
          <p:cNvSpPr/>
          <p:nvPr/>
        </p:nvSpPr>
        <p:spPr>
          <a:xfrm>
            <a:off x="6527810" y="3035259"/>
            <a:ext cx="4851441" cy="1231880"/>
          </a:xfrm>
          <a:prstGeom prst="roundRect">
            <a:avLst>
              <a:gd name="adj" fmla="val 7423"/>
            </a:avLst>
          </a:prstGeom>
          <a:solidFill>
            <a:srgbClr val="FFFFFF"/>
          </a:solidFill>
          <a:ln w="12700">
            <a:solidFill>
              <a:srgbClr val="E3E1DA"/>
            </a:solidFill>
            <a:prstDash val="solid"/>
          </a:ln>
        </p:spPr>
      </p:sp>
      <p:sp>
        <p:nvSpPr>
          <p:cNvPr id="13" name="Text 10"/>
          <p:cNvSpPr txBox="1"/>
          <p:nvPr/>
        </p:nvSpPr>
        <p:spPr>
          <a:xfrm>
            <a:off x="6705570" y="3187690"/>
            <a:ext cx="4521159"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A rejected hypothesis</a:t>
            </a:r>
            <a:endParaRPr lang="en-US" sz="1500" dirty="0"/>
          </a:p>
        </p:txBody>
      </p:sp>
      <p:sp>
        <p:nvSpPr>
          <p:cNvPr id="14" name="Text 11"/>
          <p:cNvSpPr txBox="1"/>
          <p:nvPr/>
        </p:nvSpPr>
        <p:spPr>
          <a:xfrm>
            <a:off x="6705570" y="3492459"/>
            <a:ext cx="4495830" cy="67309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Ostrich (r13) is tried: long neck? no. Prolog moves on to penguin (r14).</a:t>
            </a:r>
            <a:endParaRPr lang="en-US" sz="1300" dirty="0"/>
          </a:p>
        </p:txBody>
      </p:sp>
      <p:sp>
        <p:nvSpPr>
          <p:cNvPr id="15" name="Shape 12"/>
          <p:cNvSpPr/>
          <p:nvPr/>
        </p:nvSpPr>
        <p:spPr>
          <a:xfrm>
            <a:off x="6527810" y="4394241"/>
            <a:ext cx="4851441" cy="1231880"/>
          </a:xfrm>
          <a:prstGeom prst="roundRect">
            <a:avLst>
              <a:gd name="adj" fmla="val 7423"/>
            </a:avLst>
          </a:prstGeom>
          <a:solidFill>
            <a:srgbClr val="FFFFFF"/>
          </a:solidFill>
          <a:ln w="12700">
            <a:solidFill>
              <a:srgbClr val="E3E1DA"/>
            </a:solidFill>
            <a:prstDash val="solid"/>
          </a:ln>
        </p:spPr>
      </p:sp>
      <p:sp>
        <p:nvSpPr>
          <p:cNvPr id="16" name="Text 13"/>
          <p:cNvSpPr txBox="1"/>
          <p:nvPr/>
        </p:nvSpPr>
        <p:spPr>
          <a:xfrm>
            <a:off x="6705570" y="4546580"/>
            <a:ext cx="4521159"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Memory pays off</a:t>
            </a:r>
            <a:endParaRPr lang="en-US" sz="1500" dirty="0"/>
          </a:p>
        </p:txBody>
      </p:sp>
      <p:sp>
        <p:nvSpPr>
          <p:cNvPr id="17" name="Text 14"/>
          <p:cNvSpPr txBox="1"/>
          <p:nvPr/>
        </p:nvSpPr>
        <p:spPr>
          <a:xfrm>
            <a:off x="6705570" y="4851441"/>
            <a:ext cx="4495830" cy="67309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feathers and flies are asked once and reused by r13 and r14: 7 questions in all.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04 · WORKING DEMO</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Demo 3: same engine, new domain: fever / flu</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Program: engine.pl + flu_kb.pl (this talk), run in SWI-Prolog 10</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24</a:t>
            </a:r>
            <a:endParaRPr lang="en-US" sz="1200" dirty="0"/>
          </a:p>
        </p:txBody>
      </p:sp>
      <p:sp>
        <p:nvSpPr>
          <p:cNvPr id="7" name="Shape 4"/>
          <p:cNvSpPr/>
          <p:nvPr/>
        </p:nvSpPr>
        <p:spPr>
          <a:xfrm>
            <a:off x="812810" y="1676370"/>
            <a:ext cx="5181630" cy="3473440"/>
          </a:xfrm>
          <a:prstGeom prst="roundRect">
            <a:avLst>
              <a:gd name="adj" fmla="val 2633"/>
            </a:avLst>
          </a:prstGeom>
          <a:solidFill>
            <a:srgbClr val="1E2433"/>
          </a:solidFill>
          <a:ln/>
        </p:spPr>
      </p:sp>
      <p:sp>
        <p:nvSpPr>
          <p:cNvPr id="8" name="Text 5"/>
          <p:cNvSpPr txBox="1"/>
          <p:nvPr/>
        </p:nvSpPr>
        <p:spPr>
          <a:xfrm>
            <a:off x="990570" y="1828800"/>
            <a:ext cx="4826020" cy="3168670"/>
          </a:xfrm>
          <a:prstGeom prst="rect">
            <a:avLst/>
          </a:prstGeom>
          <a:noFill/>
          <a:ln/>
        </p:spPr>
        <p:txBody>
          <a:bodyPr wrap="square" lIns="0" tIns="0" rIns="0" bIns="0" rtlCol="0" anchor="t"/>
          <a:lstStyle/>
          <a:p>
            <a:pPr marL="0" indent="0">
              <a:lnSpc>
                <a:spcPts val="1560"/>
              </a:lnSpc>
              <a:buNone/>
            </a:pPr>
            <a:r>
              <a:rPr lang="en-US" sz="1200" dirty="0">
                <a:solidFill>
                  <a:srgbClr val="9AA3B5"/>
                </a:solidFill>
                <a:latin typeface="Consolas" pitchFamily="34" charset="0"/>
                <a:ea typeface="Consolas" pitchFamily="34" charset="-122"/>
                <a:cs typeface="Consolas" pitchFamily="34" charset="-120"/>
              </a:rPr>
              <a:t>% flu_kb.pl - toy rule base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ensure_loaded(engine).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top_goal(diagnosis(_)).</a:t>
            </a:r>
            <a:endParaRPr lang="en-US" sz="1200" dirty="0"/>
          </a:p>
          <a:p>
            <a:pPr marL="0" indent="0">
              <a:lnSpc>
                <a:spcPts val="1560"/>
              </a:lnSpc>
              <a:buNone/>
            </a:pPr>
            <a:r>
              <a:rPr lang="en-US" sz="1200" dirty="0">
                <a:solidFill>
                  <a:srgbClr val="F2A65A"/>
                </a:solidFill>
                <a:latin typeface="Consolas" pitchFamily="34" charset="0"/>
                <a:ea typeface="Consolas" pitchFamily="34" charset="-122"/>
                <a:cs typeface="Consolas" pitchFamily="34" charset="-120"/>
              </a:rPr>
              <a:t>m1</a:t>
            </a:r>
            <a:r>
              <a:rPr lang="en-US" sz="1200" dirty="0">
                <a:solidFill>
                  <a:srgbClr val="E6E1D3"/>
                </a:solidFill>
                <a:latin typeface="Consolas" pitchFamily="34" charset="0"/>
                <a:ea typeface="Consolas" pitchFamily="34" charset="-122"/>
                <a:cs typeface="Consolas" pitchFamily="34" charset="-120"/>
              </a:rPr>
              <a:t> :: if has(fever) and has(cough)</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then respiratory_infection.</a:t>
            </a:r>
            <a:endParaRPr lang="en-US" sz="1200" dirty="0"/>
          </a:p>
          <a:p>
            <a:pPr marL="0" indent="0">
              <a:lnSpc>
                <a:spcPts val="1560"/>
              </a:lnSpc>
              <a:buNone/>
            </a:pPr>
            <a:r>
              <a:rPr lang="en-US" sz="1200" dirty="0">
                <a:solidFill>
                  <a:srgbClr val="F2A65A"/>
                </a:solidFill>
                <a:latin typeface="Consolas" pitchFamily="34" charset="0"/>
                <a:ea typeface="Consolas" pitchFamily="34" charset="-122"/>
                <a:cs typeface="Consolas" pitchFamily="34" charset="-120"/>
              </a:rPr>
              <a:t>m2</a:t>
            </a:r>
            <a:r>
              <a:rPr lang="en-US" sz="1200" dirty="0">
                <a:solidFill>
                  <a:srgbClr val="E6E1D3"/>
                </a:solidFill>
                <a:latin typeface="Consolas" pitchFamily="34" charset="0"/>
                <a:ea typeface="Consolas" pitchFamily="34" charset="-122"/>
                <a:cs typeface="Consolas" pitchFamily="34" charset="-120"/>
              </a:rPr>
              <a:t> :: if respiratory_infection</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and has(body_ache) and has(chills)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then diagnosis(flu).</a:t>
            </a:r>
            <a:endParaRPr lang="en-US" sz="1200" dirty="0"/>
          </a:p>
          <a:p>
            <a:pPr marL="0" indent="0">
              <a:lnSpc>
                <a:spcPts val="1560"/>
              </a:lnSpc>
              <a:buNone/>
            </a:pPr>
            <a:r>
              <a:rPr lang="en-US" sz="1200" dirty="0">
                <a:solidFill>
                  <a:srgbClr val="F2A65A"/>
                </a:solidFill>
                <a:latin typeface="Consolas" pitchFamily="34" charset="0"/>
                <a:ea typeface="Consolas" pitchFamily="34" charset="-122"/>
                <a:cs typeface="Consolas" pitchFamily="34" charset="-120"/>
              </a:rPr>
              <a:t>m3</a:t>
            </a:r>
            <a:r>
              <a:rPr lang="en-US" sz="1200" dirty="0">
                <a:solidFill>
                  <a:srgbClr val="E6E1D3"/>
                </a:solidFill>
                <a:latin typeface="Consolas" pitchFamily="34" charset="0"/>
                <a:ea typeface="Consolas" pitchFamily="34" charset="-122"/>
                <a:cs typeface="Consolas" pitchFamily="34" charset="-120"/>
              </a:rPr>
              <a:t> :: if has(sore_throat) and has(runny_nose)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and not(has(fever))</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then diagnosis(common_cold).</a:t>
            </a:r>
            <a:endParaRPr lang="en-US" sz="1200" dirty="0"/>
          </a:p>
          <a:p>
            <a:pPr marL="0" indent="0">
              <a:lnSpc>
                <a:spcPts val="1560"/>
              </a:lnSpc>
              <a:buNone/>
            </a:pPr>
            <a:r>
              <a:rPr lang="en-US" sz="1200" dirty="0">
                <a:solidFill>
                  <a:srgbClr val="F2A65A"/>
                </a:solidFill>
                <a:latin typeface="Consolas" pitchFamily="34" charset="0"/>
                <a:ea typeface="Consolas" pitchFamily="34" charset="-122"/>
                <a:cs typeface="Consolas" pitchFamily="34" charset="-120"/>
              </a:rPr>
              <a:t>m4</a:t>
            </a:r>
            <a:r>
              <a:rPr lang="en-US" sz="1200" dirty="0">
                <a:solidFill>
                  <a:srgbClr val="E6E1D3"/>
                </a:solidFill>
                <a:latin typeface="Consolas" pitchFamily="34" charset="0"/>
                <a:ea typeface="Consolas" pitchFamily="34" charset="-122"/>
                <a:cs typeface="Consolas" pitchFamily="34" charset="-120"/>
              </a:rPr>
              <a:t> :: if has(fever) and has(rash)</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and has(joint_pain)</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then diagnosis(dengue_suspected).</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askable(has(_)).</a:t>
            </a:r>
            <a:endParaRPr lang="en-US" sz="1200" dirty="0"/>
          </a:p>
        </p:txBody>
      </p:sp>
      <p:sp>
        <p:nvSpPr>
          <p:cNvPr id="9" name="Shape 6"/>
          <p:cNvSpPr/>
          <p:nvPr/>
        </p:nvSpPr>
        <p:spPr>
          <a:xfrm>
            <a:off x="6197620" y="1676370"/>
            <a:ext cx="5181630" cy="3473440"/>
          </a:xfrm>
          <a:prstGeom prst="roundRect">
            <a:avLst>
              <a:gd name="adj" fmla="val 2633"/>
            </a:avLst>
          </a:prstGeom>
          <a:solidFill>
            <a:srgbClr val="1E2433"/>
          </a:solidFill>
          <a:ln/>
        </p:spPr>
      </p:sp>
      <p:sp>
        <p:nvSpPr>
          <p:cNvPr id="10" name="Text 7"/>
          <p:cNvSpPr txBox="1"/>
          <p:nvPr/>
        </p:nvSpPr>
        <p:spPr>
          <a:xfrm>
            <a:off x="6375380" y="1828800"/>
            <a:ext cx="4826020" cy="3168670"/>
          </a:xfrm>
          <a:prstGeom prst="rect">
            <a:avLst/>
          </a:prstGeom>
          <a:noFill/>
          <a:ln/>
        </p:spPr>
        <p:txBody>
          <a:bodyPr wrap="square" lIns="0" tIns="0" rIns="0" bIns="0" rtlCol="0" anchor="t"/>
          <a:lstStyle/>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go.</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has(fever)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has(cough)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has(body_ache)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Is it true: has(chills) ? (yes/no/why) </a:t>
            </a:r>
            <a:r>
              <a:rPr lang="en-US" sz="1200" b="1" dirty="0">
                <a:solidFill>
                  <a:srgbClr val="F2A65A"/>
                </a:solidFill>
                <a:latin typeface="Consolas" pitchFamily="34" charset="0"/>
                <a:ea typeface="Consolas" pitchFamily="34" charset="-122"/>
                <a:cs typeface="Consolas" pitchFamily="34" charset="-120"/>
              </a:rPr>
              <a:t>yes.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560"/>
              </a:lnSpc>
              <a:buNone/>
            </a:pPr>
            <a:r>
              <a:rPr lang="en-US" sz="1200" b="1" dirty="0">
                <a:solidFill>
                  <a:srgbClr val="8DB7F5"/>
                </a:solidFill>
                <a:latin typeface="Consolas" pitchFamily="34" charset="0"/>
                <a:ea typeface="Consolas" pitchFamily="34" charset="-122"/>
                <a:cs typeface="Consolas" pitchFamily="34" charset="-120"/>
              </a:rPr>
              <a:t>Conclusion: diagnosis(flu)</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HOW did I conclude this?</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diagnosis(flu)  &lt;- by rule m2</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respiratory_infection  &lt;- by rule m1</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has(fever)  &lt;- you told me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has(cough)  &lt;- you told me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has(body_ache)  &lt;- you told me</a:t>
            </a:r>
            <a:endParaRPr lang="en-US" sz="1200" dirty="0"/>
          </a:p>
          <a:p>
            <a:pPr marL="0" indent="0">
              <a:lnSpc>
                <a:spcPts val="1560"/>
              </a:lnSpc>
              <a:buNone/>
            </a:pPr>
            <a:r>
              <a:rPr lang="en-US" sz="1200" dirty="0">
                <a:solidFill>
                  <a:srgbClr val="E6E1D3"/>
                </a:solidFill>
                <a:latin typeface="Consolas" pitchFamily="34" charset="0"/>
                <a:ea typeface="Consolas" pitchFamily="34" charset="-122"/>
                <a:cs typeface="Consolas" pitchFamily="34" charset="-120"/>
              </a:rPr>
              <a:t>    has(chills)  &lt;- you told me</a:t>
            </a:r>
            <a:endParaRPr lang="en-US" sz="1200" dirty="0"/>
          </a:p>
          <a:p>
            <a:pPr marL="0" indent="0">
              <a:lnSpc>
                <a:spcPts val="1560"/>
              </a:lnSpc>
              <a:buNone/>
            </a:pPr>
            <a:r>
              <a:rPr lang="en-US" sz="1200" dirty="0">
                <a:solidFill>
                  <a:srgbClr val="8DB7F5"/>
                </a:solidFill>
                <a:latin typeface="Consolas" pitchFamily="34" charset="0"/>
                <a:ea typeface="Consolas" pitchFamily="34" charset="-122"/>
                <a:cs typeface="Consolas" pitchFamily="34" charset="-120"/>
              </a:rPr>
              <a:t>true.</a:t>
            </a:r>
            <a:endParaRPr lang="en-US" sz="1200" dirty="0"/>
          </a:p>
        </p:txBody>
      </p:sp>
      <p:sp>
        <p:nvSpPr>
          <p:cNvPr id="11" name="Shape 8"/>
          <p:cNvSpPr/>
          <p:nvPr/>
        </p:nvSpPr>
        <p:spPr>
          <a:xfrm>
            <a:off x="812810" y="5302240"/>
            <a:ext cx="10566441" cy="482620"/>
          </a:xfrm>
          <a:prstGeom prst="roundRect">
            <a:avLst>
              <a:gd name="adj" fmla="val 15157"/>
            </a:avLst>
          </a:prstGeom>
          <a:solidFill>
            <a:srgbClr val="F6E9E1"/>
          </a:solidFill>
          <a:ln/>
        </p:spPr>
      </p:sp>
      <p:sp>
        <p:nvSpPr>
          <p:cNvPr id="12" name="Text 9"/>
          <p:cNvSpPr txBox="1"/>
          <p:nvPr/>
        </p:nvSpPr>
        <p:spPr>
          <a:xfrm>
            <a:off x="990570" y="5302240"/>
            <a:ext cx="10210830" cy="482620"/>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Only the knowledge base changed;</a:t>
            </a:r>
            <a:r>
              <a:rPr lang="en-US" sz="1300" dirty="0">
                <a:solidFill>
                  <a:srgbClr val="1B2233"/>
                </a:solidFill>
                <a:latin typeface="Calibri" pitchFamily="34" charset="0"/>
                <a:ea typeface="Calibri" pitchFamily="34" charset="-122"/>
                <a:cs typeface="Calibri" pitchFamily="34" charset="-120"/>
              </a:rPr>
              <a:t> engine.pl is reused as is. A teaching toy, not medical advice.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05 · CASE STUDIES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Case study 1: MYCIN, rule-based diagnosis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Buchanan &amp; Shortliffe (1984); Yu et al. (1979); Russell &amp; Norvig (2020), Ch. 1</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25</a:t>
            </a:r>
            <a:endParaRPr lang="en-US" sz="1200" dirty="0"/>
          </a:p>
        </p:txBody>
      </p:sp>
      <p:sp>
        <p:nvSpPr>
          <p:cNvPr id="7" name="Text 4"/>
          <p:cNvSpPr txBox="1"/>
          <p:nvPr/>
        </p:nvSpPr>
        <p:spPr>
          <a:xfrm>
            <a:off x="812810" y="1676370"/>
            <a:ext cx="6223041" cy="228600"/>
          </a:xfrm>
          <a:prstGeom prst="rect">
            <a:avLst/>
          </a:prstGeom>
          <a:noFill/>
          <a:ln/>
        </p:spPr>
        <p:txBody>
          <a:bodyPr wrap="square" lIns="0" tIns="0" rIns="0" bIns="0" rtlCol="0" anchor="t"/>
          <a:lstStyle/>
          <a:p>
            <a:pPr marL="0" indent="0">
              <a:buNone/>
            </a:pPr>
            <a:r>
              <a:rPr lang="en-US" sz="1200" b="1" kern="0" spc="200" dirty="0">
                <a:solidFill>
                  <a:srgbClr val="5F6573"/>
                </a:solidFill>
                <a:latin typeface="Calibri" pitchFamily="34" charset="0"/>
                <a:ea typeface="Calibri" pitchFamily="34" charset="-122"/>
                <a:cs typeface="Calibri" pitchFamily="34" charset="-120"/>
              </a:rPr>
              <a:t>WHAT HAPPENED</a:t>
            </a:r>
            <a:endParaRPr lang="en-US" sz="1200" dirty="0"/>
          </a:p>
        </p:txBody>
      </p:sp>
      <p:sp>
        <p:nvSpPr>
          <p:cNvPr id="8" name="Text 5"/>
          <p:cNvSpPr txBox="1"/>
          <p:nvPr/>
        </p:nvSpPr>
        <p:spPr>
          <a:xfrm>
            <a:off x="812810" y="1981230"/>
            <a:ext cx="6223041" cy="3810030"/>
          </a:xfrm>
          <a:prstGeom prst="rect">
            <a:avLst/>
          </a:prstGeom>
          <a:noFill/>
          <a:ln/>
        </p:spPr>
        <p:txBody>
          <a:bodyPr wrap="square" lIns="0" tIns="0" rIns="0" bIns="0" rtlCol="0" anchor="t"/>
          <a:lstStyle/>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Built at Stanford in the 1970s (Shortliffe, Buchanan) to identify the bacteria behind blood infections and meningitis, and to recommend antibiotics.</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About 450 IF-THEN rules used by backward chaining from the goal "which organism?", asking the doctor for missing lab facts, just like our demo.</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Pioneered WHY and HOW explanations; each rule carried a certainty factor to handle uncertain evidence.</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In a blinded evaluation its therapy choices were rated at least as good as those of Stanford infectious-disease experts (Yu et al., 1979).</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Yet it was never used routinely in hospitals: legal responsibility, ethics and slow typed consultations stood in the way.</a:t>
            </a:r>
            <a:endParaRPr lang="en-US" sz="1400" dirty="0"/>
          </a:p>
        </p:txBody>
      </p:sp>
      <p:sp>
        <p:nvSpPr>
          <p:cNvPr id="9" name="Shape 6"/>
          <p:cNvSpPr/>
          <p:nvPr/>
        </p:nvSpPr>
        <p:spPr>
          <a:xfrm>
            <a:off x="7289780" y="1676370"/>
            <a:ext cx="4089380" cy="1904970"/>
          </a:xfrm>
          <a:prstGeom prst="roundRect">
            <a:avLst>
              <a:gd name="adj" fmla="val 4800"/>
            </a:avLst>
          </a:prstGeom>
          <a:solidFill>
            <a:srgbClr val="1E2433"/>
          </a:solidFill>
          <a:ln/>
        </p:spPr>
      </p:sp>
      <p:sp>
        <p:nvSpPr>
          <p:cNvPr id="10" name="Text 7"/>
          <p:cNvSpPr txBox="1"/>
          <p:nvPr/>
        </p:nvSpPr>
        <p:spPr>
          <a:xfrm>
            <a:off x="7467630" y="1828800"/>
            <a:ext cx="3733770" cy="1625620"/>
          </a:xfrm>
          <a:prstGeom prst="rect">
            <a:avLst/>
          </a:prstGeom>
          <a:noFill/>
          <a:ln/>
        </p:spPr>
        <p:txBody>
          <a:bodyPr wrap="square" lIns="0" tIns="0" rIns="0" bIns="0" rtlCol="0" anchor="t"/>
          <a:lstStyle/>
          <a:p>
            <a:pPr marL="0" indent="0">
              <a:lnSpc>
                <a:spcPct val="120000"/>
              </a:lnSpc>
              <a:spcAft>
                <a:spcPts val="800"/>
              </a:spcAft>
              <a:buNone/>
            </a:pPr>
            <a:r>
              <a:rPr lang="en-US" sz="1400" b="1" dirty="0">
                <a:solidFill>
                  <a:srgbClr val="F3EFE4"/>
                </a:solidFill>
                <a:latin typeface="Calibri" pitchFamily="34" charset="0"/>
                <a:ea typeface="Calibri" pitchFamily="34" charset="-122"/>
                <a:cs typeface="Calibri" pitchFamily="34" charset="-120"/>
              </a:rPr>
              <a:t>A MYCIN rule (paraphrased)</a:t>
            </a:r>
            <a:endParaRPr lang="en-US" sz="1200" dirty="0"/>
          </a:p>
          <a:p>
            <a:pPr marL="0" indent="0">
              <a:lnSpc>
                <a:spcPct val="120000"/>
              </a:lnSpc>
              <a:buNone/>
            </a:pPr>
            <a:r>
              <a:rPr lang="en-US" sz="1200" dirty="0">
                <a:solidFill>
                  <a:srgbClr val="F2A65A"/>
                </a:solidFill>
                <a:latin typeface="Calibri" pitchFamily="34" charset="0"/>
                <a:ea typeface="Calibri" pitchFamily="34" charset="-122"/>
                <a:cs typeface="Calibri" pitchFamily="34" charset="-120"/>
              </a:rPr>
              <a:t>IF </a:t>
            </a:r>
            <a:r>
              <a:rPr lang="en-US" sz="1200" dirty="0">
                <a:solidFill>
                  <a:srgbClr val="C9D1E0"/>
                </a:solidFill>
                <a:latin typeface="Calibri" pitchFamily="34" charset="0"/>
                <a:ea typeface="Calibri" pitchFamily="34" charset="-122"/>
                <a:cs typeface="Calibri" pitchFamily="34" charset="-120"/>
              </a:rPr>
              <a:t>the stain of the organism is gram-negative</a:t>
            </a:r>
            <a:endParaRPr lang="en-US" sz="1200" dirty="0"/>
          </a:p>
          <a:p>
            <a:pPr marL="0" indent="0">
              <a:lnSpc>
                <a:spcPct val="120000"/>
              </a:lnSpc>
              <a:buNone/>
            </a:pPr>
            <a:r>
              <a:rPr lang="en-US" sz="1200" dirty="0">
                <a:solidFill>
                  <a:srgbClr val="F2A65A"/>
                </a:solidFill>
                <a:latin typeface="Calibri" pitchFamily="34" charset="0"/>
                <a:ea typeface="Calibri" pitchFamily="34" charset="-122"/>
                <a:cs typeface="Calibri" pitchFamily="34" charset="-120"/>
              </a:rPr>
              <a:t>AND </a:t>
            </a:r>
            <a:r>
              <a:rPr lang="en-US" sz="1200" dirty="0">
                <a:solidFill>
                  <a:srgbClr val="C9D1E0"/>
                </a:solidFill>
                <a:latin typeface="Calibri" pitchFamily="34" charset="0"/>
                <a:ea typeface="Calibri" pitchFamily="34" charset="-122"/>
                <a:cs typeface="Calibri" pitchFamily="34" charset="-120"/>
              </a:rPr>
              <a:t>its morphology is rod</a:t>
            </a:r>
            <a:endParaRPr lang="en-US" sz="1200" dirty="0"/>
          </a:p>
          <a:p>
            <a:pPr marL="0" indent="0">
              <a:lnSpc>
                <a:spcPct val="120000"/>
              </a:lnSpc>
              <a:buNone/>
            </a:pPr>
            <a:r>
              <a:rPr lang="en-US" sz="1200" dirty="0">
                <a:solidFill>
                  <a:srgbClr val="F2A65A"/>
                </a:solidFill>
                <a:latin typeface="Calibri" pitchFamily="34" charset="0"/>
                <a:ea typeface="Calibri" pitchFamily="34" charset="-122"/>
                <a:cs typeface="Calibri" pitchFamily="34" charset="-120"/>
              </a:rPr>
              <a:t>AND </a:t>
            </a:r>
            <a:r>
              <a:rPr lang="en-US" sz="1200" dirty="0">
                <a:solidFill>
                  <a:srgbClr val="C9D1E0"/>
                </a:solidFill>
                <a:latin typeface="Calibri" pitchFamily="34" charset="0"/>
                <a:ea typeface="Calibri" pitchFamily="34" charset="-122"/>
                <a:cs typeface="Calibri" pitchFamily="34" charset="-120"/>
              </a:rPr>
              <a:t>it is anaerobic</a:t>
            </a:r>
            <a:endParaRPr lang="en-US" sz="1200" dirty="0"/>
          </a:p>
          <a:p>
            <a:pPr marL="0" indent="0">
              <a:lnSpc>
                <a:spcPct val="120000"/>
              </a:lnSpc>
              <a:buNone/>
            </a:pPr>
            <a:r>
              <a:rPr lang="en-US" sz="1200" dirty="0">
                <a:solidFill>
                  <a:srgbClr val="F2A65A"/>
                </a:solidFill>
                <a:latin typeface="Calibri" pitchFamily="34" charset="0"/>
                <a:ea typeface="Calibri" pitchFamily="34" charset="-122"/>
                <a:cs typeface="Calibri" pitchFamily="34" charset="-120"/>
              </a:rPr>
              <a:t>THEN </a:t>
            </a:r>
            <a:r>
              <a:rPr lang="en-US" sz="1200" dirty="0">
                <a:solidFill>
                  <a:srgbClr val="C9D1E0"/>
                </a:solidFill>
                <a:latin typeface="Calibri" pitchFamily="34" charset="0"/>
                <a:ea typeface="Calibri" pitchFamily="34" charset="-122"/>
                <a:cs typeface="Calibri" pitchFamily="34" charset="-120"/>
              </a:rPr>
              <a:t>suggestive evidence (0.6) that it is bacteroides</a:t>
            </a:r>
            <a:endParaRPr lang="en-US" sz="1200" dirty="0"/>
          </a:p>
        </p:txBody>
      </p:sp>
      <p:sp>
        <p:nvSpPr>
          <p:cNvPr id="11" name="Shape 8"/>
          <p:cNvSpPr/>
          <p:nvPr/>
        </p:nvSpPr>
        <p:spPr>
          <a:xfrm>
            <a:off x="7289780" y="3759190"/>
            <a:ext cx="4089380" cy="1460480"/>
          </a:xfrm>
          <a:prstGeom prst="roundRect">
            <a:avLst>
              <a:gd name="adj" fmla="val 6261"/>
            </a:avLst>
          </a:prstGeom>
          <a:solidFill>
            <a:srgbClr val="F6E9E1"/>
          </a:solidFill>
          <a:ln/>
        </p:spPr>
      </p:sp>
      <p:sp>
        <p:nvSpPr>
          <p:cNvPr id="12" name="Text 9"/>
          <p:cNvSpPr txBox="1"/>
          <p:nvPr/>
        </p:nvSpPr>
        <p:spPr>
          <a:xfrm>
            <a:off x="7467630" y="3911620"/>
            <a:ext cx="375919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Lesson learned</a:t>
            </a:r>
            <a:endParaRPr lang="en-US" sz="1500" dirty="0"/>
          </a:p>
        </p:txBody>
      </p:sp>
      <p:sp>
        <p:nvSpPr>
          <p:cNvPr id="13" name="Text 10"/>
          <p:cNvSpPr txBox="1"/>
          <p:nvPr/>
        </p:nvSpPr>
        <p:spPr>
          <a:xfrm>
            <a:off x="7467630" y="4216390"/>
            <a:ext cx="3733770" cy="90169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Accuracy and explanation are not enough: an expert system must fit the workflow and settle who is responsible.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05 · CASE STUDIES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Case study 2: the British Nationality Act in Prolog</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 Sergot et al. (1986), Communications of the ACM 29(5)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26</a:t>
            </a:r>
            <a:endParaRPr lang="en-US" sz="1200" dirty="0"/>
          </a:p>
        </p:txBody>
      </p:sp>
      <p:sp>
        <p:nvSpPr>
          <p:cNvPr id="7" name="Text 4"/>
          <p:cNvSpPr txBox="1"/>
          <p:nvPr/>
        </p:nvSpPr>
        <p:spPr>
          <a:xfrm>
            <a:off x="812810" y="1676370"/>
            <a:ext cx="5486400" cy="228600"/>
          </a:xfrm>
          <a:prstGeom prst="rect">
            <a:avLst/>
          </a:prstGeom>
          <a:noFill/>
          <a:ln/>
        </p:spPr>
        <p:txBody>
          <a:bodyPr wrap="square" lIns="0" tIns="0" rIns="0" bIns="0" rtlCol="0" anchor="t"/>
          <a:lstStyle/>
          <a:p>
            <a:pPr marL="0" indent="0">
              <a:buNone/>
            </a:pPr>
            <a:r>
              <a:rPr lang="en-US" sz="1200" b="1" kern="0" spc="200" dirty="0">
                <a:solidFill>
                  <a:srgbClr val="5F6573"/>
                </a:solidFill>
                <a:latin typeface="Calibri" pitchFamily="34" charset="0"/>
                <a:ea typeface="Calibri" pitchFamily="34" charset="-122"/>
                <a:cs typeface="Calibri" pitchFamily="34" charset="-120"/>
              </a:rPr>
              <a:t>WHAT HAPPENED</a:t>
            </a:r>
            <a:endParaRPr lang="en-US" sz="1200" dirty="0"/>
          </a:p>
        </p:txBody>
      </p:sp>
      <p:sp>
        <p:nvSpPr>
          <p:cNvPr id="8" name="Text 5"/>
          <p:cNvSpPr txBox="1"/>
          <p:nvPr/>
        </p:nvSpPr>
        <p:spPr>
          <a:xfrm>
            <a:off x="812810" y="1981230"/>
            <a:ext cx="5486400" cy="3810030"/>
          </a:xfrm>
          <a:prstGeom prst="rect">
            <a:avLst/>
          </a:prstGeom>
          <a:noFill/>
          <a:ln/>
        </p:spPr>
        <p:txBody>
          <a:bodyPr wrap="square" lIns="0" tIns="0" rIns="0" bIns="0" rtlCol="0" anchor="t"/>
          <a:lstStyle/>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In 1986 Sergot, Kowalski and colleagues at Imperial College London translated the British Nationality Act 1981 into Prolog rules.</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Each section of the Act became a clause; asking "is X a British citizen?" runs backward chaining over the law itself.</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Missing facts (place and date of birth, parents' status) are asked of the user: the same pattern as our shell.</a:t>
            </a:r>
            <a:endParaRPr lang="en-US" sz="1400" dirty="0"/>
          </a:p>
          <a:p>
            <a:pPr marL="254000" indent="-254000">
              <a:lnSpc>
                <a:spcPct val="110000"/>
              </a:lnSpc>
              <a:spcAft>
                <a:spcPts val="1200"/>
              </a:spcAft>
              <a:buSzPct val="100000"/>
              <a:buChar char="•"/>
            </a:pPr>
            <a:r>
              <a:rPr lang="en-US" sz="1400" dirty="0">
                <a:solidFill>
                  <a:srgbClr val="1B2233"/>
                </a:solidFill>
                <a:latin typeface="Calibri" pitchFamily="34" charset="0"/>
                <a:ea typeface="Calibri" pitchFamily="34" charset="-122"/>
                <a:cs typeface="Calibri" pitchFamily="34" charset="-120"/>
              </a:rPr>
              <a:t>Formalising the text exposed ambiguities, such as the clause on abandoned new-born infants, which relies on default reasoning.</a:t>
            </a:r>
            <a:endParaRPr lang="en-US" sz="1400" dirty="0"/>
          </a:p>
        </p:txBody>
      </p:sp>
      <p:sp>
        <p:nvSpPr>
          <p:cNvPr id="9" name="Shape 6"/>
          <p:cNvSpPr/>
          <p:nvPr/>
        </p:nvSpPr>
        <p:spPr>
          <a:xfrm>
            <a:off x="6553230" y="1676370"/>
            <a:ext cx="4826020" cy="1587490"/>
          </a:xfrm>
          <a:prstGeom prst="roundRect">
            <a:avLst>
              <a:gd name="adj" fmla="val 5760"/>
            </a:avLst>
          </a:prstGeom>
          <a:solidFill>
            <a:srgbClr val="1E2433"/>
          </a:solidFill>
          <a:ln/>
        </p:spPr>
      </p:sp>
      <p:sp>
        <p:nvSpPr>
          <p:cNvPr id="10" name="Text 7"/>
          <p:cNvSpPr txBox="1"/>
          <p:nvPr/>
        </p:nvSpPr>
        <p:spPr>
          <a:xfrm>
            <a:off x="6730990" y="1828800"/>
            <a:ext cx="4470410" cy="128272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BNA 1981, s.1(1), simplified</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british_citizen(X)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born_in_uk(X),</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born_after_commencement(X),</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parent(Y, X),</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 british_citizen(Y) ; settled_in_uk(Y) ).</a:t>
            </a:r>
            <a:endParaRPr lang="en-US" sz="1200" dirty="0"/>
          </a:p>
        </p:txBody>
      </p:sp>
      <p:sp>
        <p:nvSpPr>
          <p:cNvPr id="11" name="Shape 8"/>
          <p:cNvSpPr/>
          <p:nvPr/>
        </p:nvSpPr>
        <p:spPr>
          <a:xfrm>
            <a:off x="6553230" y="3441710"/>
            <a:ext cx="4826020" cy="1460480"/>
          </a:xfrm>
          <a:prstGeom prst="roundRect">
            <a:avLst>
              <a:gd name="adj" fmla="val 6261"/>
            </a:avLst>
          </a:prstGeom>
          <a:solidFill>
            <a:srgbClr val="F6E9E1"/>
          </a:solidFill>
          <a:ln/>
        </p:spPr>
      </p:sp>
      <p:sp>
        <p:nvSpPr>
          <p:cNvPr id="12" name="Text 9"/>
          <p:cNvSpPr txBox="1"/>
          <p:nvPr/>
        </p:nvSpPr>
        <p:spPr>
          <a:xfrm>
            <a:off x="6730990" y="3594141"/>
            <a:ext cx="4495830" cy="304770"/>
          </a:xfrm>
          <a:prstGeom prst="rect">
            <a:avLst/>
          </a:prstGeom>
          <a:noFill/>
          <a:ln/>
        </p:spPr>
        <p:txBody>
          <a:bodyPr wrap="square" lIns="0" tIns="0" rIns="0" bIns="0" rtlCol="0" anchor="t"/>
          <a:lstStyle/>
          <a:p>
            <a:pPr marL="0" indent="0">
              <a:buNone/>
            </a:pPr>
            <a:r>
              <a:rPr lang="en-US" sz="1500" b="1" dirty="0">
                <a:solidFill>
                  <a:srgbClr val="1B2233"/>
                </a:solidFill>
                <a:latin typeface="Calibri" pitchFamily="34" charset="0"/>
                <a:ea typeface="Calibri" pitchFamily="34" charset="-122"/>
                <a:cs typeface="Calibri" pitchFamily="34" charset="-120"/>
              </a:rPr>
              <a:t>Lesson learned</a:t>
            </a:r>
            <a:endParaRPr lang="en-US" sz="1500" dirty="0"/>
          </a:p>
        </p:txBody>
      </p:sp>
      <p:sp>
        <p:nvSpPr>
          <p:cNvPr id="13" name="Text 10"/>
          <p:cNvSpPr txBox="1"/>
          <p:nvPr/>
        </p:nvSpPr>
        <p:spPr>
          <a:xfrm>
            <a:off x="6730990" y="3898910"/>
            <a:ext cx="4470410" cy="90169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Writing rules as executable logic makes them testable, and it shows exactly where the source text is vague or depends on defaults.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05 · CASE STUDIES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Case study 3: Prolog rules in large real systems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Lally &amp; Fodor (2011); Rayner et al. (2005)</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27</a:t>
            </a:r>
            <a:endParaRPr lang="en-US" sz="1200" dirty="0"/>
          </a:p>
        </p:txBody>
      </p:sp>
      <p:sp>
        <p:nvSpPr>
          <p:cNvPr id="7" name="Shape 4"/>
          <p:cNvSpPr/>
          <p:nvPr/>
        </p:nvSpPr>
        <p:spPr>
          <a:xfrm>
            <a:off x="812810" y="1676370"/>
            <a:ext cx="5181630" cy="4063959"/>
          </a:xfrm>
          <a:prstGeom prst="roundRect">
            <a:avLst>
              <a:gd name="adj" fmla="val 2250"/>
            </a:avLst>
          </a:prstGeom>
          <a:solidFill>
            <a:srgbClr val="FFFFFF"/>
          </a:solidFill>
          <a:ln w="12700">
            <a:solidFill>
              <a:srgbClr val="E3E1DA"/>
            </a:solidFill>
            <a:prstDash val="solid"/>
          </a:ln>
        </p:spPr>
      </p:sp>
      <p:sp>
        <p:nvSpPr>
          <p:cNvPr id="8" name="Shape 5"/>
          <p:cNvSpPr/>
          <p:nvPr/>
        </p:nvSpPr>
        <p:spPr>
          <a:xfrm>
            <a:off x="1041410" y="1879641"/>
            <a:ext cx="355610" cy="355610"/>
          </a:xfrm>
          <a:prstGeom prst="ellipse">
            <a:avLst/>
          </a:prstGeom>
          <a:solidFill>
            <a:srgbClr val="2F5DA8"/>
          </a:solidFill>
          <a:ln/>
        </p:spPr>
      </p:sp>
      <p:sp>
        <p:nvSpPr>
          <p:cNvPr id="9" name="Text 6"/>
          <p:cNvSpPr txBox="1"/>
          <p:nvPr/>
        </p:nvSpPr>
        <p:spPr>
          <a:xfrm>
            <a:off x="1041410" y="1879641"/>
            <a:ext cx="355610" cy="35561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524030" y="1879641"/>
            <a:ext cx="4292559" cy="35561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IBM Watson: Jeopardy! (2011)</a:t>
            </a:r>
            <a:endParaRPr lang="en-US" sz="1700" dirty="0"/>
          </a:p>
        </p:txBody>
      </p:sp>
      <p:sp>
        <p:nvSpPr>
          <p:cNvPr id="11" name="Text 8"/>
          <p:cNvSpPr txBox="1"/>
          <p:nvPr/>
        </p:nvSpPr>
        <p:spPr>
          <a:xfrm>
            <a:off x="1041410" y="2438430"/>
            <a:ext cx="4724430" cy="1777959"/>
          </a:xfrm>
          <a:prstGeom prst="rect">
            <a:avLst/>
          </a:prstGeom>
          <a:noFill/>
          <a:ln/>
        </p:spPr>
        <p:txBody>
          <a:bodyPr wrap="square" lIns="0" tIns="0" rIns="0" bIns="0" rtlCol="0" anchor="t"/>
          <a:lstStyle/>
          <a:p>
            <a:pPr marL="254000" indent="-254000">
              <a:lnSpc>
                <a:spcPct val="110000"/>
              </a:lnSpc>
              <a:spcAft>
                <a:spcPts val="1200"/>
              </a:spcAft>
              <a:buSzPct val="100000"/>
              <a:buChar char="•"/>
            </a:pPr>
            <a:r>
              <a:rPr lang="en-US" sz="1400" dirty="0">
                <a:solidFill>
                  <a:srgbClr val="4A5264"/>
                </a:solidFill>
                <a:latin typeface="Calibri" pitchFamily="34" charset="0"/>
                <a:ea typeface="Calibri" pitchFamily="34" charset="-122"/>
                <a:cs typeface="Calibri" pitchFamily="34" charset="-120"/>
              </a:rPr>
              <a:t>Watson beat two human champions on the Jeopardy! quiz show.</a:t>
            </a:r>
            <a:endParaRPr lang="en-US" sz="1400" dirty="0"/>
          </a:p>
          <a:p>
            <a:pPr marL="254000" indent="-254000">
              <a:lnSpc>
                <a:spcPct val="110000"/>
              </a:lnSpc>
              <a:spcAft>
                <a:spcPts val="1200"/>
              </a:spcAft>
              <a:buSzPct val="100000"/>
              <a:buChar char="•"/>
            </a:pPr>
            <a:r>
              <a:rPr lang="en-US" sz="1400" dirty="0">
                <a:solidFill>
                  <a:srgbClr val="4A5264"/>
                </a:solidFill>
                <a:latin typeface="Calibri" pitchFamily="34" charset="0"/>
                <a:ea typeface="Calibri" pitchFamily="34" charset="-122"/>
                <a:cs typeface="Calibri" pitchFamily="34" charset="-120"/>
              </a:rPr>
              <a:t>Prolog rules matched patterns in the parsed question, e.g. finding its focus and the type of answer wanted.</a:t>
            </a:r>
            <a:endParaRPr lang="en-US" sz="1400" dirty="0"/>
          </a:p>
        </p:txBody>
      </p:sp>
      <p:sp>
        <p:nvSpPr>
          <p:cNvPr id="12" name="Shape 9"/>
          <p:cNvSpPr/>
          <p:nvPr/>
        </p:nvSpPr>
        <p:spPr>
          <a:xfrm>
            <a:off x="1041410" y="4406859"/>
            <a:ext cx="4724430" cy="1079541"/>
          </a:xfrm>
          <a:prstGeom prst="roundRect">
            <a:avLst>
              <a:gd name="adj" fmla="val 6776"/>
            </a:avLst>
          </a:prstGeom>
          <a:solidFill>
            <a:srgbClr val="EFEEE9"/>
          </a:solidFill>
          <a:ln/>
        </p:spPr>
      </p:sp>
      <p:sp>
        <p:nvSpPr>
          <p:cNvPr id="13" name="Text 10"/>
          <p:cNvSpPr txBox="1"/>
          <p:nvPr/>
        </p:nvSpPr>
        <p:spPr>
          <a:xfrm>
            <a:off x="1219170" y="4406859"/>
            <a:ext cx="4368820" cy="1079541"/>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Lesson:</a:t>
            </a:r>
            <a:r>
              <a:rPr lang="en-US" sz="1300" dirty="0">
                <a:solidFill>
                  <a:srgbClr val="1B2233"/>
                </a:solidFill>
                <a:latin typeface="Calibri" pitchFamily="34" charset="0"/>
                <a:ea typeface="Calibri" pitchFamily="34" charset="-122"/>
                <a:cs typeface="Calibri" pitchFamily="34" charset="-120"/>
              </a:rPr>
              <a:t> rules and statistics work together; rules captured precise language patterns, machine learning weighed the evidence.</a:t>
            </a:r>
            <a:endParaRPr lang="en-US" sz="1300" dirty="0"/>
          </a:p>
        </p:txBody>
      </p:sp>
      <p:sp>
        <p:nvSpPr>
          <p:cNvPr id="14" name="Shape 11"/>
          <p:cNvSpPr/>
          <p:nvPr/>
        </p:nvSpPr>
        <p:spPr>
          <a:xfrm>
            <a:off x="6197620" y="1676370"/>
            <a:ext cx="5181630" cy="4063959"/>
          </a:xfrm>
          <a:prstGeom prst="roundRect">
            <a:avLst>
              <a:gd name="adj" fmla="val 2250"/>
            </a:avLst>
          </a:prstGeom>
          <a:solidFill>
            <a:srgbClr val="FFFFFF"/>
          </a:solidFill>
          <a:ln w="12700">
            <a:solidFill>
              <a:srgbClr val="E3E1DA"/>
            </a:solidFill>
            <a:prstDash val="solid"/>
          </a:ln>
        </p:spPr>
      </p:sp>
      <p:sp>
        <p:nvSpPr>
          <p:cNvPr id="15" name="Shape 12"/>
          <p:cNvSpPr/>
          <p:nvPr/>
        </p:nvSpPr>
        <p:spPr>
          <a:xfrm>
            <a:off x="6426220" y="1879641"/>
            <a:ext cx="355610" cy="355610"/>
          </a:xfrm>
          <a:prstGeom prst="ellipse">
            <a:avLst/>
          </a:prstGeom>
          <a:solidFill>
            <a:srgbClr val="2F5DA8"/>
          </a:solidFill>
          <a:ln/>
        </p:spPr>
      </p:sp>
      <p:sp>
        <p:nvSpPr>
          <p:cNvPr id="16" name="Text 13"/>
          <p:cNvSpPr txBox="1"/>
          <p:nvPr/>
        </p:nvSpPr>
        <p:spPr>
          <a:xfrm>
            <a:off x="6426220" y="1879641"/>
            <a:ext cx="355610" cy="35561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6908841" y="1879641"/>
            <a:ext cx="4292559" cy="355610"/>
          </a:xfrm>
          <a:prstGeom prst="rect">
            <a:avLst/>
          </a:prstGeom>
          <a:noFill/>
          <a:ln/>
        </p:spPr>
        <p:txBody>
          <a:bodyPr wrap="square" lIns="0" tIns="0" rIns="0" bIns="0" rtlCol="0" anchor="ctr"/>
          <a:lstStyle/>
          <a:p>
            <a:pPr marL="0" indent="0">
              <a:buNone/>
            </a:pPr>
            <a:r>
              <a:rPr lang="en-US" sz="1700" b="1" dirty="0">
                <a:solidFill>
                  <a:srgbClr val="1B2233"/>
                </a:solidFill>
                <a:latin typeface="Calibri" pitchFamily="34" charset="0"/>
                <a:ea typeface="Calibri" pitchFamily="34" charset="-122"/>
                <a:cs typeface="Calibri" pitchFamily="34" charset="-120"/>
              </a:rPr>
              <a:t>NASA Clarissa: Space Station (2005)</a:t>
            </a:r>
            <a:endParaRPr lang="en-US" sz="1700" dirty="0"/>
          </a:p>
        </p:txBody>
      </p:sp>
      <p:sp>
        <p:nvSpPr>
          <p:cNvPr id="18" name="Text 15"/>
          <p:cNvSpPr txBox="1"/>
          <p:nvPr/>
        </p:nvSpPr>
        <p:spPr>
          <a:xfrm>
            <a:off x="6426220" y="2438430"/>
            <a:ext cx="4724430" cy="1777959"/>
          </a:xfrm>
          <a:prstGeom prst="rect">
            <a:avLst/>
          </a:prstGeom>
          <a:noFill/>
          <a:ln/>
        </p:spPr>
        <p:txBody>
          <a:bodyPr wrap="square" lIns="0" tIns="0" rIns="0" bIns="0" rtlCol="0" anchor="t"/>
          <a:lstStyle/>
          <a:p>
            <a:pPr marL="254000" indent="-254000">
              <a:lnSpc>
                <a:spcPct val="110000"/>
              </a:lnSpc>
              <a:spcAft>
                <a:spcPts val="1200"/>
              </a:spcAft>
              <a:buSzPct val="100000"/>
              <a:buChar char="•"/>
            </a:pPr>
            <a:r>
              <a:rPr lang="en-US" sz="1400" dirty="0">
                <a:solidFill>
                  <a:srgbClr val="4A5264"/>
                </a:solidFill>
                <a:latin typeface="Calibri" pitchFamily="34" charset="0"/>
                <a:ea typeface="Calibri" pitchFamily="34" charset="-122"/>
                <a:cs typeface="Calibri" pitchFamily="34" charset="-120"/>
              </a:rPr>
              <a:t>A voice-operated procedure browser that reads steps aloud, so astronauts keep their hands free.</a:t>
            </a:r>
            <a:endParaRPr lang="en-US" sz="1400" dirty="0"/>
          </a:p>
          <a:p>
            <a:pPr marL="254000" indent="-254000">
              <a:lnSpc>
                <a:spcPct val="110000"/>
              </a:lnSpc>
              <a:spcAft>
                <a:spcPts val="1200"/>
              </a:spcAft>
              <a:buSzPct val="100000"/>
              <a:buChar char="•"/>
            </a:pPr>
            <a:r>
              <a:rPr lang="en-US" sz="1400" dirty="0">
                <a:solidFill>
                  <a:srgbClr val="4A5264"/>
                </a:solidFill>
                <a:latin typeface="Calibri" pitchFamily="34" charset="0"/>
                <a:ea typeface="Calibri" pitchFamily="34" charset="-122"/>
                <a:cs typeface="Calibri" pitchFamily="34" charset="-120"/>
              </a:rPr>
              <a:t>Its language rules were written in Prolog with the Regulus toolkit and compiled into the speech recogniser.</a:t>
            </a:r>
            <a:endParaRPr lang="en-US" sz="1400" dirty="0"/>
          </a:p>
        </p:txBody>
      </p:sp>
      <p:sp>
        <p:nvSpPr>
          <p:cNvPr id="19" name="Shape 16"/>
          <p:cNvSpPr/>
          <p:nvPr/>
        </p:nvSpPr>
        <p:spPr>
          <a:xfrm>
            <a:off x="6426220" y="4406859"/>
            <a:ext cx="4724430" cy="1079541"/>
          </a:xfrm>
          <a:prstGeom prst="roundRect">
            <a:avLst>
              <a:gd name="adj" fmla="val 6776"/>
            </a:avLst>
          </a:prstGeom>
          <a:solidFill>
            <a:srgbClr val="EFEEE9"/>
          </a:solidFill>
          <a:ln/>
        </p:spPr>
      </p:sp>
      <p:sp>
        <p:nvSpPr>
          <p:cNvPr id="20" name="Text 17"/>
          <p:cNvSpPr txBox="1"/>
          <p:nvPr/>
        </p:nvSpPr>
        <p:spPr>
          <a:xfrm>
            <a:off x="6603980" y="4406859"/>
            <a:ext cx="4368820" cy="1079541"/>
          </a:xfrm>
          <a:prstGeom prst="rect">
            <a:avLst/>
          </a:prstGeom>
          <a:noFill/>
          <a:ln/>
        </p:spPr>
        <p:txBody>
          <a:bodyPr wrap="square" lIns="0" tIns="0" rIns="0" bIns="0" rtlCol="0" anchor="ctr"/>
          <a:lstStyle/>
          <a:p>
            <a:pPr marL="0" indent="0">
              <a:lnSpc>
                <a:spcPct val="110000"/>
              </a:lnSpc>
              <a:buNone/>
            </a:pPr>
            <a:r>
              <a:rPr lang="en-US" sz="1300" b="1" dirty="0">
                <a:solidFill>
                  <a:srgbClr val="1B2233"/>
                </a:solidFill>
                <a:latin typeface="Calibri" pitchFamily="34" charset="0"/>
                <a:ea typeface="Calibri" pitchFamily="34" charset="-122"/>
                <a:cs typeface="Calibri" pitchFamily="34" charset="-120"/>
              </a:rPr>
              <a:t>Lesson:</a:t>
            </a:r>
            <a:r>
              <a:rPr lang="en-US" sz="1300" dirty="0">
                <a:solidFill>
                  <a:srgbClr val="1B2233"/>
                </a:solidFill>
                <a:latin typeface="Calibri" pitchFamily="34" charset="0"/>
                <a:ea typeface="Calibri" pitchFamily="34" charset="-122"/>
                <a:cs typeface="Calibri" pitchFamily="34" charset="-120"/>
              </a:rPr>
              <a:t> declarative rules are compact and inspectable, which matters where software must be trusted.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06 · LIMITATIONS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Limitations of rule-based expert systems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Durkin (1994); Russell &amp; Norvig (2020), Ch. 1; Giarratano &amp; Riley (2005); Clancey (1983)</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28</a:t>
            </a:r>
            <a:endParaRPr lang="en-US" sz="1200" dirty="0"/>
          </a:p>
        </p:txBody>
      </p:sp>
      <p:sp>
        <p:nvSpPr>
          <p:cNvPr id="7" name="Shape 4"/>
          <p:cNvSpPr/>
          <p:nvPr/>
        </p:nvSpPr>
        <p:spPr>
          <a:xfrm>
            <a:off x="812810" y="1701790"/>
            <a:ext cx="3384560" cy="1841510"/>
          </a:xfrm>
          <a:prstGeom prst="roundRect">
            <a:avLst>
              <a:gd name="adj" fmla="val 4965"/>
            </a:avLst>
          </a:prstGeom>
          <a:solidFill>
            <a:srgbClr val="FFFFFF"/>
          </a:solidFill>
          <a:ln w="12700">
            <a:solidFill>
              <a:srgbClr val="E3E1DA"/>
            </a:solidFill>
            <a:prstDash val="solid"/>
          </a:ln>
        </p:spPr>
      </p:sp>
      <p:sp>
        <p:nvSpPr>
          <p:cNvPr id="8" name="Shape 5"/>
          <p:cNvSpPr/>
          <p:nvPr/>
        </p:nvSpPr>
        <p:spPr>
          <a:xfrm>
            <a:off x="990570" y="1854220"/>
            <a:ext cx="304770" cy="304770"/>
          </a:xfrm>
          <a:prstGeom prst="ellipse">
            <a:avLst/>
          </a:prstGeom>
          <a:solidFill>
            <a:srgbClr val="A8441A"/>
          </a:solidFill>
          <a:ln/>
        </p:spPr>
      </p:sp>
      <p:sp>
        <p:nvSpPr>
          <p:cNvPr id="9" name="Text 6"/>
          <p:cNvSpPr txBox="1"/>
          <p:nvPr/>
        </p:nvSpPr>
        <p:spPr>
          <a:xfrm>
            <a:off x="990570" y="185422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422441" y="185422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Knowledge acquisition</a:t>
            </a:r>
            <a:endParaRPr lang="en-US" sz="1500" dirty="0"/>
          </a:p>
        </p:txBody>
      </p:sp>
      <p:sp>
        <p:nvSpPr>
          <p:cNvPr id="11" name="Text 8"/>
          <p:cNvSpPr txBox="1"/>
          <p:nvPr/>
        </p:nvSpPr>
        <p:spPr>
          <a:xfrm>
            <a:off x="990570" y="226058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Experts find it hard to state know-how as rules; eliciting and checking them is slow and costly.</a:t>
            </a:r>
            <a:endParaRPr lang="en-US" sz="1300" dirty="0"/>
          </a:p>
        </p:txBody>
      </p:sp>
      <p:sp>
        <p:nvSpPr>
          <p:cNvPr id="12" name="Shape 9"/>
          <p:cNvSpPr/>
          <p:nvPr/>
        </p:nvSpPr>
        <p:spPr>
          <a:xfrm>
            <a:off x="4400550" y="1701790"/>
            <a:ext cx="3384560" cy="1841510"/>
          </a:xfrm>
          <a:prstGeom prst="roundRect">
            <a:avLst>
              <a:gd name="adj" fmla="val 4965"/>
            </a:avLst>
          </a:prstGeom>
          <a:solidFill>
            <a:srgbClr val="FFFFFF"/>
          </a:solidFill>
          <a:ln w="12700">
            <a:solidFill>
              <a:srgbClr val="E3E1DA"/>
            </a:solidFill>
            <a:prstDash val="solid"/>
          </a:ln>
        </p:spPr>
      </p:sp>
      <p:sp>
        <p:nvSpPr>
          <p:cNvPr id="13" name="Shape 10"/>
          <p:cNvSpPr/>
          <p:nvPr/>
        </p:nvSpPr>
        <p:spPr>
          <a:xfrm>
            <a:off x="4578309" y="1854220"/>
            <a:ext cx="304770" cy="304770"/>
          </a:xfrm>
          <a:prstGeom prst="ellipse">
            <a:avLst/>
          </a:prstGeom>
          <a:solidFill>
            <a:srgbClr val="A8441A"/>
          </a:solidFill>
          <a:ln/>
        </p:spPr>
      </p:sp>
      <p:sp>
        <p:nvSpPr>
          <p:cNvPr id="14" name="Text 11"/>
          <p:cNvSpPr txBox="1"/>
          <p:nvPr/>
        </p:nvSpPr>
        <p:spPr>
          <a:xfrm>
            <a:off x="4578309" y="185422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5010180" y="185422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Brittleness</a:t>
            </a:r>
            <a:endParaRPr lang="en-US" sz="1500" dirty="0"/>
          </a:p>
        </p:txBody>
      </p:sp>
      <p:sp>
        <p:nvSpPr>
          <p:cNvPr id="16" name="Text 13"/>
          <p:cNvSpPr txBox="1"/>
          <p:nvPr/>
        </p:nvSpPr>
        <p:spPr>
          <a:xfrm>
            <a:off x="4578309" y="226058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Outside its rules the system just fails: our shell cannot name a lion, and it has no common sense.</a:t>
            </a:r>
            <a:endParaRPr lang="en-US" sz="1300" dirty="0"/>
          </a:p>
        </p:txBody>
      </p:sp>
      <p:sp>
        <p:nvSpPr>
          <p:cNvPr id="17" name="Shape 14"/>
          <p:cNvSpPr/>
          <p:nvPr/>
        </p:nvSpPr>
        <p:spPr>
          <a:xfrm>
            <a:off x="7988290" y="1701790"/>
            <a:ext cx="3384560" cy="1841510"/>
          </a:xfrm>
          <a:prstGeom prst="roundRect">
            <a:avLst>
              <a:gd name="adj" fmla="val 4965"/>
            </a:avLst>
          </a:prstGeom>
          <a:solidFill>
            <a:srgbClr val="FFFFFF"/>
          </a:solidFill>
          <a:ln w="12700">
            <a:solidFill>
              <a:srgbClr val="E3E1DA"/>
            </a:solidFill>
            <a:prstDash val="solid"/>
          </a:ln>
        </p:spPr>
      </p:sp>
      <p:sp>
        <p:nvSpPr>
          <p:cNvPr id="18" name="Shape 15"/>
          <p:cNvSpPr/>
          <p:nvPr/>
        </p:nvSpPr>
        <p:spPr>
          <a:xfrm>
            <a:off x="8166141" y="1854220"/>
            <a:ext cx="304770" cy="304770"/>
          </a:xfrm>
          <a:prstGeom prst="ellipse">
            <a:avLst/>
          </a:prstGeom>
          <a:solidFill>
            <a:srgbClr val="A8441A"/>
          </a:solidFill>
          <a:ln/>
        </p:spPr>
      </p:sp>
      <p:sp>
        <p:nvSpPr>
          <p:cNvPr id="19" name="Text 16"/>
          <p:cNvSpPr txBox="1"/>
          <p:nvPr/>
        </p:nvSpPr>
        <p:spPr>
          <a:xfrm>
            <a:off x="8166141" y="185422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597920" y="185422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Uncertainty</a:t>
            </a:r>
            <a:endParaRPr lang="en-US" sz="1500" dirty="0"/>
          </a:p>
        </p:txBody>
      </p:sp>
      <p:sp>
        <p:nvSpPr>
          <p:cNvPr id="21" name="Text 18"/>
          <p:cNvSpPr txBox="1"/>
          <p:nvPr/>
        </p:nvSpPr>
        <p:spPr>
          <a:xfrm>
            <a:off x="8166141" y="226058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Plain rules are true or false, but evidence is partial; add-ons like certainty factors are needed.</a:t>
            </a:r>
            <a:endParaRPr lang="en-US" sz="1300" dirty="0"/>
          </a:p>
        </p:txBody>
      </p:sp>
      <p:sp>
        <p:nvSpPr>
          <p:cNvPr id="22" name="Shape 19"/>
          <p:cNvSpPr/>
          <p:nvPr/>
        </p:nvSpPr>
        <p:spPr>
          <a:xfrm>
            <a:off x="812810" y="3708441"/>
            <a:ext cx="3384560" cy="1841510"/>
          </a:xfrm>
          <a:prstGeom prst="roundRect">
            <a:avLst>
              <a:gd name="adj" fmla="val 4965"/>
            </a:avLst>
          </a:prstGeom>
          <a:solidFill>
            <a:srgbClr val="FFFFFF"/>
          </a:solidFill>
          <a:ln w="12700">
            <a:solidFill>
              <a:srgbClr val="E3E1DA"/>
            </a:solidFill>
            <a:prstDash val="solid"/>
          </a:ln>
        </p:spPr>
      </p:sp>
      <p:sp>
        <p:nvSpPr>
          <p:cNvPr id="23" name="Shape 20"/>
          <p:cNvSpPr/>
          <p:nvPr/>
        </p:nvSpPr>
        <p:spPr>
          <a:xfrm>
            <a:off x="990570" y="3860780"/>
            <a:ext cx="304770" cy="304770"/>
          </a:xfrm>
          <a:prstGeom prst="ellipse">
            <a:avLst/>
          </a:prstGeom>
          <a:solidFill>
            <a:srgbClr val="2F5DA8"/>
          </a:solidFill>
          <a:ln/>
        </p:spPr>
      </p:sp>
      <p:sp>
        <p:nvSpPr>
          <p:cNvPr id="24" name="Text 21"/>
          <p:cNvSpPr txBox="1"/>
          <p:nvPr/>
        </p:nvSpPr>
        <p:spPr>
          <a:xfrm>
            <a:off x="990570" y="386078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1422441" y="386078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Maintenance at scale</a:t>
            </a:r>
            <a:endParaRPr lang="en-US" sz="1500" dirty="0"/>
          </a:p>
        </p:txBody>
      </p:sp>
      <p:sp>
        <p:nvSpPr>
          <p:cNvPr id="26" name="Text 23"/>
          <p:cNvSpPr txBox="1"/>
          <p:nvPr/>
        </p:nvSpPr>
        <p:spPr>
          <a:xfrm>
            <a:off x="990570" y="426723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Rules interact in hidden ways; XCON grew to thousands of rules that became costly to change safely.</a:t>
            </a:r>
            <a:endParaRPr lang="en-US" sz="1300" dirty="0"/>
          </a:p>
        </p:txBody>
      </p:sp>
      <p:sp>
        <p:nvSpPr>
          <p:cNvPr id="27" name="Shape 24"/>
          <p:cNvSpPr/>
          <p:nvPr/>
        </p:nvSpPr>
        <p:spPr>
          <a:xfrm>
            <a:off x="4400550" y="3708441"/>
            <a:ext cx="3384560" cy="1841510"/>
          </a:xfrm>
          <a:prstGeom prst="roundRect">
            <a:avLst>
              <a:gd name="adj" fmla="val 4965"/>
            </a:avLst>
          </a:prstGeom>
          <a:solidFill>
            <a:srgbClr val="FFFFFF"/>
          </a:solidFill>
          <a:ln w="12700">
            <a:solidFill>
              <a:srgbClr val="E3E1DA"/>
            </a:solidFill>
            <a:prstDash val="solid"/>
          </a:ln>
        </p:spPr>
      </p:sp>
      <p:sp>
        <p:nvSpPr>
          <p:cNvPr id="28" name="Shape 25"/>
          <p:cNvSpPr/>
          <p:nvPr/>
        </p:nvSpPr>
        <p:spPr>
          <a:xfrm>
            <a:off x="4578309" y="3860780"/>
            <a:ext cx="304770" cy="304770"/>
          </a:xfrm>
          <a:prstGeom prst="ellipse">
            <a:avLst/>
          </a:prstGeom>
          <a:solidFill>
            <a:srgbClr val="2F5DA8"/>
          </a:solidFill>
          <a:ln/>
        </p:spPr>
      </p:sp>
      <p:sp>
        <p:nvSpPr>
          <p:cNvPr id="29" name="Text 26"/>
          <p:cNvSpPr txBox="1"/>
          <p:nvPr/>
        </p:nvSpPr>
        <p:spPr>
          <a:xfrm>
            <a:off x="4578309" y="386078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txBox="1"/>
          <p:nvPr/>
        </p:nvSpPr>
        <p:spPr>
          <a:xfrm>
            <a:off x="5010180" y="386078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Rigid dialogue</a:t>
            </a:r>
            <a:endParaRPr lang="en-US" sz="1500" dirty="0"/>
          </a:p>
        </p:txBody>
      </p:sp>
      <p:sp>
        <p:nvSpPr>
          <p:cNvPr id="31" name="Text 28"/>
          <p:cNvSpPr txBox="1"/>
          <p:nvPr/>
        </p:nvSpPr>
        <p:spPr>
          <a:xfrm>
            <a:off x="4578309" y="426723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Questions follow rule order, not the most informative next question, and answers cannot be revised.</a:t>
            </a:r>
            <a:endParaRPr lang="en-US" sz="1300" dirty="0"/>
          </a:p>
        </p:txBody>
      </p:sp>
      <p:sp>
        <p:nvSpPr>
          <p:cNvPr id="32" name="Shape 29"/>
          <p:cNvSpPr/>
          <p:nvPr/>
        </p:nvSpPr>
        <p:spPr>
          <a:xfrm>
            <a:off x="7988290" y="3708441"/>
            <a:ext cx="3384560" cy="1841510"/>
          </a:xfrm>
          <a:prstGeom prst="roundRect">
            <a:avLst>
              <a:gd name="adj" fmla="val 4965"/>
            </a:avLst>
          </a:prstGeom>
          <a:solidFill>
            <a:srgbClr val="FFFFFF"/>
          </a:solidFill>
          <a:ln w="12700">
            <a:solidFill>
              <a:srgbClr val="E3E1DA"/>
            </a:solidFill>
            <a:prstDash val="solid"/>
          </a:ln>
        </p:spPr>
      </p:sp>
      <p:sp>
        <p:nvSpPr>
          <p:cNvPr id="33" name="Shape 30"/>
          <p:cNvSpPr/>
          <p:nvPr/>
        </p:nvSpPr>
        <p:spPr>
          <a:xfrm>
            <a:off x="8166141" y="3860780"/>
            <a:ext cx="304770" cy="304770"/>
          </a:xfrm>
          <a:prstGeom prst="ellipse">
            <a:avLst/>
          </a:prstGeom>
          <a:solidFill>
            <a:srgbClr val="2F5DA8"/>
          </a:solidFill>
          <a:ln/>
        </p:spPr>
      </p:sp>
      <p:sp>
        <p:nvSpPr>
          <p:cNvPr id="34" name="Text 31"/>
          <p:cNvSpPr txBox="1"/>
          <p:nvPr/>
        </p:nvSpPr>
        <p:spPr>
          <a:xfrm>
            <a:off x="8166141" y="3860780"/>
            <a:ext cx="304770" cy="30477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2"/>
          <p:cNvSpPr txBox="1"/>
          <p:nvPr/>
        </p:nvSpPr>
        <p:spPr>
          <a:xfrm>
            <a:off x="8597920" y="3860780"/>
            <a:ext cx="2622591" cy="304770"/>
          </a:xfrm>
          <a:prstGeom prst="rect">
            <a:avLst/>
          </a:prstGeom>
          <a:noFill/>
          <a:ln/>
        </p:spPr>
        <p:txBody>
          <a:bodyPr wrap="square" lIns="0" tIns="0" rIns="0" bIns="0" rtlCol="0" anchor="ctr"/>
          <a:lstStyle/>
          <a:p>
            <a:pPr marL="0" indent="0">
              <a:buNone/>
            </a:pPr>
            <a:r>
              <a:rPr lang="en-US" sz="1500" b="1" dirty="0">
                <a:solidFill>
                  <a:srgbClr val="1B2233"/>
                </a:solidFill>
                <a:latin typeface="Calibri" pitchFamily="34" charset="0"/>
                <a:ea typeface="Calibri" pitchFamily="34" charset="-122"/>
                <a:cs typeface="Calibri" pitchFamily="34" charset="-120"/>
              </a:rPr>
              <a:t>Shallow explanations</a:t>
            </a:r>
            <a:endParaRPr lang="en-US" sz="1500" dirty="0"/>
          </a:p>
        </p:txBody>
      </p:sp>
      <p:sp>
        <p:nvSpPr>
          <p:cNvPr id="36" name="Text 33"/>
          <p:cNvSpPr txBox="1"/>
          <p:nvPr/>
        </p:nvSpPr>
        <p:spPr>
          <a:xfrm>
            <a:off x="8166141" y="4267230"/>
            <a:ext cx="3028950" cy="1181130"/>
          </a:xfrm>
          <a:prstGeom prst="rect">
            <a:avLst/>
          </a:prstGeom>
          <a:noFill/>
          <a:ln/>
        </p:spPr>
        <p:txBody>
          <a:bodyPr wrap="square" lIns="0" tIns="0" rIns="0" bIns="0" rtlCol="0" anchor="t"/>
          <a:lstStyle/>
          <a:p>
            <a:pPr marL="0" indent="0">
              <a:lnSpc>
                <a:spcPct val="110000"/>
              </a:lnSpc>
              <a:buNone/>
            </a:pPr>
            <a:r>
              <a:rPr lang="en-US" sz="1300" dirty="0">
                <a:solidFill>
                  <a:srgbClr val="4A5264"/>
                </a:solidFill>
                <a:latin typeface="Calibri" pitchFamily="34" charset="0"/>
                <a:ea typeface="Calibri" pitchFamily="34" charset="-122"/>
                <a:cs typeface="Calibri" pitchFamily="34" charset="-120"/>
              </a:rPr>
              <a:t>HOW replays the rules used; it cannot justify why a rule itself is true (Clancey, 1983).</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06 · LIMITATIONS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Prolog-specific challenges</a:t>
            </a:r>
            <a:endParaRPr lang="en-US" sz="3000" dirty="0"/>
          </a:p>
        </p:txBody>
      </p:sp>
      <p:sp>
        <p:nvSpPr>
          <p:cNvPr id="4" name="Text 2"/>
          <p:cNvSpPr txBox="1"/>
          <p:nvPr/>
        </p:nvSpPr>
        <p:spPr>
          <a:xfrm>
            <a:off x="812810" y="6197620"/>
            <a:ext cx="9144000" cy="254020"/>
          </a:xfrm>
          <a:prstGeom prst="rect">
            <a:avLst/>
          </a:prstGeom>
          <a:noFill/>
          <a:ln/>
        </p:spPr>
        <p:txBody>
          <a:bodyPr wrap="square" lIns="0" tIns="0" rIns="0" bIns="0" rtlCol="0" anchor="ctr"/>
          <a:lstStyle/>
          <a:p>
            <a:pPr marL="0" indent="0">
              <a:buNone/>
            </a:pPr>
            <a:r>
              <a:rPr lang="en-US" sz="1200" dirty="0">
                <a:solidFill>
                  <a:srgbClr val="5F6573"/>
                </a:solidFill>
                <a:latin typeface="Calibri" pitchFamily="34" charset="0"/>
                <a:ea typeface="Calibri" pitchFamily="34" charset="-122"/>
                <a:cs typeface="Calibri" pitchFamily="34" charset="-120"/>
              </a:rPr>
              <a:t>Sources: Bratko (2012), Ch. 2 and 5; output from SWI-Prolog 10 (abridged)</a:t>
            </a:r>
            <a:endParaRPr lang="en-US" sz="1200" dirty="0"/>
          </a:p>
        </p:txBody>
      </p:sp>
      <p:sp>
        <p:nvSpPr>
          <p:cNvPr id="5" name="Text 3"/>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29</a:t>
            </a:r>
            <a:endParaRPr lang="en-US" sz="1200" dirty="0"/>
          </a:p>
        </p:txBody>
      </p:sp>
      <p:sp>
        <p:nvSpPr>
          <p:cNvPr id="7" name="Text 4"/>
          <p:cNvSpPr txBox="1"/>
          <p:nvPr/>
        </p:nvSpPr>
        <p:spPr>
          <a:xfrm>
            <a:off x="812810" y="1701790"/>
            <a:ext cx="5206959" cy="4063959"/>
          </a:xfrm>
          <a:prstGeom prst="rect">
            <a:avLst/>
          </a:prstGeom>
          <a:noFill/>
          <a:ln/>
        </p:spPr>
        <p:txBody>
          <a:bodyPr wrap="square" lIns="0" tIns="0" rIns="0" bIns="0" rtlCol="0" anchor="t"/>
          <a:lstStyle/>
          <a:p>
            <a:pPr marL="254000" indent="-254000">
              <a:lnSpc>
                <a:spcPct val="110000"/>
              </a:lnSpc>
              <a:spcAft>
                <a:spcPts val="1600"/>
              </a:spcAft>
              <a:buSzPct val="100000"/>
              <a:buChar char="•"/>
            </a:pPr>
            <a:r>
              <a:rPr lang="en-US" sz="1400" b="1" dirty="0">
                <a:solidFill>
                  <a:srgbClr val="4A5264"/>
                </a:solidFill>
                <a:latin typeface="Calibri" pitchFamily="34" charset="0"/>
                <a:ea typeface="Calibri" pitchFamily="34" charset="-122"/>
                <a:cs typeface="Calibri" pitchFamily="34" charset="-120"/>
              </a:rPr>
              <a:t>Infinite loops:</a:t>
            </a:r>
            <a:r>
              <a:rPr lang="en-US" sz="1400" dirty="0">
                <a:solidFill>
                  <a:srgbClr val="4A5264"/>
                </a:solidFill>
                <a:latin typeface="Calibri" pitchFamily="34" charset="0"/>
                <a:ea typeface="Calibri" pitchFamily="34" charset="-122"/>
                <a:cs typeface="Calibri" pitchFamily="34" charset="-120"/>
              </a:rPr>
              <a:t> depth-first search never ends on a left-recursive rule.</a:t>
            </a:r>
            <a:endParaRPr lang="en-US" sz="1400" dirty="0"/>
          </a:p>
          <a:p>
            <a:pPr marL="254000" indent="-254000">
              <a:lnSpc>
                <a:spcPct val="110000"/>
              </a:lnSpc>
              <a:spcAft>
                <a:spcPts val="1600"/>
              </a:spcAft>
              <a:buSzPct val="100000"/>
              <a:buChar char="•"/>
            </a:pPr>
            <a:r>
              <a:rPr lang="en-US" sz="1400" b="1" dirty="0">
                <a:solidFill>
                  <a:srgbClr val="4A5264"/>
                </a:solidFill>
                <a:latin typeface="Calibri" pitchFamily="34" charset="0"/>
                <a:ea typeface="Calibri" pitchFamily="34" charset="-122"/>
                <a:cs typeface="Calibri" pitchFamily="34" charset="-120"/>
              </a:rPr>
              <a:t>Order matters:</a:t>
            </a:r>
            <a:r>
              <a:rPr lang="en-US" sz="1400" dirty="0">
                <a:solidFill>
                  <a:srgbClr val="4A5264"/>
                </a:solidFill>
                <a:latin typeface="Calibri" pitchFamily="34" charset="0"/>
                <a:ea typeface="Calibri" pitchFamily="34" charset="-122"/>
                <a:cs typeface="Calibri" pitchFamily="34" charset="-120"/>
              </a:rPr>
              <a:t> clause and goal order change behaviour, so Prolog is not purely declarative.</a:t>
            </a:r>
            <a:endParaRPr lang="en-US" sz="1400" dirty="0"/>
          </a:p>
          <a:p>
            <a:pPr marL="254000" indent="-254000">
              <a:lnSpc>
                <a:spcPct val="110000"/>
              </a:lnSpc>
              <a:spcAft>
                <a:spcPts val="1600"/>
              </a:spcAft>
              <a:buSzPct val="100000"/>
              <a:buChar char="•"/>
            </a:pPr>
            <a:r>
              <a:rPr lang="en-US" sz="1400" b="1" dirty="0">
                <a:solidFill>
                  <a:srgbClr val="4A5264"/>
                </a:solidFill>
                <a:latin typeface="Calibri" pitchFamily="34" charset="0"/>
                <a:ea typeface="Calibri" pitchFamily="34" charset="-122"/>
                <a:cs typeface="Calibri" pitchFamily="34" charset="-120"/>
              </a:rPr>
              <a:t>Closed world:</a:t>
            </a:r>
            <a:r>
              <a:rPr lang="en-US" sz="1400" dirty="0">
                <a:solidFill>
                  <a:srgbClr val="4A5264"/>
                </a:solidFill>
                <a:latin typeface="Calibri" pitchFamily="34" charset="0"/>
                <a:ea typeface="Calibri" pitchFamily="34" charset="-122"/>
                <a:cs typeface="Calibri" pitchFamily="34" charset="-120"/>
              </a:rPr>
              <a:t> negation as failure treats "cannot prove" as "false".</a:t>
            </a:r>
            <a:endParaRPr lang="en-US" sz="1400" dirty="0"/>
          </a:p>
          <a:p>
            <a:pPr marL="254000" indent="-254000">
              <a:lnSpc>
                <a:spcPct val="110000"/>
              </a:lnSpc>
              <a:spcAft>
                <a:spcPts val="1600"/>
              </a:spcAft>
              <a:buSzPct val="100000"/>
              <a:buChar char="•"/>
            </a:pPr>
            <a:r>
              <a:rPr lang="en-US" sz="1400" b="1" dirty="0">
                <a:solidFill>
                  <a:srgbClr val="4A5264"/>
                </a:solidFill>
                <a:latin typeface="Calibri" pitchFamily="34" charset="0"/>
                <a:ea typeface="Calibri" pitchFamily="34" charset="-122"/>
                <a:cs typeface="Calibri" pitchFamily="34" charset="-120"/>
              </a:rPr>
              <a:t>Cut (!):</a:t>
            </a:r>
            <a:r>
              <a:rPr lang="en-US" sz="1400" dirty="0">
                <a:solidFill>
                  <a:srgbClr val="4A5264"/>
                </a:solidFill>
                <a:latin typeface="Calibri" pitchFamily="34" charset="0"/>
                <a:ea typeface="Calibri" pitchFamily="34" charset="-122"/>
                <a:cs typeface="Calibri" pitchFamily="34" charset="-120"/>
              </a:rPr>
              <a:t> speeds programs up but can silently change their meaning.</a:t>
            </a:r>
            <a:endParaRPr lang="en-US" sz="1400" dirty="0"/>
          </a:p>
          <a:p>
            <a:pPr marL="254000" indent="-254000">
              <a:lnSpc>
                <a:spcPct val="110000"/>
              </a:lnSpc>
              <a:spcAft>
                <a:spcPts val="1600"/>
              </a:spcAft>
              <a:buSzPct val="100000"/>
              <a:buChar char="•"/>
            </a:pPr>
            <a:r>
              <a:rPr lang="en-US" sz="1400" b="1" dirty="0">
                <a:solidFill>
                  <a:srgbClr val="4A5264"/>
                </a:solidFill>
                <a:latin typeface="Calibri" pitchFamily="34" charset="0"/>
                <a:ea typeface="Calibri" pitchFamily="34" charset="-122"/>
                <a:cs typeface="Calibri" pitchFamily="34" charset="-120"/>
              </a:rPr>
              <a:t>Fragile input:</a:t>
            </a:r>
            <a:r>
              <a:rPr lang="en-US" sz="1400" dirty="0">
                <a:solidFill>
                  <a:srgbClr val="4A5264"/>
                </a:solidFill>
                <a:latin typeface="Calibri" pitchFamily="34" charset="0"/>
                <a:ea typeface="Calibri" pitchFamily="34" charset="-122"/>
                <a:cs typeface="Calibri" pitchFamily="34" charset="-120"/>
              </a:rPr>
              <a:t> with read/1, a missing full stop leaves the user waiting.</a:t>
            </a:r>
            <a:endParaRPr lang="en-US" sz="1400" dirty="0"/>
          </a:p>
        </p:txBody>
      </p:sp>
      <p:sp>
        <p:nvSpPr>
          <p:cNvPr id="8" name="Shape 5"/>
          <p:cNvSpPr/>
          <p:nvPr/>
        </p:nvSpPr>
        <p:spPr>
          <a:xfrm>
            <a:off x="6349959" y="1701790"/>
            <a:ext cx="5029200" cy="2012960"/>
          </a:xfrm>
          <a:prstGeom prst="roundRect">
            <a:avLst>
              <a:gd name="adj" fmla="val 4543"/>
            </a:avLst>
          </a:prstGeom>
          <a:solidFill>
            <a:srgbClr val="1E2433"/>
          </a:solidFill>
          <a:ln/>
        </p:spPr>
      </p:sp>
      <p:sp>
        <p:nvSpPr>
          <p:cNvPr id="9" name="Text 6"/>
          <p:cNvSpPr txBox="1"/>
          <p:nvPr/>
        </p:nvSpPr>
        <p:spPr>
          <a:xfrm>
            <a:off x="6527810" y="1854220"/>
            <a:ext cx="4673590" cy="1708191"/>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left recursion: never terminates</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ancestor(X, Z) :- ancestor(X, Y), parent(Y, Z).</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ancestor(X, Z) :- parent(X, Z).</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run with: swipl --stack-limit=16m</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ancestor(tom, ann).</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ERROR: Stack limit (16.0Mb) exceeded</a:t>
            </a:r>
            <a:endParaRPr lang="en-US" sz="1200" dirty="0"/>
          </a:p>
          <a:p>
            <a:pPr marL="0" indent="0">
              <a:lnSpc>
                <a:spcPts val="1680"/>
              </a:lnSpc>
              <a:buNone/>
            </a:pPr>
            <a:r>
              <a:rPr lang="en-US" sz="1200" dirty="0">
                <a:solidFill>
                  <a:srgbClr val="F2A65A"/>
                </a:solidFill>
                <a:latin typeface="Consolas" pitchFamily="34" charset="0"/>
                <a:ea typeface="Consolas" pitchFamily="34" charset="-122"/>
                <a:cs typeface="Consolas" pitchFamily="34" charset="-120"/>
              </a:rPr>
              <a:t>ERROR:   Probable infinite recursion (cycle)</a:t>
            </a:r>
            <a:endParaRPr lang="en-US" sz="1200" dirty="0"/>
          </a:p>
        </p:txBody>
      </p:sp>
      <p:sp>
        <p:nvSpPr>
          <p:cNvPr id="10" name="Shape 7"/>
          <p:cNvSpPr/>
          <p:nvPr/>
        </p:nvSpPr>
        <p:spPr>
          <a:xfrm>
            <a:off x="6349959" y="3892509"/>
            <a:ext cx="5029200" cy="1587490"/>
          </a:xfrm>
          <a:prstGeom prst="roundRect">
            <a:avLst>
              <a:gd name="adj" fmla="val 5760"/>
            </a:avLst>
          </a:prstGeom>
          <a:solidFill>
            <a:srgbClr val="1E2433"/>
          </a:solidFill>
          <a:ln/>
        </p:spPr>
      </p:sp>
      <p:sp>
        <p:nvSpPr>
          <p:cNvPr id="11" name="Text 8"/>
          <p:cNvSpPr txBox="1"/>
          <p:nvPr/>
        </p:nvSpPr>
        <p:spPr>
          <a:xfrm>
            <a:off x="6527810" y="4044940"/>
            <a:ext cx="4673590" cy="1282720"/>
          </a:xfrm>
          <a:prstGeom prst="rect">
            <a:avLst/>
          </a:prstGeom>
          <a:noFill/>
          <a:ln/>
        </p:spPr>
        <p:txBody>
          <a:bodyPr wrap="square" lIns="0" tIns="0" rIns="0" bIns="0" rtlCol="0" anchor="t"/>
          <a:lstStyle/>
          <a:p>
            <a:pPr marL="0" indent="0">
              <a:lnSpc>
                <a:spcPts val="1680"/>
              </a:lnSpc>
              <a:buNone/>
            </a:pPr>
            <a:r>
              <a:rPr lang="en-US" sz="1200" dirty="0">
                <a:solidFill>
                  <a:srgbClr val="9AA3B5"/>
                </a:solidFill>
                <a:latin typeface="Consolas" pitchFamily="34" charset="0"/>
                <a:ea typeface="Consolas" pitchFamily="34" charset="-122"/>
                <a:cs typeface="Consolas" pitchFamily="34" charset="-120"/>
              </a:rPr>
              <a:t>% fix: base case first, recurse last</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ancestor(X, Z) :- parent(X, Z).</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ancestor(X, Z) :- parent(X, Y), ancestor(Y, Z).</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t>
            </a:r>
            <a:endParaRPr lang="en-US" sz="1200" dirty="0"/>
          </a:p>
          <a:p>
            <a:pPr marL="0" indent="0">
              <a:lnSpc>
                <a:spcPts val="1680"/>
              </a:lnSpc>
              <a:buNone/>
            </a:pPr>
            <a:r>
              <a:rPr lang="en-US" sz="1200" dirty="0">
                <a:solidFill>
                  <a:srgbClr val="E6E1D3"/>
                </a:solidFill>
                <a:latin typeface="Consolas" pitchFamily="34" charset="0"/>
                <a:ea typeface="Consolas" pitchFamily="34" charset="-122"/>
                <a:cs typeface="Consolas" pitchFamily="34" charset="-120"/>
              </a:rPr>
              <a:t>?- ancestor(tom, ann).</a:t>
            </a:r>
            <a:endParaRPr lang="en-US" sz="1200" dirty="0"/>
          </a:p>
          <a:p>
            <a:pPr marL="0" indent="0">
              <a:lnSpc>
                <a:spcPts val="1680"/>
              </a:lnSpc>
              <a:buNone/>
            </a:pPr>
            <a:r>
              <a:rPr lang="en-US" sz="1200" dirty="0">
                <a:solidFill>
                  <a:srgbClr val="8DB7F5"/>
                </a:solidFill>
                <a:latin typeface="Consolas" pitchFamily="34" charset="0"/>
                <a:ea typeface="Consolas" pitchFamily="34" charset="-122"/>
                <a:cs typeface="Consolas" pitchFamily="34" charset="-120"/>
              </a:rPr>
              <a:t>true .</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06 · SUMMARY</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Key takeaways</a:t>
            </a:r>
            <a:endParaRPr lang="en-US" sz="3000" dirty="0"/>
          </a:p>
        </p:txBody>
      </p:sp>
      <p:sp>
        <p:nvSpPr>
          <p:cNvPr id="4" name="Text 2"/>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30</a:t>
            </a:r>
            <a:endParaRPr lang="en-US" sz="1200" dirty="0"/>
          </a:p>
        </p:txBody>
      </p:sp>
      <p:sp>
        <p:nvSpPr>
          <p:cNvPr id="6" name="Shape 3"/>
          <p:cNvSpPr/>
          <p:nvPr/>
        </p:nvSpPr>
        <p:spPr>
          <a:xfrm>
            <a:off x="812810" y="1701790"/>
            <a:ext cx="5181630" cy="1155710"/>
          </a:xfrm>
          <a:prstGeom prst="roundRect">
            <a:avLst>
              <a:gd name="adj" fmla="val 7912"/>
            </a:avLst>
          </a:prstGeom>
          <a:solidFill>
            <a:srgbClr val="FFFFFF"/>
          </a:solidFill>
          <a:ln w="12700">
            <a:solidFill>
              <a:srgbClr val="E3E1DA"/>
            </a:solidFill>
            <a:prstDash val="solid"/>
          </a:ln>
        </p:spPr>
      </p:sp>
      <p:sp>
        <p:nvSpPr>
          <p:cNvPr id="7" name="Shape 4"/>
          <p:cNvSpPr/>
          <p:nvPr/>
        </p:nvSpPr>
        <p:spPr>
          <a:xfrm>
            <a:off x="1015990" y="2019270"/>
            <a:ext cx="482620" cy="482620"/>
          </a:xfrm>
          <a:prstGeom prst="ellipse">
            <a:avLst/>
          </a:prstGeom>
          <a:solidFill>
            <a:srgbClr val="A8441A"/>
          </a:solidFill>
          <a:ln/>
        </p:spPr>
      </p:sp>
      <p:sp>
        <p:nvSpPr>
          <p:cNvPr id="8" name="Text 5"/>
          <p:cNvSpPr txBox="1"/>
          <p:nvPr/>
        </p:nvSpPr>
        <p:spPr>
          <a:xfrm>
            <a:off x="1015990" y="2019270"/>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1</a:t>
            </a:r>
            <a:endParaRPr lang="en-US" sz="2000" dirty="0"/>
          </a:p>
        </p:txBody>
      </p:sp>
      <p:sp>
        <p:nvSpPr>
          <p:cNvPr id="9" name="Text 6"/>
          <p:cNvSpPr txBox="1"/>
          <p:nvPr/>
        </p:nvSpPr>
        <p:spPr>
          <a:xfrm>
            <a:off x="1701790" y="170179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An IF-THEN rule is a Horn clause: IF p AND q THEN r becomes r :- p, q.</a:t>
            </a:r>
            <a:endParaRPr lang="en-US" sz="1500" dirty="0"/>
          </a:p>
        </p:txBody>
      </p:sp>
      <p:sp>
        <p:nvSpPr>
          <p:cNvPr id="10" name="Shape 7"/>
          <p:cNvSpPr/>
          <p:nvPr/>
        </p:nvSpPr>
        <p:spPr>
          <a:xfrm>
            <a:off x="6197620" y="1701790"/>
            <a:ext cx="5181630" cy="1155710"/>
          </a:xfrm>
          <a:prstGeom prst="roundRect">
            <a:avLst>
              <a:gd name="adj" fmla="val 7912"/>
            </a:avLst>
          </a:prstGeom>
          <a:solidFill>
            <a:srgbClr val="FFFFFF"/>
          </a:solidFill>
          <a:ln w="12700">
            <a:solidFill>
              <a:srgbClr val="E3E1DA"/>
            </a:solidFill>
            <a:prstDash val="solid"/>
          </a:ln>
        </p:spPr>
      </p:sp>
      <p:sp>
        <p:nvSpPr>
          <p:cNvPr id="11" name="Shape 8"/>
          <p:cNvSpPr/>
          <p:nvPr/>
        </p:nvSpPr>
        <p:spPr>
          <a:xfrm>
            <a:off x="6400800" y="2019270"/>
            <a:ext cx="482620" cy="482620"/>
          </a:xfrm>
          <a:prstGeom prst="ellipse">
            <a:avLst/>
          </a:prstGeom>
          <a:solidFill>
            <a:srgbClr val="A8441A"/>
          </a:solidFill>
          <a:ln/>
        </p:spPr>
      </p:sp>
      <p:sp>
        <p:nvSpPr>
          <p:cNvPr id="12" name="Text 9"/>
          <p:cNvSpPr txBox="1"/>
          <p:nvPr/>
        </p:nvSpPr>
        <p:spPr>
          <a:xfrm>
            <a:off x="6400800" y="2019270"/>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2</a:t>
            </a:r>
            <a:endParaRPr lang="en-US" sz="2000" dirty="0"/>
          </a:p>
        </p:txBody>
      </p:sp>
      <p:sp>
        <p:nvSpPr>
          <p:cNvPr id="13" name="Text 10"/>
          <p:cNvSpPr txBox="1"/>
          <p:nvPr/>
        </p:nvSpPr>
        <p:spPr>
          <a:xfrm>
            <a:off x="7086600" y="170179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Running a Prolog query is backward chaining: goal-driven, depth-first, with backtracking.</a:t>
            </a:r>
            <a:endParaRPr lang="en-US" sz="1500" dirty="0"/>
          </a:p>
        </p:txBody>
      </p:sp>
      <p:sp>
        <p:nvSpPr>
          <p:cNvPr id="14" name="Shape 11"/>
          <p:cNvSpPr/>
          <p:nvPr/>
        </p:nvSpPr>
        <p:spPr>
          <a:xfrm>
            <a:off x="812810" y="3009930"/>
            <a:ext cx="5181630" cy="1155710"/>
          </a:xfrm>
          <a:prstGeom prst="roundRect">
            <a:avLst>
              <a:gd name="adj" fmla="val 7912"/>
            </a:avLst>
          </a:prstGeom>
          <a:solidFill>
            <a:srgbClr val="FFFFFF"/>
          </a:solidFill>
          <a:ln w="12700">
            <a:solidFill>
              <a:srgbClr val="E3E1DA"/>
            </a:solidFill>
            <a:prstDash val="solid"/>
          </a:ln>
        </p:spPr>
      </p:sp>
      <p:sp>
        <p:nvSpPr>
          <p:cNvPr id="15" name="Shape 12"/>
          <p:cNvSpPr/>
          <p:nvPr/>
        </p:nvSpPr>
        <p:spPr>
          <a:xfrm>
            <a:off x="1015990" y="3327410"/>
            <a:ext cx="482620" cy="482620"/>
          </a:xfrm>
          <a:prstGeom prst="ellipse">
            <a:avLst/>
          </a:prstGeom>
          <a:solidFill>
            <a:srgbClr val="A8441A"/>
          </a:solidFill>
          <a:ln/>
        </p:spPr>
      </p:sp>
      <p:sp>
        <p:nvSpPr>
          <p:cNvPr id="16" name="Text 13"/>
          <p:cNvSpPr txBox="1"/>
          <p:nvPr/>
        </p:nvSpPr>
        <p:spPr>
          <a:xfrm>
            <a:off x="1015990" y="3327410"/>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3</a:t>
            </a:r>
            <a:endParaRPr lang="en-US" sz="2000" dirty="0"/>
          </a:p>
        </p:txBody>
      </p:sp>
      <p:sp>
        <p:nvSpPr>
          <p:cNvPr id="17" name="Text 14"/>
          <p:cNvSpPr txBox="1"/>
          <p:nvPr/>
        </p:nvSpPr>
        <p:spPr>
          <a:xfrm>
            <a:off x="1701790" y="300993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Ask for leaf facts only when a rule needs them, and remember every answer.</a:t>
            </a:r>
            <a:endParaRPr lang="en-US" sz="1500" dirty="0"/>
          </a:p>
        </p:txBody>
      </p:sp>
      <p:sp>
        <p:nvSpPr>
          <p:cNvPr id="18" name="Shape 15"/>
          <p:cNvSpPr/>
          <p:nvPr/>
        </p:nvSpPr>
        <p:spPr>
          <a:xfrm>
            <a:off x="6197620" y="3009930"/>
            <a:ext cx="5181630" cy="1155710"/>
          </a:xfrm>
          <a:prstGeom prst="roundRect">
            <a:avLst>
              <a:gd name="adj" fmla="val 7912"/>
            </a:avLst>
          </a:prstGeom>
          <a:solidFill>
            <a:srgbClr val="FFFFFF"/>
          </a:solidFill>
          <a:ln w="12700">
            <a:solidFill>
              <a:srgbClr val="E3E1DA"/>
            </a:solidFill>
            <a:prstDash val="solid"/>
          </a:ln>
        </p:spPr>
      </p:sp>
      <p:sp>
        <p:nvSpPr>
          <p:cNvPr id="19" name="Shape 16"/>
          <p:cNvSpPr/>
          <p:nvPr/>
        </p:nvSpPr>
        <p:spPr>
          <a:xfrm>
            <a:off x="6400800" y="3327410"/>
            <a:ext cx="482620" cy="482620"/>
          </a:xfrm>
          <a:prstGeom prst="ellipse">
            <a:avLst/>
          </a:prstGeom>
          <a:solidFill>
            <a:srgbClr val="A8441A"/>
          </a:solidFill>
          <a:ln/>
        </p:spPr>
      </p:sp>
      <p:sp>
        <p:nvSpPr>
          <p:cNvPr id="20" name="Text 17"/>
          <p:cNvSpPr txBox="1"/>
          <p:nvPr/>
        </p:nvSpPr>
        <p:spPr>
          <a:xfrm>
            <a:off x="6400800" y="3327410"/>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4</a:t>
            </a:r>
            <a:endParaRPr lang="en-US" sz="2000" dirty="0"/>
          </a:p>
        </p:txBody>
      </p:sp>
      <p:sp>
        <p:nvSpPr>
          <p:cNvPr id="21" name="Text 18"/>
          <p:cNvSpPr txBox="1"/>
          <p:nvPr/>
        </p:nvSpPr>
        <p:spPr>
          <a:xfrm>
            <a:off x="7086600" y="300993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Storing rules as data (Id :: if … then …) lets the engine explain WHY and HOW.</a:t>
            </a:r>
            <a:endParaRPr lang="en-US" sz="1500" dirty="0"/>
          </a:p>
        </p:txBody>
      </p:sp>
      <p:sp>
        <p:nvSpPr>
          <p:cNvPr id="22" name="Shape 19"/>
          <p:cNvSpPr/>
          <p:nvPr/>
        </p:nvSpPr>
        <p:spPr>
          <a:xfrm>
            <a:off x="812810" y="4317980"/>
            <a:ext cx="5181630" cy="1155710"/>
          </a:xfrm>
          <a:prstGeom prst="roundRect">
            <a:avLst>
              <a:gd name="adj" fmla="val 7912"/>
            </a:avLst>
          </a:prstGeom>
          <a:solidFill>
            <a:srgbClr val="FFFFFF"/>
          </a:solidFill>
          <a:ln w="12700">
            <a:solidFill>
              <a:srgbClr val="E3E1DA"/>
            </a:solidFill>
            <a:prstDash val="solid"/>
          </a:ln>
        </p:spPr>
      </p:sp>
      <p:sp>
        <p:nvSpPr>
          <p:cNvPr id="23" name="Shape 20"/>
          <p:cNvSpPr/>
          <p:nvPr/>
        </p:nvSpPr>
        <p:spPr>
          <a:xfrm>
            <a:off x="1015990" y="4635459"/>
            <a:ext cx="482620" cy="482620"/>
          </a:xfrm>
          <a:prstGeom prst="ellipse">
            <a:avLst/>
          </a:prstGeom>
          <a:solidFill>
            <a:srgbClr val="A8441A"/>
          </a:solidFill>
          <a:ln/>
        </p:spPr>
      </p:sp>
      <p:sp>
        <p:nvSpPr>
          <p:cNvPr id="24" name="Text 21"/>
          <p:cNvSpPr txBox="1"/>
          <p:nvPr/>
        </p:nvSpPr>
        <p:spPr>
          <a:xfrm>
            <a:off x="1015990" y="4635459"/>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5</a:t>
            </a:r>
            <a:endParaRPr lang="en-US" sz="2000" dirty="0"/>
          </a:p>
        </p:txBody>
      </p:sp>
      <p:sp>
        <p:nvSpPr>
          <p:cNvPr id="25" name="Text 22"/>
          <p:cNvSpPr txBox="1"/>
          <p:nvPr/>
        </p:nvSpPr>
        <p:spPr>
          <a:xfrm>
            <a:off x="1701790" y="431798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Keep knowledge apart from inference: one engine ran both animals and fever / flu.</a:t>
            </a:r>
            <a:endParaRPr lang="en-US" sz="1500" dirty="0"/>
          </a:p>
        </p:txBody>
      </p:sp>
      <p:sp>
        <p:nvSpPr>
          <p:cNvPr id="26" name="Shape 23"/>
          <p:cNvSpPr/>
          <p:nvPr/>
        </p:nvSpPr>
        <p:spPr>
          <a:xfrm>
            <a:off x="6197620" y="4317980"/>
            <a:ext cx="5181630" cy="1155710"/>
          </a:xfrm>
          <a:prstGeom prst="roundRect">
            <a:avLst>
              <a:gd name="adj" fmla="val 7912"/>
            </a:avLst>
          </a:prstGeom>
          <a:solidFill>
            <a:srgbClr val="FFFFFF"/>
          </a:solidFill>
          <a:ln w="12700">
            <a:solidFill>
              <a:srgbClr val="E3E1DA"/>
            </a:solidFill>
            <a:prstDash val="solid"/>
          </a:ln>
        </p:spPr>
      </p:sp>
      <p:sp>
        <p:nvSpPr>
          <p:cNvPr id="27" name="Shape 24"/>
          <p:cNvSpPr/>
          <p:nvPr/>
        </p:nvSpPr>
        <p:spPr>
          <a:xfrm>
            <a:off x="6400800" y="4635459"/>
            <a:ext cx="482620" cy="482620"/>
          </a:xfrm>
          <a:prstGeom prst="ellipse">
            <a:avLst/>
          </a:prstGeom>
          <a:solidFill>
            <a:srgbClr val="A8441A"/>
          </a:solidFill>
          <a:ln/>
        </p:spPr>
      </p:sp>
      <p:sp>
        <p:nvSpPr>
          <p:cNvPr id="28" name="Text 25"/>
          <p:cNvSpPr txBox="1"/>
          <p:nvPr/>
        </p:nvSpPr>
        <p:spPr>
          <a:xfrm>
            <a:off x="6400800" y="4635459"/>
            <a:ext cx="482620" cy="482620"/>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6</a:t>
            </a:r>
            <a:endParaRPr lang="en-US" sz="2000" dirty="0"/>
          </a:p>
        </p:txBody>
      </p:sp>
      <p:sp>
        <p:nvSpPr>
          <p:cNvPr id="29" name="Text 26"/>
          <p:cNvSpPr txBox="1"/>
          <p:nvPr/>
        </p:nvSpPr>
        <p:spPr>
          <a:xfrm>
            <a:off x="7086600" y="4317980"/>
            <a:ext cx="4089380" cy="1155710"/>
          </a:xfrm>
          <a:prstGeom prst="rect">
            <a:avLst/>
          </a:prstGeom>
          <a:noFill/>
          <a:ln/>
        </p:spPr>
        <p:txBody>
          <a:bodyPr wrap="square" lIns="0" tIns="0" rIns="0" bIns="0" rtlCol="0" anchor="ctr"/>
          <a:lstStyle/>
          <a:p>
            <a:pPr marL="0" indent="0">
              <a:lnSpc>
                <a:spcPct val="115000"/>
              </a:lnSpc>
              <a:buNone/>
            </a:pPr>
            <a:r>
              <a:rPr lang="en-US" sz="1500" dirty="0">
                <a:solidFill>
                  <a:srgbClr val="1B2233"/>
                </a:solidFill>
                <a:latin typeface="Calibri" pitchFamily="34" charset="0"/>
                <a:ea typeface="Calibri" pitchFamily="34" charset="-122"/>
                <a:cs typeface="Calibri" pitchFamily="34" charset="-120"/>
              </a:rPr>
              <a:t>Real systems show the power and the limits: acquisition, uncertainty and upkeep.</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References (1/2): books</a:t>
            </a:r>
            <a:endParaRPr lang="en-US" sz="3000" dirty="0"/>
          </a:p>
        </p:txBody>
      </p:sp>
      <p:sp>
        <p:nvSpPr>
          <p:cNvPr id="4" name="Text 2"/>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31</a:t>
            </a:r>
            <a:endParaRPr lang="en-US" sz="1200" dirty="0"/>
          </a:p>
        </p:txBody>
      </p:sp>
      <p:sp>
        <p:nvSpPr>
          <p:cNvPr id="6" name="Text 3"/>
          <p:cNvSpPr txBox="1"/>
          <p:nvPr/>
        </p:nvSpPr>
        <p:spPr>
          <a:xfrm>
            <a:off x="812810" y="1701790"/>
            <a:ext cx="10566441" cy="4190970"/>
          </a:xfrm>
          <a:prstGeom prst="rect">
            <a:avLst/>
          </a:prstGeom>
          <a:noFill/>
          <a:ln/>
        </p:spPr>
        <p:txBody>
          <a:bodyPr wrap="square" lIns="0" tIns="0" rIns="0" bIns="0" rtlCol="0" anchor="t"/>
          <a:lstStyle/>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[1] Bratko, I. (2012). </a:t>
            </a:r>
            <a:r>
              <a:rPr lang="en-US" sz="1400" i="1" dirty="0">
                <a:solidFill>
                  <a:srgbClr val="1B2233"/>
                </a:solidFill>
                <a:latin typeface="Calibri" pitchFamily="34" charset="0"/>
                <a:ea typeface="Calibri" pitchFamily="34" charset="-122"/>
                <a:cs typeface="Calibri" pitchFamily="34" charset="-120"/>
              </a:rPr>
              <a:t>Prolog Programming for Artificial Intelligence</a:t>
            </a:r>
            <a:r>
              <a:rPr lang="en-US" sz="1400" dirty="0">
                <a:solidFill>
                  <a:srgbClr val="1B2233"/>
                </a:solidFill>
                <a:latin typeface="Calibri" pitchFamily="34" charset="0"/>
                <a:ea typeface="Calibri" pitchFamily="34" charset="-122"/>
                <a:cs typeface="Calibri" pitchFamily="34" charset="-120"/>
              </a:rPr>
              <a:t> (4th ed.). Pearson. Ch. 1–2, 5, 15.</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[2] Durkin, J. (1994). </a:t>
            </a:r>
            <a:r>
              <a:rPr lang="en-US" sz="1400" i="1" dirty="0">
                <a:solidFill>
                  <a:srgbClr val="1B2233"/>
                </a:solidFill>
                <a:latin typeface="Calibri" pitchFamily="34" charset="0"/>
                <a:ea typeface="Calibri" pitchFamily="34" charset="-122"/>
                <a:cs typeface="Calibri" pitchFamily="34" charset="-120"/>
              </a:rPr>
              <a:t>Expert Systems: Design and Development</a:t>
            </a:r>
            <a:r>
              <a:rPr lang="en-US" sz="1400" dirty="0">
                <a:solidFill>
                  <a:srgbClr val="1B2233"/>
                </a:solidFill>
                <a:latin typeface="Calibri" pitchFamily="34" charset="0"/>
                <a:ea typeface="Calibri" pitchFamily="34" charset="-122"/>
                <a:cs typeface="Calibri" pitchFamily="34" charset="-120"/>
              </a:rPr>
              <a:t>. Macmillan / Prentice Hall.</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[3] Russell, S., &amp; Norvig, P. (2020). </a:t>
            </a:r>
            <a:r>
              <a:rPr lang="en-US" sz="1400" i="1" dirty="0">
                <a:solidFill>
                  <a:srgbClr val="1B2233"/>
                </a:solidFill>
                <a:latin typeface="Calibri" pitchFamily="34" charset="0"/>
                <a:ea typeface="Calibri" pitchFamily="34" charset="-122"/>
                <a:cs typeface="Calibri" pitchFamily="34" charset="-120"/>
              </a:rPr>
              <a:t>Artificial Intelligence: A Modern Approach</a:t>
            </a:r>
            <a:r>
              <a:rPr lang="en-US" sz="1400" dirty="0">
                <a:solidFill>
                  <a:srgbClr val="1B2233"/>
                </a:solidFill>
                <a:latin typeface="Calibri" pitchFamily="34" charset="0"/>
                <a:ea typeface="Calibri" pitchFamily="34" charset="-122"/>
                <a:cs typeface="Calibri" pitchFamily="34" charset="-120"/>
              </a:rPr>
              <a:t> (4th ed.). Pearson.</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[4] Negnevitsky, M. (2011). </a:t>
            </a:r>
            <a:r>
              <a:rPr lang="en-US" sz="1400" i="1" dirty="0">
                <a:solidFill>
                  <a:srgbClr val="1B2233"/>
                </a:solidFill>
                <a:latin typeface="Calibri" pitchFamily="34" charset="0"/>
                <a:ea typeface="Calibri" pitchFamily="34" charset="-122"/>
                <a:cs typeface="Calibri" pitchFamily="34" charset="-120"/>
              </a:rPr>
              <a:t>Artificial Intelligence: A Guide to Intelligent Systems</a:t>
            </a:r>
            <a:r>
              <a:rPr lang="en-US" sz="1400" dirty="0">
                <a:solidFill>
                  <a:srgbClr val="1B2233"/>
                </a:solidFill>
                <a:latin typeface="Calibri" pitchFamily="34" charset="0"/>
                <a:ea typeface="Calibri" pitchFamily="34" charset="-122"/>
                <a:cs typeface="Calibri" pitchFamily="34" charset="-120"/>
              </a:rPr>
              <a:t> (3rd ed.). Addison-Wesley.</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[5] Winston, P. H. (1992). </a:t>
            </a:r>
            <a:r>
              <a:rPr lang="en-US" sz="1400" i="1" dirty="0">
                <a:solidFill>
                  <a:srgbClr val="1B2233"/>
                </a:solidFill>
                <a:latin typeface="Calibri" pitchFamily="34" charset="0"/>
                <a:ea typeface="Calibri" pitchFamily="34" charset="-122"/>
                <a:cs typeface="Calibri" pitchFamily="34" charset="-120"/>
              </a:rPr>
              <a:t>Artificial Intelligence</a:t>
            </a:r>
            <a:r>
              <a:rPr lang="en-US" sz="1400" dirty="0">
                <a:solidFill>
                  <a:srgbClr val="1B2233"/>
                </a:solidFill>
                <a:latin typeface="Calibri" pitchFamily="34" charset="0"/>
                <a:ea typeface="Calibri" pitchFamily="34" charset="-122"/>
                <a:cs typeface="Calibri" pitchFamily="34" charset="-120"/>
              </a:rPr>
              <a:t> (3rd ed.). Addison-Wesley. Source of the ZOOKEEPER animal rules.</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[6] Buchanan, B. G., &amp; Shortliffe, E. H. (Eds.) (1984). </a:t>
            </a:r>
            <a:r>
              <a:rPr lang="en-US" sz="1400" i="1" dirty="0">
                <a:solidFill>
                  <a:srgbClr val="1B2233"/>
                </a:solidFill>
                <a:latin typeface="Calibri" pitchFamily="34" charset="0"/>
                <a:ea typeface="Calibri" pitchFamily="34" charset="-122"/>
                <a:cs typeface="Calibri" pitchFamily="34" charset="-120"/>
              </a:rPr>
              <a:t>Rule-Based Expert Systems: The MYCIN Experiments of the Stanford Heuristic Programming Project</a:t>
            </a:r>
            <a:r>
              <a:rPr lang="en-US" sz="1400" dirty="0">
                <a:solidFill>
                  <a:srgbClr val="1B2233"/>
                </a:solidFill>
                <a:latin typeface="Calibri" pitchFamily="34" charset="0"/>
                <a:ea typeface="Calibri" pitchFamily="34" charset="-122"/>
                <a:cs typeface="Calibri" pitchFamily="34" charset="-120"/>
              </a:rPr>
              <a:t>. Addison-Wesley.</a:t>
            </a:r>
            <a:endParaRPr lang="en-US" sz="1400" dirty="0"/>
          </a:p>
          <a:p>
            <a:pPr marL="0" indent="0">
              <a:lnSpc>
                <a:spcPct val="110000"/>
              </a:lnSpc>
              <a:spcAft>
                <a:spcPts val="1200"/>
              </a:spcAft>
              <a:buNone/>
            </a:pPr>
            <a:r>
              <a:rPr lang="en-US" sz="1400" dirty="0">
                <a:solidFill>
                  <a:srgbClr val="1B2233"/>
                </a:solidFill>
                <a:latin typeface="Calibri" pitchFamily="34" charset="0"/>
                <a:ea typeface="Calibri" pitchFamily="34" charset="-122"/>
                <a:cs typeface="Calibri" pitchFamily="34" charset="-120"/>
              </a:rPr>
              <a:t>[7] Giarratano, J. C., &amp; Riley, G. D. (2005). </a:t>
            </a:r>
            <a:r>
              <a:rPr lang="en-US" sz="1400" i="1" dirty="0">
                <a:solidFill>
                  <a:srgbClr val="1B2233"/>
                </a:solidFill>
                <a:latin typeface="Calibri" pitchFamily="34" charset="0"/>
                <a:ea typeface="Calibri" pitchFamily="34" charset="-122"/>
                <a:cs typeface="Calibri" pitchFamily="34" charset="-120"/>
              </a:rPr>
              <a:t>Expert Systems: Principles and Programming</a:t>
            </a:r>
            <a:r>
              <a:rPr lang="en-US" sz="1400" dirty="0">
                <a:solidFill>
                  <a:srgbClr val="1B2233"/>
                </a:solidFill>
                <a:latin typeface="Calibri" pitchFamily="34" charset="0"/>
                <a:ea typeface="Calibri" pitchFamily="34" charset="-122"/>
                <a:cs typeface="Calibri" pitchFamily="34" charset="-120"/>
              </a:rPr>
              <a:t> (4th ed.). Thomson Course Technology.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8F6"/>
        </a:solidFill>
        <a:effectLst/>
      </p:bgPr>
    </p:bg>
    <p:spTree>
      <p:nvGrpSpPr>
        <p:cNvPr id="1" name=""/>
        <p:cNvGrpSpPr/>
        <p:nvPr/>
      </p:nvGrpSpPr>
      <p:grpSpPr>
        <a:xfrm>
          <a:off x="0" y="0"/>
          <a:ext cx="0" cy="0"/>
          <a:chOff x="0" y="0"/>
          <a:chExt cx="0" cy="0"/>
        </a:xfrm>
      </p:grpSpPr>
      <p:sp>
        <p:nvSpPr>
          <p:cNvPr id="2" name="Text 0"/>
          <p:cNvSpPr txBox="1"/>
          <p:nvPr/>
        </p:nvSpPr>
        <p:spPr>
          <a:xfrm>
            <a:off x="812810" y="660380"/>
            <a:ext cx="10566441" cy="228600"/>
          </a:xfrm>
          <a:prstGeom prst="rect">
            <a:avLst/>
          </a:prstGeom>
          <a:noFill/>
          <a:ln/>
        </p:spPr>
        <p:txBody>
          <a:bodyPr wrap="square" lIns="0" tIns="0" rIns="0" bIns="0" rtlCol="0" anchor="t"/>
          <a:lstStyle/>
          <a:p>
            <a:pPr marL="0" indent="0">
              <a:buNone/>
            </a:pPr>
            <a:r>
              <a:rPr lang="en-US" sz="1200" b="1" kern="0" spc="300" dirty="0">
                <a:solidFill>
                  <a:srgbClr val="A8441A"/>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812810" y="927110"/>
            <a:ext cx="10566441" cy="533370"/>
          </a:xfrm>
          <a:prstGeom prst="rect">
            <a:avLst/>
          </a:prstGeom>
          <a:noFill/>
          <a:ln/>
        </p:spPr>
        <p:txBody>
          <a:bodyPr wrap="square" lIns="0" tIns="0" rIns="0" bIns="0" rtlCol="0" anchor="ctr"/>
          <a:lstStyle/>
          <a:p>
            <a:pPr marL="0" indent="0">
              <a:buNone/>
            </a:pPr>
            <a:r>
              <a:rPr lang="en-US" sz="3000" b="1" dirty="0">
                <a:solidFill>
                  <a:srgbClr val="1B2233"/>
                </a:solidFill>
                <a:latin typeface="Cambria" pitchFamily="34" charset="0"/>
                <a:ea typeface="Cambria" pitchFamily="34" charset="-122"/>
                <a:cs typeface="Cambria" pitchFamily="34" charset="-120"/>
              </a:rPr>
              <a:t>References (2/2): papers and manuals</a:t>
            </a:r>
            <a:endParaRPr lang="en-US" sz="3000" dirty="0"/>
          </a:p>
        </p:txBody>
      </p:sp>
      <p:sp>
        <p:nvSpPr>
          <p:cNvPr id="4" name="Text 2"/>
          <p:cNvSpPr txBox="1"/>
          <p:nvPr/>
        </p:nvSpPr>
        <p:spPr>
          <a:xfrm>
            <a:off x="10109241" y="6197620"/>
            <a:ext cx="1270010" cy="254020"/>
          </a:xfrm>
          <a:prstGeom prst="rect">
            <a:avLst/>
          </a:prstGeom>
          <a:noFill/>
          <a:ln/>
        </p:spPr>
        <p:txBody>
          <a:bodyPr wrap="square" lIns="0" tIns="0" rIns="0" bIns="0" rtlCol="0" anchor="ctr"/>
          <a:lstStyle/>
          <a:p>
            <a:pPr marL="0" indent="0" algn="r">
              <a:buNone/>
            </a:pPr>
            <a:r>
              <a:rPr lang="en-US" sz="1200" dirty="0">
                <a:solidFill>
                  <a:srgbClr val="5F6573"/>
                </a:solidFill>
                <a:latin typeface="Calibri" pitchFamily="34" charset="0"/>
                <a:ea typeface="Calibri" pitchFamily="34" charset="-122"/>
                <a:cs typeface="Calibri" pitchFamily="34" charset="-120"/>
              </a:rPr>
              <a:t>32</a:t>
            </a:r>
            <a:endParaRPr lang="en-US" sz="1200" dirty="0"/>
          </a:p>
        </p:txBody>
      </p:sp>
      <p:sp>
        <p:nvSpPr>
          <p:cNvPr id="6" name="Text 3"/>
          <p:cNvSpPr txBox="1"/>
          <p:nvPr/>
        </p:nvSpPr>
        <p:spPr>
          <a:xfrm>
            <a:off x="812810" y="1701790"/>
            <a:ext cx="10566441" cy="4190970"/>
          </a:xfrm>
          <a:prstGeom prst="rect">
            <a:avLst/>
          </a:prstGeom>
          <a:noFill/>
          <a:ln/>
        </p:spPr>
        <p:txBody>
          <a:bodyPr wrap="square" lIns="0" tIns="0" rIns="0" bIns="0" rtlCol="0" anchor="t"/>
          <a:lstStyle/>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[8] Kowalski, R. (1979). Algorithm = Logic + Control. </a:t>
            </a:r>
            <a:r>
              <a:rPr lang="en-US" sz="1300" i="1" dirty="0">
                <a:solidFill>
                  <a:srgbClr val="1B2233"/>
                </a:solidFill>
                <a:latin typeface="Calibri" pitchFamily="34" charset="0"/>
                <a:ea typeface="Calibri" pitchFamily="34" charset="-122"/>
                <a:cs typeface="Calibri" pitchFamily="34" charset="-120"/>
              </a:rPr>
              <a:t>Communications of the ACM</a:t>
            </a:r>
            <a:r>
              <a:rPr lang="en-US" sz="1300" dirty="0">
                <a:solidFill>
                  <a:srgbClr val="1B2233"/>
                </a:solidFill>
                <a:latin typeface="Calibri" pitchFamily="34" charset="0"/>
                <a:ea typeface="Calibri" pitchFamily="34" charset="-122"/>
                <a:cs typeface="Calibri" pitchFamily="34" charset="-120"/>
              </a:rPr>
              <a:t>, 22(7), 424–436.</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[9] Yu, V. L., et al. (1979). Antimicrobial selection by a computer: a blinded evaluation by infectious diseases experts. </a:t>
            </a:r>
            <a:r>
              <a:rPr lang="en-US" sz="1300" i="1" dirty="0">
                <a:solidFill>
                  <a:srgbClr val="1B2233"/>
                </a:solidFill>
                <a:latin typeface="Calibri" pitchFamily="34" charset="0"/>
                <a:ea typeface="Calibri" pitchFamily="34" charset="-122"/>
                <a:cs typeface="Calibri" pitchFamily="34" charset="-120"/>
              </a:rPr>
              <a:t>JAMA</a:t>
            </a:r>
            <a:r>
              <a:rPr lang="en-US" sz="1300" dirty="0">
                <a:solidFill>
                  <a:srgbClr val="1B2233"/>
                </a:solidFill>
                <a:latin typeface="Calibri" pitchFamily="34" charset="0"/>
                <a:ea typeface="Calibri" pitchFamily="34" charset="-122"/>
                <a:cs typeface="Calibri" pitchFamily="34" charset="-120"/>
              </a:rPr>
              <a:t>, 242(12), 1279–1282.</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[10] McDermott, J. (1982). R1: A rule-based configurer of computer systems. </a:t>
            </a:r>
            <a:r>
              <a:rPr lang="en-US" sz="1300" i="1" dirty="0">
                <a:solidFill>
                  <a:srgbClr val="1B2233"/>
                </a:solidFill>
                <a:latin typeface="Calibri" pitchFamily="34" charset="0"/>
                <a:ea typeface="Calibri" pitchFamily="34" charset="-122"/>
                <a:cs typeface="Calibri" pitchFamily="34" charset="-120"/>
              </a:rPr>
              <a:t>Artificial Intelligence</a:t>
            </a:r>
            <a:r>
              <a:rPr lang="en-US" sz="1300" dirty="0">
                <a:solidFill>
                  <a:srgbClr val="1B2233"/>
                </a:solidFill>
                <a:latin typeface="Calibri" pitchFamily="34" charset="0"/>
                <a:ea typeface="Calibri" pitchFamily="34" charset="-122"/>
                <a:cs typeface="Calibri" pitchFamily="34" charset="-120"/>
              </a:rPr>
              <a:t>, 19(1), 39–88.</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[11] Clancey, W. J. (1983). The epistemology of a rule-based expert system: a framework for explanation. </a:t>
            </a:r>
            <a:r>
              <a:rPr lang="en-US" sz="1300" i="1" dirty="0">
                <a:solidFill>
                  <a:srgbClr val="1B2233"/>
                </a:solidFill>
                <a:latin typeface="Calibri" pitchFamily="34" charset="0"/>
                <a:ea typeface="Calibri" pitchFamily="34" charset="-122"/>
                <a:cs typeface="Calibri" pitchFamily="34" charset="-120"/>
              </a:rPr>
              <a:t>Artificial Intelligence</a:t>
            </a:r>
            <a:r>
              <a:rPr lang="en-US" sz="1300" dirty="0">
                <a:solidFill>
                  <a:srgbClr val="1B2233"/>
                </a:solidFill>
                <a:latin typeface="Calibri" pitchFamily="34" charset="0"/>
                <a:ea typeface="Calibri" pitchFamily="34" charset="-122"/>
                <a:cs typeface="Calibri" pitchFamily="34" charset="-120"/>
              </a:rPr>
              <a:t>, 20(3), 215–251.</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[12] Sergot, M. J., Sadri, F., Kowalski, R. A., Kriwaczek, F., Hammond, P., &amp; Cory, H. T. (1986). The British Nationality Act as a logic program. </a:t>
            </a:r>
            <a:r>
              <a:rPr lang="en-US" sz="1300" i="1" dirty="0">
                <a:solidFill>
                  <a:srgbClr val="1B2233"/>
                </a:solidFill>
                <a:latin typeface="Calibri" pitchFamily="34" charset="0"/>
                <a:ea typeface="Calibri" pitchFamily="34" charset="-122"/>
                <a:cs typeface="Calibri" pitchFamily="34" charset="-120"/>
              </a:rPr>
              <a:t>Communications of the ACM</a:t>
            </a:r>
            <a:r>
              <a:rPr lang="en-US" sz="1300" dirty="0">
                <a:solidFill>
                  <a:srgbClr val="1B2233"/>
                </a:solidFill>
                <a:latin typeface="Calibri" pitchFamily="34" charset="0"/>
                <a:ea typeface="Calibri" pitchFamily="34" charset="-122"/>
                <a:cs typeface="Calibri" pitchFamily="34" charset="-120"/>
              </a:rPr>
              <a:t>, 29(5), 370–386.</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[13] Rayner, M., Hockey, B. A., et al. (2005). A voice enabled procedure browser for the International Space Station. </a:t>
            </a:r>
            <a:r>
              <a:rPr lang="en-US" sz="1300" i="1" dirty="0">
                <a:solidFill>
                  <a:srgbClr val="1B2233"/>
                </a:solidFill>
                <a:latin typeface="Calibri" pitchFamily="34" charset="0"/>
                <a:ea typeface="Calibri" pitchFamily="34" charset="-122"/>
                <a:cs typeface="Calibri" pitchFamily="34" charset="-120"/>
              </a:rPr>
              <a:t>Proc. ACL 2005, demo session</a:t>
            </a:r>
            <a:r>
              <a:rPr lang="en-US" sz="1300" dirty="0">
                <a:solidFill>
                  <a:srgbClr val="1B2233"/>
                </a:solidFill>
                <a:latin typeface="Calibri" pitchFamily="34" charset="0"/>
                <a:ea typeface="Calibri" pitchFamily="34" charset="-122"/>
                <a:cs typeface="Calibri" pitchFamily="34" charset="-120"/>
              </a:rPr>
              <a:t>.</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[14] Lally, A., &amp; Fodor, P. (2011). Natural language processing with Prolog in the IBM Watson system. </a:t>
            </a:r>
            <a:r>
              <a:rPr lang="en-US" sz="1300" i="1" dirty="0">
                <a:solidFill>
                  <a:srgbClr val="1B2233"/>
                </a:solidFill>
                <a:latin typeface="Calibri" pitchFamily="34" charset="0"/>
                <a:ea typeface="Calibri" pitchFamily="34" charset="-122"/>
                <a:cs typeface="Calibri" pitchFamily="34" charset="-120"/>
              </a:rPr>
              <a:t>Association for Logic Programming Newsletter</a:t>
            </a:r>
            <a:r>
              <a:rPr lang="en-US" sz="1300" dirty="0">
                <a:solidFill>
                  <a:srgbClr val="1B2233"/>
                </a:solidFill>
                <a:latin typeface="Calibri" pitchFamily="34" charset="0"/>
                <a:ea typeface="Calibri" pitchFamily="34" charset="-122"/>
                <a:cs typeface="Calibri" pitchFamily="34" charset="-120"/>
              </a:rPr>
              <a:t>.</a:t>
            </a:r>
            <a:endParaRPr lang="en-US" sz="1300" dirty="0"/>
          </a:p>
          <a:p>
            <a:pPr marL="0" indent="0">
              <a:lnSpc>
                <a:spcPct val="110000"/>
              </a:lnSpc>
              <a:spcAft>
                <a:spcPts val="1200"/>
              </a:spcAft>
              <a:buNone/>
            </a:pPr>
            <a:r>
              <a:rPr lang="en-US" sz="1300" dirty="0">
                <a:solidFill>
                  <a:srgbClr val="1B2233"/>
                </a:solidFill>
                <a:latin typeface="Calibri" pitchFamily="34" charset="0"/>
                <a:ea typeface="Calibri" pitchFamily="34" charset="-122"/>
                <a:cs typeface="Calibri" pitchFamily="34" charset="-120"/>
              </a:rPr>
              <a:t>[15] SWI-Prolog Reference Manual, version 10. </a:t>
            </a:r>
            <a:r>
              <a:rPr lang="en-US" sz="1300" i="1" dirty="0">
                <a:solidFill>
                  <a:srgbClr val="1B2233"/>
                </a:solidFill>
                <a:latin typeface="Calibri" pitchFamily="34" charset="0"/>
                <a:ea typeface="Calibri" pitchFamily="34" charset="-122"/>
                <a:cs typeface="Calibri" pitchFamily="34" charset="-120"/>
              </a:rPr>
              <a:t>swi-prolog.org</a:t>
            </a:r>
            <a:r>
              <a:rPr lang="en-US" sz="1300" dirty="0">
                <a:solidFill>
                  <a:srgbClr val="1B2233"/>
                </a:solidFill>
                <a:latin typeface="Calibri" pitchFamily="34" charset="0"/>
                <a:ea typeface="Calibri" pitchFamily="34" charset="-122"/>
                <a:cs typeface="Calibri" pitchFamily="34" charset="-120"/>
              </a:rPr>
              <a:t>. Used to run all demos.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9861</Words>
  <Application>Microsoft Office PowerPoint</Application>
  <PresentationFormat>Widescreen</PresentationFormat>
  <Paragraphs>741</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Rule-Based Programming in PROLOG</dc:title>
  <dc:subject>Knowledge Based Systems, Unit II</dc:subject>
  <dc:creator>PptxGenJS</dc:creator>
  <cp:lastModifiedBy>Tushar sachdeva</cp:lastModifiedBy>
  <cp:revision>1</cp:revision>
  <dcterms:created xsi:type="dcterms:W3CDTF">2026-09-27T20:50:20Z</dcterms:created>
  <dcterms:modified xsi:type="dcterms:W3CDTF">2026-10-12T11:27:26Z</dcterms:modified>
</cp:coreProperties>
</file>